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3" r:id="rId2"/>
    <p:sldId id="256" r:id="rId3"/>
    <p:sldId id="257" r:id="rId4"/>
    <p:sldId id="262" r:id="rId5"/>
    <p:sldId id="258" r:id="rId6"/>
    <p:sldId id="259" r:id="rId7"/>
    <p:sldId id="261"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095" autoAdjust="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805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Scope summary. Changes from the first scope text: 5 nodes per hub (was 20, which never bound on ResPlan); node points are fixed inputs, not chosen by teams; routes are axis-aligned; scale is converted with sqrt(inner.area / area); ranking is fewest hubs, then cost J = L + 5X + O + 0.5B (slides 3 and 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facts behind these rules (checked on all 17,000 ResPlan plans): coordinates are drawing units, not metres; scale = sqrt(inner.area / area). net_area is 0 for 32% of plans. Median eligible area 95 m2; at most 10 eligible rooms per plan.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Benchmark filters (about 90% of ResPlan plans pass): every eligible room &lt;= 100 m2, no eligible room &lt; 2 m2, and all room points lie in one connected component of (inner - wall - window). Partition feasibility under the contiguity rule still needs a reference solver check.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Checked on all 17,000 </a:t>
            </a:r>
            <a:r>
              <a:rPr dirty="0" err="1"/>
              <a:t>ResPlan</a:t>
            </a:r>
            <a:r>
              <a:rPr dirty="0"/>
              <a:t> plans: coordinates are about 18 drawing units per </a:t>
            </a:r>
            <a:r>
              <a:rPr dirty="0" err="1"/>
              <a:t>metre</a:t>
            </a:r>
            <a:r>
              <a:rPr dirty="0"/>
              <a:t> (5th to 95th percentile 12 to 26), and the ratio differs per plan, so the scale must be computed for each plan. Rooms plus partition walls cover about 99% of inner; about half of the wall area lies outside inner (outer walls); balconies lie 0% inside it. With this scale, wall thickness falls in 10 to 40 cm for 99.35% of plans. Example numbers: 36,000 / 110 = 327.3, sqrt = 18.09 units per </a:t>
            </a:r>
            <a:r>
              <a:rPr dirty="0" err="1"/>
              <a:t>metre</a:t>
            </a:r>
            <a:r>
              <a:rPr dirty="0"/>
              <a:t>; 200 / 18.09 = 11.06 m; 180 / 18.09 = 9.95 m; 100 m2 x 327.3 = 32,727 units2; 0.5 m x 18.09 = 9.05 units.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Illustrative only. Two retraced doors (Bedroom 2 and Storage) show that a single-door room forces an out-and-back; the two runs use parallel lines, so they are not overlap (only runs on the same line are). Numbers: eligible area 118 m2 -&gt; ceil(118/100)=2; 6 nodes -&gt; ceil(6/5)=2. Cost J = L + 5X + O + 0.5B: H1 = 23.8 + 0 + 0 + 0.5*8 = 27.8; H2 = 25.2 + 0 + 0 + 0.5*12 = 31.2.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IN" dirty="0"/>
          </a:p>
        </p:txBody>
      </p:sp>
    </p:spTree>
    <p:extLst>
      <p:ext uri="{BB962C8B-B14F-4D97-AF65-F5344CB8AC3E}">
        <p14:creationId xmlns:p14="http://schemas.microsoft.com/office/powerpoint/2010/main" val="2671097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2B8C5-17D2-10B8-E10C-B6CF7958B1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E65844-3EE9-7F97-A7AE-989AFA3DF6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7356DE2-82A4-7BF8-DFD2-845421BA459B}"/>
              </a:ext>
            </a:extLst>
          </p:cNvPr>
          <p:cNvSpPr>
            <a:spLocks noGrp="1"/>
          </p:cNvSpPr>
          <p:nvPr>
            <p:ph type="dt" sz="half" idx="10"/>
          </p:nvPr>
        </p:nvSpPr>
        <p:spPr/>
        <p:txBody>
          <a:bodyPr/>
          <a:lstStyle/>
          <a:p>
            <a:fld id="{FE907EF3-176B-4C4C-81B1-E97FABBC1AB3}" type="datetimeFigureOut">
              <a:rPr lang="en-IN" smtClean="0"/>
              <a:t>15-10-2026</a:t>
            </a:fld>
            <a:endParaRPr lang="en-IN"/>
          </a:p>
        </p:txBody>
      </p:sp>
      <p:sp>
        <p:nvSpPr>
          <p:cNvPr id="5" name="Footer Placeholder 4">
            <a:extLst>
              <a:ext uri="{FF2B5EF4-FFF2-40B4-BE49-F238E27FC236}">
                <a16:creationId xmlns:a16="http://schemas.microsoft.com/office/drawing/2014/main" id="{F3849C70-691C-D0CB-51A1-53282A3C6B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4CAB0F-4E02-6456-3A1C-4CCD05A0E344}"/>
              </a:ext>
            </a:extLst>
          </p:cNvPr>
          <p:cNvSpPr>
            <a:spLocks noGrp="1"/>
          </p:cNvSpPr>
          <p:nvPr>
            <p:ph type="sldNum" sz="quarter" idx="12"/>
          </p:nvPr>
        </p:nvSpPr>
        <p:spPr/>
        <p:txBody>
          <a:bodyPr/>
          <a:lstStyle/>
          <a:p>
            <a:fld id="{60925C79-F547-480E-8EDB-D39EAE012259}" type="slidenum">
              <a:rPr lang="en-IN" smtClean="0"/>
              <a:t>‹#›</a:t>
            </a:fld>
            <a:endParaRPr lang="en-IN"/>
          </a:p>
        </p:txBody>
      </p:sp>
    </p:spTree>
    <p:extLst>
      <p:ext uri="{BB962C8B-B14F-4D97-AF65-F5344CB8AC3E}">
        <p14:creationId xmlns:p14="http://schemas.microsoft.com/office/powerpoint/2010/main" val="597956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661EE-43EC-3853-5540-F0A8BBAA431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53E7E8-140B-152A-B3F1-462DB90F46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6E9BDC-967E-D42E-DEF0-D37C03469D40}"/>
              </a:ext>
            </a:extLst>
          </p:cNvPr>
          <p:cNvSpPr>
            <a:spLocks noGrp="1"/>
          </p:cNvSpPr>
          <p:nvPr>
            <p:ph type="dt" sz="half" idx="10"/>
          </p:nvPr>
        </p:nvSpPr>
        <p:spPr/>
        <p:txBody>
          <a:bodyPr/>
          <a:lstStyle/>
          <a:p>
            <a:fld id="{FE907EF3-176B-4C4C-81B1-E97FABBC1AB3}" type="datetimeFigureOut">
              <a:rPr lang="en-IN" smtClean="0"/>
              <a:t>15-10-2026</a:t>
            </a:fld>
            <a:endParaRPr lang="en-IN"/>
          </a:p>
        </p:txBody>
      </p:sp>
      <p:sp>
        <p:nvSpPr>
          <p:cNvPr id="5" name="Footer Placeholder 4">
            <a:extLst>
              <a:ext uri="{FF2B5EF4-FFF2-40B4-BE49-F238E27FC236}">
                <a16:creationId xmlns:a16="http://schemas.microsoft.com/office/drawing/2014/main" id="{133C5A7E-724E-7221-7C66-47B90DB5AA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ABF641-64FD-A5BC-95AC-64055DD37FBB}"/>
              </a:ext>
            </a:extLst>
          </p:cNvPr>
          <p:cNvSpPr>
            <a:spLocks noGrp="1"/>
          </p:cNvSpPr>
          <p:nvPr>
            <p:ph type="sldNum" sz="quarter" idx="12"/>
          </p:nvPr>
        </p:nvSpPr>
        <p:spPr/>
        <p:txBody>
          <a:bodyPr/>
          <a:lstStyle/>
          <a:p>
            <a:fld id="{60925C79-F547-480E-8EDB-D39EAE012259}" type="slidenum">
              <a:rPr lang="en-IN" smtClean="0"/>
              <a:t>‹#›</a:t>
            </a:fld>
            <a:endParaRPr lang="en-IN"/>
          </a:p>
        </p:txBody>
      </p:sp>
    </p:spTree>
    <p:extLst>
      <p:ext uri="{BB962C8B-B14F-4D97-AF65-F5344CB8AC3E}">
        <p14:creationId xmlns:p14="http://schemas.microsoft.com/office/powerpoint/2010/main" val="1004984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2E071-6F43-2CAB-8B9E-468D262FFE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53B2DD-BDF8-2F12-6851-82828FB306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8DF150-1266-1EF5-D4B2-3986DF86100C}"/>
              </a:ext>
            </a:extLst>
          </p:cNvPr>
          <p:cNvSpPr>
            <a:spLocks noGrp="1"/>
          </p:cNvSpPr>
          <p:nvPr>
            <p:ph type="dt" sz="half" idx="10"/>
          </p:nvPr>
        </p:nvSpPr>
        <p:spPr/>
        <p:txBody>
          <a:bodyPr/>
          <a:lstStyle/>
          <a:p>
            <a:fld id="{FE907EF3-176B-4C4C-81B1-E97FABBC1AB3}" type="datetimeFigureOut">
              <a:rPr lang="en-IN" smtClean="0"/>
              <a:t>15-10-2026</a:t>
            </a:fld>
            <a:endParaRPr lang="en-IN"/>
          </a:p>
        </p:txBody>
      </p:sp>
      <p:sp>
        <p:nvSpPr>
          <p:cNvPr id="5" name="Footer Placeholder 4">
            <a:extLst>
              <a:ext uri="{FF2B5EF4-FFF2-40B4-BE49-F238E27FC236}">
                <a16:creationId xmlns:a16="http://schemas.microsoft.com/office/drawing/2014/main" id="{9DC66900-785C-E200-A93B-2BB7794BE1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C56D91-075A-13C7-C41C-47ABC7BFC73E}"/>
              </a:ext>
            </a:extLst>
          </p:cNvPr>
          <p:cNvSpPr>
            <a:spLocks noGrp="1"/>
          </p:cNvSpPr>
          <p:nvPr>
            <p:ph type="sldNum" sz="quarter" idx="12"/>
          </p:nvPr>
        </p:nvSpPr>
        <p:spPr/>
        <p:txBody>
          <a:bodyPr/>
          <a:lstStyle/>
          <a:p>
            <a:fld id="{60925C79-F547-480E-8EDB-D39EAE012259}" type="slidenum">
              <a:rPr lang="en-IN" smtClean="0"/>
              <a:t>‹#›</a:t>
            </a:fld>
            <a:endParaRPr lang="en-IN"/>
          </a:p>
        </p:txBody>
      </p:sp>
    </p:spTree>
    <p:extLst>
      <p:ext uri="{BB962C8B-B14F-4D97-AF65-F5344CB8AC3E}">
        <p14:creationId xmlns:p14="http://schemas.microsoft.com/office/powerpoint/2010/main" val="232252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BE331-8445-F510-1E95-DBCE64DBB1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A970BB-CA18-C9E3-606A-0A50D2F322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4B3A77F-07B2-A649-78CB-E0B8D42FD5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DDAF48-7327-D7C3-CE4A-39F865BD087A}"/>
              </a:ext>
            </a:extLst>
          </p:cNvPr>
          <p:cNvSpPr>
            <a:spLocks noGrp="1"/>
          </p:cNvSpPr>
          <p:nvPr>
            <p:ph type="dt" sz="half" idx="10"/>
          </p:nvPr>
        </p:nvSpPr>
        <p:spPr/>
        <p:txBody>
          <a:bodyPr/>
          <a:lstStyle/>
          <a:p>
            <a:fld id="{FE907EF3-176B-4C4C-81B1-E97FABBC1AB3}" type="datetimeFigureOut">
              <a:rPr lang="en-IN" smtClean="0"/>
              <a:t>15-10-2026</a:t>
            </a:fld>
            <a:endParaRPr lang="en-IN"/>
          </a:p>
        </p:txBody>
      </p:sp>
      <p:sp>
        <p:nvSpPr>
          <p:cNvPr id="6" name="Footer Placeholder 5">
            <a:extLst>
              <a:ext uri="{FF2B5EF4-FFF2-40B4-BE49-F238E27FC236}">
                <a16:creationId xmlns:a16="http://schemas.microsoft.com/office/drawing/2014/main" id="{824DDF75-79E4-1A39-1042-6A2CF8959D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F34CA5-BE73-5F62-DD52-948BD8F94702}"/>
              </a:ext>
            </a:extLst>
          </p:cNvPr>
          <p:cNvSpPr>
            <a:spLocks noGrp="1"/>
          </p:cNvSpPr>
          <p:nvPr>
            <p:ph type="sldNum" sz="quarter" idx="12"/>
          </p:nvPr>
        </p:nvSpPr>
        <p:spPr/>
        <p:txBody>
          <a:bodyPr/>
          <a:lstStyle/>
          <a:p>
            <a:fld id="{60925C79-F547-480E-8EDB-D39EAE012259}" type="slidenum">
              <a:rPr lang="en-IN" smtClean="0"/>
              <a:t>‹#›</a:t>
            </a:fld>
            <a:endParaRPr lang="en-IN"/>
          </a:p>
        </p:txBody>
      </p:sp>
    </p:spTree>
    <p:extLst>
      <p:ext uri="{BB962C8B-B14F-4D97-AF65-F5344CB8AC3E}">
        <p14:creationId xmlns:p14="http://schemas.microsoft.com/office/powerpoint/2010/main" val="1849408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79BFD-F080-97DD-D637-82E2F9C0D7B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127D96-7F95-17EC-3305-7A6DC9BD4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3B8A67-D90B-E802-7845-2F22A2710BE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08DC10-106D-B64D-FB50-BF085858C4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067623-D629-467D-7B25-E94DDB2160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B91B685-467F-14B1-9BC4-24F9469C09D1}"/>
              </a:ext>
            </a:extLst>
          </p:cNvPr>
          <p:cNvSpPr>
            <a:spLocks noGrp="1"/>
          </p:cNvSpPr>
          <p:nvPr>
            <p:ph type="dt" sz="half" idx="10"/>
          </p:nvPr>
        </p:nvSpPr>
        <p:spPr/>
        <p:txBody>
          <a:bodyPr/>
          <a:lstStyle/>
          <a:p>
            <a:fld id="{FE907EF3-176B-4C4C-81B1-E97FABBC1AB3}" type="datetimeFigureOut">
              <a:rPr lang="en-IN" smtClean="0"/>
              <a:t>15-10-2026</a:t>
            </a:fld>
            <a:endParaRPr lang="en-IN"/>
          </a:p>
        </p:txBody>
      </p:sp>
      <p:sp>
        <p:nvSpPr>
          <p:cNvPr id="8" name="Footer Placeholder 7">
            <a:extLst>
              <a:ext uri="{FF2B5EF4-FFF2-40B4-BE49-F238E27FC236}">
                <a16:creationId xmlns:a16="http://schemas.microsoft.com/office/drawing/2014/main" id="{F78F4731-F439-4E7C-7AF4-EFE01D72209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7BC797-3603-1F9C-9B07-533C1DF99847}"/>
              </a:ext>
            </a:extLst>
          </p:cNvPr>
          <p:cNvSpPr>
            <a:spLocks noGrp="1"/>
          </p:cNvSpPr>
          <p:nvPr>
            <p:ph type="sldNum" sz="quarter" idx="12"/>
          </p:nvPr>
        </p:nvSpPr>
        <p:spPr/>
        <p:txBody>
          <a:bodyPr/>
          <a:lstStyle/>
          <a:p>
            <a:fld id="{60925C79-F547-480E-8EDB-D39EAE012259}" type="slidenum">
              <a:rPr lang="en-IN" smtClean="0"/>
              <a:t>‹#›</a:t>
            </a:fld>
            <a:endParaRPr lang="en-IN"/>
          </a:p>
        </p:txBody>
      </p:sp>
    </p:spTree>
    <p:extLst>
      <p:ext uri="{BB962C8B-B14F-4D97-AF65-F5344CB8AC3E}">
        <p14:creationId xmlns:p14="http://schemas.microsoft.com/office/powerpoint/2010/main" val="4044151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77C03-3544-B28F-6942-871B3E690F2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52ACA9-B585-8441-4A04-FF453FB91093}"/>
              </a:ext>
            </a:extLst>
          </p:cNvPr>
          <p:cNvSpPr>
            <a:spLocks noGrp="1"/>
          </p:cNvSpPr>
          <p:nvPr>
            <p:ph type="dt" sz="half" idx="10"/>
          </p:nvPr>
        </p:nvSpPr>
        <p:spPr/>
        <p:txBody>
          <a:bodyPr/>
          <a:lstStyle/>
          <a:p>
            <a:fld id="{FE907EF3-176B-4C4C-81B1-E97FABBC1AB3}" type="datetimeFigureOut">
              <a:rPr lang="en-IN" smtClean="0"/>
              <a:t>15-10-2026</a:t>
            </a:fld>
            <a:endParaRPr lang="en-IN"/>
          </a:p>
        </p:txBody>
      </p:sp>
      <p:sp>
        <p:nvSpPr>
          <p:cNvPr id="4" name="Footer Placeholder 3">
            <a:extLst>
              <a:ext uri="{FF2B5EF4-FFF2-40B4-BE49-F238E27FC236}">
                <a16:creationId xmlns:a16="http://schemas.microsoft.com/office/drawing/2014/main" id="{6A19FA25-4602-857D-B9D0-9E9072FD26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722D7D4-EA8A-BFAD-5AFD-E24DA6C14154}"/>
              </a:ext>
            </a:extLst>
          </p:cNvPr>
          <p:cNvSpPr>
            <a:spLocks noGrp="1"/>
          </p:cNvSpPr>
          <p:nvPr>
            <p:ph type="sldNum" sz="quarter" idx="12"/>
          </p:nvPr>
        </p:nvSpPr>
        <p:spPr/>
        <p:txBody>
          <a:bodyPr/>
          <a:lstStyle/>
          <a:p>
            <a:fld id="{60925C79-F547-480E-8EDB-D39EAE012259}" type="slidenum">
              <a:rPr lang="en-IN" smtClean="0"/>
              <a:t>‹#›</a:t>
            </a:fld>
            <a:endParaRPr lang="en-IN"/>
          </a:p>
        </p:txBody>
      </p:sp>
    </p:spTree>
    <p:extLst>
      <p:ext uri="{BB962C8B-B14F-4D97-AF65-F5344CB8AC3E}">
        <p14:creationId xmlns:p14="http://schemas.microsoft.com/office/powerpoint/2010/main" val="1250847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AC080E-5529-E076-0597-A800FCB951D9}"/>
              </a:ext>
            </a:extLst>
          </p:cNvPr>
          <p:cNvSpPr>
            <a:spLocks noGrp="1"/>
          </p:cNvSpPr>
          <p:nvPr>
            <p:ph type="dt" sz="half" idx="10"/>
          </p:nvPr>
        </p:nvSpPr>
        <p:spPr/>
        <p:txBody>
          <a:bodyPr/>
          <a:lstStyle/>
          <a:p>
            <a:fld id="{FE907EF3-176B-4C4C-81B1-E97FABBC1AB3}" type="datetimeFigureOut">
              <a:rPr lang="en-IN" smtClean="0"/>
              <a:t>15-10-2026</a:t>
            </a:fld>
            <a:endParaRPr lang="en-IN"/>
          </a:p>
        </p:txBody>
      </p:sp>
      <p:sp>
        <p:nvSpPr>
          <p:cNvPr id="3" name="Footer Placeholder 2">
            <a:extLst>
              <a:ext uri="{FF2B5EF4-FFF2-40B4-BE49-F238E27FC236}">
                <a16:creationId xmlns:a16="http://schemas.microsoft.com/office/drawing/2014/main" id="{507FF22E-2B44-27C7-5D31-14C9C56A657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F193C5D-AAE8-4BE7-C500-F37511045054}"/>
              </a:ext>
            </a:extLst>
          </p:cNvPr>
          <p:cNvSpPr>
            <a:spLocks noGrp="1"/>
          </p:cNvSpPr>
          <p:nvPr>
            <p:ph type="sldNum" sz="quarter" idx="12"/>
          </p:nvPr>
        </p:nvSpPr>
        <p:spPr/>
        <p:txBody>
          <a:bodyPr/>
          <a:lstStyle/>
          <a:p>
            <a:fld id="{60925C79-F547-480E-8EDB-D39EAE012259}" type="slidenum">
              <a:rPr lang="en-IN" smtClean="0"/>
              <a:t>‹#›</a:t>
            </a:fld>
            <a:endParaRPr lang="en-IN"/>
          </a:p>
        </p:txBody>
      </p:sp>
    </p:spTree>
    <p:extLst>
      <p:ext uri="{BB962C8B-B14F-4D97-AF65-F5344CB8AC3E}">
        <p14:creationId xmlns:p14="http://schemas.microsoft.com/office/powerpoint/2010/main" val="1579397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BA181-10D0-551F-2D7F-6ECB5BEE84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36A4A5-A317-A2B5-0837-5E85E0F87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B3E3BDD-1E33-67BD-2264-8A55C6E125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D1349D-D702-8D5F-B37E-5C4DCAF67DFE}"/>
              </a:ext>
            </a:extLst>
          </p:cNvPr>
          <p:cNvSpPr>
            <a:spLocks noGrp="1"/>
          </p:cNvSpPr>
          <p:nvPr>
            <p:ph type="dt" sz="half" idx="10"/>
          </p:nvPr>
        </p:nvSpPr>
        <p:spPr/>
        <p:txBody>
          <a:bodyPr/>
          <a:lstStyle/>
          <a:p>
            <a:fld id="{FE907EF3-176B-4C4C-81B1-E97FABBC1AB3}" type="datetimeFigureOut">
              <a:rPr lang="en-IN" smtClean="0"/>
              <a:t>15-10-2026</a:t>
            </a:fld>
            <a:endParaRPr lang="en-IN"/>
          </a:p>
        </p:txBody>
      </p:sp>
      <p:sp>
        <p:nvSpPr>
          <p:cNvPr id="6" name="Footer Placeholder 5">
            <a:extLst>
              <a:ext uri="{FF2B5EF4-FFF2-40B4-BE49-F238E27FC236}">
                <a16:creationId xmlns:a16="http://schemas.microsoft.com/office/drawing/2014/main" id="{ABADF4F3-A2C1-A92E-291F-77166CB9EC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5B5ACF-ADDC-C7FC-7496-8820358FA86E}"/>
              </a:ext>
            </a:extLst>
          </p:cNvPr>
          <p:cNvSpPr>
            <a:spLocks noGrp="1"/>
          </p:cNvSpPr>
          <p:nvPr>
            <p:ph type="sldNum" sz="quarter" idx="12"/>
          </p:nvPr>
        </p:nvSpPr>
        <p:spPr/>
        <p:txBody>
          <a:bodyPr/>
          <a:lstStyle/>
          <a:p>
            <a:fld id="{60925C79-F547-480E-8EDB-D39EAE012259}" type="slidenum">
              <a:rPr lang="en-IN" smtClean="0"/>
              <a:t>‹#›</a:t>
            </a:fld>
            <a:endParaRPr lang="en-IN"/>
          </a:p>
        </p:txBody>
      </p:sp>
    </p:spTree>
    <p:extLst>
      <p:ext uri="{BB962C8B-B14F-4D97-AF65-F5344CB8AC3E}">
        <p14:creationId xmlns:p14="http://schemas.microsoft.com/office/powerpoint/2010/main" val="1820509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27DB0-C228-7504-1F1C-43A8214756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967BC9-1F93-7364-EAE7-905ABD9F327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D8DFAB1-DEAB-BFEF-DAC8-5A1AF199D5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3FD094-AAE7-67B8-F15E-60A50098E66F}"/>
              </a:ext>
            </a:extLst>
          </p:cNvPr>
          <p:cNvSpPr>
            <a:spLocks noGrp="1"/>
          </p:cNvSpPr>
          <p:nvPr>
            <p:ph type="dt" sz="half" idx="10"/>
          </p:nvPr>
        </p:nvSpPr>
        <p:spPr/>
        <p:txBody>
          <a:bodyPr/>
          <a:lstStyle/>
          <a:p>
            <a:fld id="{FE907EF3-176B-4C4C-81B1-E97FABBC1AB3}" type="datetimeFigureOut">
              <a:rPr lang="en-IN" smtClean="0"/>
              <a:t>15-10-2026</a:t>
            </a:fld>
            <a:endParaRPr lang="en-IN"/>
          </a:p>
        </p:txBody>
      </p:sp>
      <p:sp>
        <p:nvSpPr>
          <p:cNvPr id="6" name="Footer Placeholder 5">
            <a:extLst>
              <a:ext uri="{FF2B5EF4-FFF2-40B4-BE49-F238E27FC236}">
                <a16:creationId xmlns:a16="http://schemas.microsoft.com/office/drawing/2014/main" id="{EA62755A-6EE4-1ED9-66D4-0B6E81A80A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7D0E7A-956D-926E-B314-9E8211783797}"/>
              </a:ext>
            </a:extLst>
          </p:cNvPr>
          <p:cNvSpPr>
            <a:spLocks noGrp="1"/>
          </p:cNvSpPr>
          <p:nvPr>
            <p:ph type="sldNum" sz="quarter" idx="12"/>
          </p:nvPr>
        </p:nvSpPr>
        <p:spPr/>
        <p:txBody>
          <a:bodyPr/>
          <a:lstStyle/>
          <a:p>
            <a:fld id="{60925C79-F547-480E-8EDB-D39EAE012259}" type="slidenum">
              <a:rPr lang="en-IN" smtClean="0"/>
              <a:t>‹#›</a:t>
            </a:fld>
            <a:endParaRPr lang="en-IN"/>
          </a:p>
        </p:txBody>
      </p:sp>
    </p:spTree>
    <p:extLst>
      <p:ext uri="{BB962C8B-B14F-4D97-AF65-F5344CB8AC3E}">
        <p14:creationId xmlns:p14="http://schemas.microsoft.com/office/powerpoint/2010/main" val="2484579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0AD22-F4F0-1619-76EA-58009518235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AF2D17-AF1B-B88E-AA12-A22217B176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4CA643-5D97-B3A6-1CAF-DB180290C225}"/>
              </a:ext>
            </a:extLst>
          </p:cNvPr>
          <p:cNvSpPr>
            <a:spLocks noGrp="1"/>
          </p:cNvSpPr>
          <p:nvPr>
            <p:ph type="dt" sz="half" idx="10"/>
          </p:nvPr>
        </p:nvSpPr>
        <p:spPr/>
        <p:txBody>
          <a:bodyPr/>
          <a:lstStyle/>
          <a:p>
            <a:fld id="{FE907EF3-176B-4C4C-81B1-E97FABBC1AB3}" type="datetimeFigureOut">
              <a:rPr lang="en-IN" smtClean="0"/>
              <a:t>15-10-2026</a:t>
            </a:fld>
            <a:endParaRPr lang="en-IN"/>
          </a:p>
        </p:txBody>
      </p:sp>
      <p:sp>
        <p:nvSpPr>
          <p:cNvPr id="5" name="Footer Placeholder 4">
            <a:extLst>
              <a:ext uri="{FF2B5EF4-FFF2-40B4-BE49-F238E27FC236}">
                <a16:creationId xmlns:a16="http://schemas.microsoft.com/office/drawing/2014/main" id="{757421CB-2117-26CB-71B6-0575B6EEA8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1E66CE-505C-427A-6608-0D933143A200}"/>
              </a:ext>
            </a:extLst>
          </p:cNvPr>
          <p:cNvSpPr>
            <a:spLocks noGrp="1"/>
          </p:cNvSpPr>
          <p:nvPr>
            <p:ph type="sldNum" sz="quarter" idx="12"/>
          </p:nvPr>
        </p:nvSpPr>
        <p:spPr/>
        <p:txBody>
          <a:bodyPr/>
          <a:lstStyle/>
          <a:p>
            <a:fld id="{60925C79-F547-480E-8EDB-D39EAE012259}" type="slidenum">
              <a:rPr lang="en-IN" smtClean="0"/>
              <a:t>‹#›</a:t>
            </a:fld>
            <a:endParaRPr lang="en-IN"/>
          </a:p>
        </p:txBody>
      </p:sp>
    </p:spTree>
    <p:extLst>
      <p:ext uri="{BB962C8B-B14F-4D97-AF65-F5344CB8AC3E}">
        <p14:creationId xmlns:p14="http://schemas.microsoft.com/office/powerpoint/2010/main" val="3225305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1FEB76-9EB8-6E77-1FFE-3B57D9EC52A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D18A65-3491-BA2A-960F-5CE649DA66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751B54-F18F-2548-33A8-5AAD1F178D53}"/>
              </a:ext>
            </a:extLst>
          </p:cNvPr>
          <p:cNvSpPr>
            <a:spLocks noGrp="1"/>
          </p:cNvSpPr>
          <p:nvPr>
            <p:ph type="dt" sz="half" idx="10"/>
          </p:nvPr>
        </p:nvSpPr>
        <p:spPr/>
        <p:txBody>
          <a:bodyPr/>
          <a:lstStyle/>
          <a:p>
            <a:fld id="{FE907EF3-176B-4C4C-81B1-E97FABBC1AB3}" type="datetimeFigureOut">
              <a:rPr lang="en-IN" smtClean="0"/>
              <a:t>15-10-2026</a:t>
            </a:fld>
            <a:endParaRPr lang="en-IN"/>
          </a:p>
        </p:txBody>
      </p:sp>
      <p:sp>
        <p:nvSpPr>
          <p:cNvPr id="5" name="Footer Placeholder 4">
            <a:extLst>
              <a:ext uri="{FF2B5EF4-FFF2-40B4-BE49-F238E27FC236}">
                <a16:creationId xmlns:a16="http://schemas.microsoft.com/office/drawing/2014/main" id="{A00E4768-D1F4-9FE3-E47F-EC40820401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1336E3-45CE-F15E-985F-C3F4A1DC2660}"/>
              </a:ext>
            </a:extLst>
          </p:cNvPr>
          <p:cNvSpPr>
            <a:spLocks noGrp="1"/>
          </p:cNvSpPr>
          <p:nvPr>
            <p:ph type="sldNum" sz="quarter" idx="12"/>
          </p:nvPr>
        </p:nvSpPr>
        <p:spPr/>
        <p:txBody>
          <a:bodyPr/>
          <a:lstStyle/>
          <a:p>
            <a:fld id="{60925C79-F547-480E-8EDB-D39EAE012259}" type="slidenum">
              <a:rPr lang="en-IN" smtClean="0"/>
              <a:t>‹#›</a:t>
            </a:fld>
            <a:endParaRPr lang="en-IN"/>
          </a:p>
        </p:txBody>
      </p:sp>
    </p:spTree>
    <p:extLst>
      <p:ext uri="{BB962C8B-B14F-4D97-AF65-F5344CB8AC3E}">
        <p14:creationId xmlns:p14="http://schemas.microsoft.com/office/powerpoint/2010/main" val="1693562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1C54A0-72D7-8473-E5A0-AACDA9DB7B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F101D5-28D4-0176-2A7A-E4CC1DD428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8B39ED-0C5C-FFA0-C3E2-328FC981C2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907EF3-176B-4C4C-81B1-E97FABBC1AB3}" type="datetimeFigureOut">
              <a:rPr lang="en-IN" smtClean="0"/>
              <a:t>15-10-2026</a:t>
            </a:fld>
            <a:endParaRPr lang="en-IN"/>
          </a:p>
        </p:txBody>
      </p:sp>
      <p:sp>
        <p:nvSpPr>
          <p:cNvPr id="5" name="Footer Placeholder 4">
            <a:extLst>
              <a:ext uri="{FF2B5EF4-FFF2-40B4-BE49-F238E27FC236}">
                <a16:creationId xmlns:a16="http://schemas.microsoft.com/office/drawing/2014/main" id="{2272BC1E-B30B-5E8C-59C2-DCB66684AF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2AA00B0-9CBC-DC60-91C0-DDA54A321B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925C79-F547-480E-8EDB-D39EAE012259}" type="slidenum">
              <a:rPr lang="en-IN" smtClean="0"/>
              <a:t>‹#›</a:t>
            </a:fld>
            <a:endParaRPr lang="en-IN"/>
          </a:p>
        </p:txBody>
      </p:sp>
    </p:spTree>
    <p:extLst>
      <p:ext uri="{BB962C8B-B14F-4D97-AF65-F5344CB8AC3E}">
        <p14:creationId xmlns:p14="http://schemas.microsoft.com/office/powerpoint/2010/main" val="4909460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6032"/>
            <a:ext cx="11274552" cy="566928"/>
          </a:xfrm>
        </p:spPr>
        <p:txBody>
          <a:bodyPr wrap="square" lIns="45720" anchor="ctr"/>
          <a:lstStyle/>
          <a:p>
            <a:pPr algn="l"/>
            <a:r>
              <a:rPr sz="2800" b="1">
                <a:solidFill>
                  <a:srgbClr val="1F2933"/>
                </a:solidFill>
                <a:latin typeface="Aptos"/>
              </a:rPr>
              <a:t>Project scope and expected results</a:t>
            </a:r>
          </a:p>
        </p:txBody>
      </p:sp>
      <p:sp>
        <p:nvSpPr>
          <p:cNvPr id="3" name="TextBox 2"/>
          <p:cNvSpPr txBox="1"/>
          <p:nvPr/>
        </p:nvSpPr>
        <p:spPr>
          <a:xfrm>
            <a:off x="457200" y="822960"/>
            <a:ext cx="11274552" cy="365760"/>
          </a:xfrm>
          <a:prstGeom prst="rect">
            <a:avLst/>
          </a:prstGeom>
          <a:noFill/>
        </p:spPr>
        <p:txBody>
          <a:bodyPr wrap="square" lIns="45720" tIns="27432" rIns="45720" bIns="27432" anchor="t">
            <a:spAutoFit/>
          </a:bodyPr>
          <a:lstStyle/>
          <a:p>
            <a:pPr algn="l">
              <a:spcAft>
                <a:spcPts val="0"/>
              </a:spcAft>
            </a:pPr>
            <a:r>
              <a:rPr sz="1400" b="0" i="0">
                <a:solidFill>
                  <a:srgbClr val="5B6770"/>
                </a:solidFill>
                <a:latin typeface="Aptos"/>
              </a:rPr>
              <a:t>Joint optimization of hub placement and closed-ring cable routing on ResPlan floor plans</a:t>
            </a:r>
          </a:p>
        </p:txBody>
      </p:sp>
      <p:sp>
        <p:nvSpPr>
          <p:cNvPr id="4" name="Rectangle 3"/>
          <p:cNvSpPr/>
          <p:nvPr/>
        </p:nvSpPr>
        <p:spPr>
          <a:xfrm>
            <a:off x="502920" y="1243584"/>
            <a:ext cx="1097280" cy="45720"/>
          </a:xfrm>
          <a:prstGeom prst="rect">
            <a:avLst/>
          </a:prstGeom>
          <a:solidFill>
            <a:srgbClr val="C8102E"/>
          </a:solidFill>
          <a:ln>
            <a:noFill/>
          </a:ln>
        </p:spPr>
        <p:txBody>
          <a:bodyPr rtlCol="0" anchor="ctr"/>
          <a:lstStyle/>
          <a:p>
            <a:pPr algn="ctr"/>
            <a:endParaRPr/>
          </a:p>
        </p:txBody>
      </p:sp>
      <p:sp>
        <p:nvSpPr>
          <p:cNvPr id="5" name="TextBox 4"/>
          <p:cNvSpPr txBox="1"/>
          <p:nvPr/>
        </p:nvSpPr>
        <p:spPr>
          <a:xfrm>
            <a:off x="457200" y="6492240"/>
            <a:ext cx="6400800" cy="274320"/>
          </a:xfrm>
          <a:prstGeom prst="rect">
            <a:avLst/>
          </a:prstGeom>
          <a:noFill/>
        </p:spPr>
        <p:txBody>
          <a:bodyPr wrap="square" lIns="45720" tIns="27432" rIns="45720" bIns="27432" anchor="t">
            <a:spAutoFit/>
          </a:bodyPr>
          <a:lstStyle/>
          <a:p>
            <a:pPr algn="l">
              <a:spcAft>
                <a:spcPts val="0"/>
              </a:spcAft>
            </a:pPr>
            <a:r>
              <a:rPr sz="1000" b="0" i="0">
                <a:solidFill>
                  <a:srgbClr val="5B6770"/>
                </a:solidFill>
                <a:latin typeface="Aptos"/>
              </a:rPr>
              <a:t>Research exercise: results are not a building-services design.</a:t>
            </a:r>
          </a:p>
        </p:txBody>
      </p:sp>
      <p:sp>
        <p:nvSpPr>
          <p:cNvPr id="6" name="Rounded Rectangle 5"/>
          <p:cNvSpPr/>
          <p:nvPr/>
        </p:nvSpPr>
        <p:spPr>
          <a:xfrm>
            <a:off x="457200" y="1463040"/>
            <a:ext cx="3246120" cy="283464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7" name="TextBox 6"/>
          <p:cNvSpPr txBox="1"/>
          <p:nvPr/>
        </p:nvSpPr>
        <p:spPr>
          <a:xfrm>
            <a:off x="594360" y="1527048"/>
            <a:ext cx="2971800" cy="292608"/>
          </a:xfrm>
          <a:prstGeom prst="rect">
            <a:avLst/>
          </a:prstGeom>
          <a:noFill/>
        </p:spPr>
        <p:txBody>
          <a:bodyPr wrap="square" lIns="45720" tIns="27432" rIns="45720" bIns="27432" anchor="t">
            <a:spAutoFit/>
          </a:bodyPr>
          <a:lstStyle/>
          <a:p>
            <a:pPr algn="l">
              <a:spcAft>
                <a:spcPts val="0"/>
              </a:spcAft>
            </a:pPr>
            <a:r>
              <a:rPr sz="1300" b="1" i="0">
                <a:solidFill>
                  <a:srgbClr val="1F2933"/>
                </a:solidFill>
                <a:latin typeface="Aptos"/>
              </a:rPr>
              <a:t>The system decides</a:t>
            </a:r>
          </a:p>
        </p:txBody>
      </p:sp>
      <p:sp>
        <p:nvSpPr>
          <p:cNvPr id="8" name="Rectangle 7"/>
          <p:cNvSpPr/>
          <p:nvPr/>
        </p:nvSpPr>
        <p:spPr>
          <a:xfrm>
            <a:off x="640080" y="1847088"/>
            <a:ext cx="457200" cy="32004"/>
          </a:xfrm>
          <a:prstGeom prst="rect">
            <a:avLst/>
          </a:prstGeom>
          <a:solidFill>
            <a:srgbClr val="C8102E"/>
          </a:solidFill>
          <a:ln>
            <a:noFill/>
          </a:ln>
        </p:spPr>
        <p:txBody>
          <a:bodyPr rtlCol="0" anchor="ctr"/>
          <a:lstStyle/>
          <a:p>
            <a:pPr algn="ctr"/>
            <a:endParaRPr/>
          </a:p>
        </p:txBody>
      </p:sp>
      <p:sp>
        <p:nvSpPr>
          <p:cNvPr id="9" name="Oval 8"/>
          <p:cNvSpPr/>
          <p:nvPr/>
        </p:nvSpPr>
        <p:spPr>
          <a:xfrm>
            <a:off x="640080" y="2066544"/>
            <a:ext cx="310896" cy="310896"/>
          </a:xfrm>
          <a:prstGeom prst="ellipse">
            <a:avLst/>
          </a:prstGeom>
          <a:solidFill>
            <a:srgbClr val="1F5FBF"/>
          </a:solidFill>
          <a:ln>
            <a:noFill/>
          </a:ln>
        </p:spPr>
        <p:txBody>
          <a:bodyPr rtlCol="0" anchor="ctr"/>
          <a:lstStyle/>
          <a:p>
            <a:pPr algn="ctr"/>
            <a:endParaRPr/>
          </a:p>
        </p:txBody>
      </p:sp>
      <p:sp>
        <p:nvSpPr>
          <p:cNvPr id="10" name="TextBox 9"/>
          <p:cNvSpPr txBox="1"/>
          <p:nvPr/>
        </p:nvSpPr>
        <p:spPr>
          <a:xfrm>
            <a:off x="640080" y="2066544"/>
            <a:ext cx="310896" cy="310896"/>
          </a:xfrm>
          <a:prstGeom prst="rect">
            <a:avLst/>
          </a:prstGeom>
          <a:noFill/>
        </p:spPr>
        <p:txBody>
          <a:bodyPr wrap="square" lIns="0" tIns="0" rIns="0" bIns="0" anchor="ctr">
            <a:spAutoFit/>
          </a:bodyPr>
          <a:lstStyle/>
          <a:p>
            <a:pPr algn="ctr">
              <a:spcAft>
                <a:spcPts val="0"/>
              </a:spcAft>
            </a:pPr>
            <a:r>
              <a:rPr sz="1200" b="1" i="0">
                <a:solidFill>
                  <a:srgbClr val="FFFFFF"/>
                </a:solidFill>
                <a:latin typeface="Aptos"/>
              </a:rPr>
              <a:t>1</a:t>
            </a:r>
          </a:p>
        </p:txBody>
      </p:sp>
      <p:sp>
        <p:nvSpPr>
          <p:cNvPr id="11" name="TextBox 10"/>
          <p:cNvSpPr txBox="1"/>
          <p:nvPr/>
        </p:nvSpPr>
        <p:spPr>
          <a:xfrm>
            <a:off x="1051560" y="2029968"/>
            <a:ext cx="2514600" cy="457200"/>
          </a:xfrm>
          <a:prstGeom prst="rect">
            <a:avLst/>
          </a:prstGeom>
          <a:noFill/>
        </p:spPr>
        <p:txBody>
          <a:bodyPr wrap="square" lIns="45720" tIns="27432" rIns="45720" bIns="27432" anchor="ctr">
            <a:spAutoFit/>
          </a:bodyPr>
          <a:lstStyle/>
          <a:p>
            <a:pPr algn="l">
              <a:spcAft>
                <a:spcPts val="0"/>
              </a:spcAft>
            </a:pPr>
            <a:r>
              <a:rPr sz="1100" b="0" i="0">
                <a:solidFill>
                  <a:srgbClr val="1F2933"/>
                </a:solidFill>
                <a:latin typeface="Aptos"/>
              </a:rPr>
              <a:t>How many hubs, and where each one goes</a:t>
            </a:r>
          </a:p>
        </p:txBody>
      </p:sp>
      <p:sp>
        <p:nvSpPr>
          <p:cNvPr id="12" name="Oval 11"/>
          <p:cNvSpPr/>
          <p:nvPr/>
        </p:nvSpPr>
        <p:spPr>
          <a:xfrm>
            <a:off x="640080" y="2615184"/>
            <a:ext cx="310896" cy="310896"/>
          </a:xfrm>
          <a:prstGeom prst="ellipse">
            <a:avLst/>
          </a:prstGeom>
          <a:solidFill>
            <a:srgbClr val="1F5FBF"/>
          </a:solidFill>
          <a:ln>
            <a:noFill/>
          </a:ln>
        </p:spPr>
        <p:txBody>
          <a:bodyPr rtlCol="0" anchor="ctr"/>
          <a:lstStyle/>
          <a:p>
            <a:pPr algn="ctr"/>
            <a:endParaRPr/>
          </a:p>
        </p:txBody>
      </p:sp>
      <p:sp>
        <p:nvSpPr>
          <p:cNvPr id="13" name="TextBox 12"/>
          <p:cNvSpPr txBox="1"/>
          <p:nvPr/>
        </p:nvSpPr>
        <p:spPr>
          <a:xfrm>
            <a:off x="640080" y="2615184"/>
            <a:ext cx="310896" cy="310896"/>
          </a:xfrm>
          <a:prstGeom prst="rect">
            <a:avLst/>
          </a:prstGeom>
          <a:noFill/>
        </p:spPr>
        <p:txBody>
          <a:bodyPr wrap="square" lIns="0" tIns="0" rIns="0" bIns="0" anchor="ctr">
            <a:spAutoFit/>
          </a:bodyPr>
          <a:lstStyle/>
          <a:p>
            <a:pPr algn="ctr">
              <a:spcAft>
                <a:spcPts val="0"/>
              </a:spcAft>
            </a:pPr>
            <a:r>
              <a:rPr sz="1200" b="1" i="0">
                <a:solidFill>
                  <a:srgbClr val="FFFFFF"/>
                </a:solidFill>
                <a:latin typeface="Aptos"/>
              </a:rPr>
              <a:t>2</a:t>
            </a:r>
          </a:p>
        </p:txBody>
      </p:sp>
      <p:sp>
        <p:nvSpPr>
          <p:cNvPr id="14" name="TextBox 13"/>
          <p:cNvSpPr txBox="1"/>
          <p:nvPr/>
        </p:nvSpPr>
        <p:spPr>
          <a:xfrm>
            <a:off x="1051560" y="2578608"/>
            <a:ext cx="2514600" cy="457200"/>
          </a:xfrm>
          <a:prstGeom prst="rect">
            <a:avLst/>
          </a:prstGeom>
          <a:noFill/>
        </p:spPr>
        <p:txBody>
          <a:bodyPr wrap="square" lIns="45720" tIns="27432" rIns="45720" bIns="27432" anchor="ctr">
            <a:spAutoFit/>
          </a:bodyPr>
          <a:lstStyle/>
          <a:p>
            <a:pPr algn="l">
              <a:spcAft>
                <a:spcPts val="0"/>
              </a:spcAft>
            </a:pPr>
            <a:r>
              <a:rPr sz="1100" b="0" i="0">
                <a:solidFill>
                  <a:srgbClr val="1F2933"/>
                </a:solidFill>
                <a:latin typeface="Aptos"/>
              </a:rPr>
              <a:t>Which rooms and nodes each hub serves</a:t>
            </a:r>
          </a:p>
        </p:txBody>
      </p:sp>
      <p:sp>
        <p:nvSpPr>
          <p:cNvPr id="15" name="Oval 14"/>
          <p:cNvSpPr/>
          <p:nvPr/>
        </p:nvSpPr>
        <p:spPr>
          <a:xfrm>
            <a:off x="640080" y="3163824"/>
            <a:ext cx="310896" cy="310896"/>
          </a:xfrm>
          <a:prstGeom prst="ellipse">
            <a:avLst/>
          </a:prstGeom>
          <a:solidFill>
            <a:srgbClr val="1F5FBF"/>
          </a:solidFill>
          <a:ln>
            <a:noFill/>
          </a:ln>
        </p:spPr>
        <p:txBody>
          <a:bodyPr rtlCol="0" anchor="ctr"/>
          <a:lstStyle/>
          <a:p>
            <a:pPr algn="ctr"/>
            <a:endParaRPr/>
          </a:p>
        </p:txBody>
      </p:sp>
      <p:sp>
        <p:nvSpPr>
          <p:cNvPr id="16" name="TextBox 15"/>
          <p:cNvSpPr txBox="1"/>
          <p:nvPr/>
        </p:nvSpPr>
        <p:spPr>
          <a:xfrm>
            <a:off x="640080" y="3163824"/>
            <a:ext cx="310896" cy="310896"/>
          </a:xfrm>
          <a:prstGeom prst="rect">
            <a:avLst/>
          </a:prstGeom>
          <a:noFill/>
        </p:spPr>
        <p:txBody>
          <a:bodyPr wrap="square" lIns="0" tIns="0" rIns="0" bIns="0" anchor="ctr">
            <a:spAutoFit/>
          </a:bodyPr>
          <a:lstStyle/>
          <a:p>
            <a:pPr algn="ctr">
              <a:spcAft>
                <a:spcPts val="0"/>
              </a:spcAft>
            </a:pPr>
            <a:r>
              <a:rPr sz="1200" b="1" i="0">
                <a:solidFill>
                  <a:srgbClr val="FFFFFF"/>
                </a:solidFill>
                <a:latin typeface="Aptos"/>
              </a:rPr>
              <a:t>3</a:t>
            </a:r>
          </a:p>
        </p:txBody>
      </p:sp>
      <p:sp>
        <p:nvSpPr>
          <p:cNvPr id="17" name="TextBox 16"/>
          <p:cNvSpPr txBox="1"/>
          <p:nvPr/>
        </p:nvSpPr>
        <p:spPr>
          <a:xfrm>
            <a:off x="1051560" y="3127248"/>
            <a:ext cx="2514600" cy="457200"/>
          </a:xfrm>
          <a:prstGeom prst="rect">
            <a:avLst/>
          </a:prstGeom>
          <a:noFill/>
        </p:spPr>
        <p:txBody>
          <a:bodyPr wrap="square" lIns="45720" tIns="27432" rIns="45720" bIns="27432" anchor="ctr">
            <a:spAutoFit/>
          </a:bodyPr>
          <a:lstStyle/>
          <a:p>
            <a:pPr algn="l">
              <a:spcAft>
                <a:spcPts val="0"/>
              </a:spcAft>
            </a:pPr>
            <a:r>
              <a:rPr sz="1100" b="0" i="0">
                <a:solidFill>
                  <a:srgbClr val="1F2933"/>
                </a:solidFill>
                <a:latin typeface="Aptos"/>
              </a:rPr>
              <a:t>The order in which each hub’s nodes are connected</a:t>
            </a:r>
          </a:p>
        </p:txBody>
      </p:sp>
      <p:sp>
        <p:nvSpPr>
          <p:cNvPr id="18" name="Oval 17"/>
          <p:cNvSpPr/>
          <p:nvPr/>
        </p:nvSpPr>
        <p:spPr>
          <a:xfrm>
            <a:off x="640080" y="3712463"/>
            <a:ext cx="310896" cy="310896"/>
          </a:xfrm>
          <a:prstGeom prst="ellipse">
            <a:avLst/>
          </a:prstGeom>
          <a:solidFill>
            <a:srgbClr val="1F5FBF"/>
          </a:solidFill>
          <a:ln>
            <a:noFill/>
          </a:ln>
        </p:spPr>
        <p:txBody>
          <a:bodyPr rtlCol="0" anchor="ctr"/>
          <a:lstStyle/>
          <a:p>
            <a:pPr algn="ctr"/>
            <a:endParaRPr/>
          </a:p>
        </p:txBody>
      </p:sp>
      <p:sp>
        <p:nvSpPr>
          <p:cNvPr id="19" name="TextBox 18"/>
          <p:cNvSpPr txBox="1"/>
          <p:nvPr/>
        </p:nvSpPr>
        <p:spPr>
          <a:xfrm>
            <a:off x="640080" y="3712463"/>
            <a:ext cx="310896" cy="310896"/>
          </a:xfrm>
          <a:prstGeom prst="rect">
            <a:avLst/>
          </a:prstGeom>
          <a:noFill/>
        </p:spPr>
        <p:txBody>
          <a:bodyPr wrap="square" lIns="0" tIns="0" rIns="0" bIns="0" anchor="ctr">
            <a:spAutoFit/>
          </a:bodyPr>
          <a:lstStyle/>
          <a:p>
            <a:pPr algn="ctr">
              <a:spcAft>
                <a:spcPts val="0"/>
              </a:spcAft>
            </a:pPr>
            <a:r>
              <a:rPr sz="1200" b="1" i="0">
                <a:solidFill>
                  <a:srgbClr val="FFFFFF"/>
                </a:solidFill>
                <a:latin typeface="Aptos"/>
              </a:rPr>
              <a:t>4</a:t>
            </a:r>
          </a:p>
        </p:txBody>
      </p:sp>
      <p:sp>
        <p:nvSpPr>
          <p:cNvPr id="20" name="TextBox 19"/>
          <p:cNvSpPr txBox="1"/>
          <p:nvPr/>
        </p:nvSpPr>
        <p:spPr>
          <a:xfrm>
            <a:off x="1051560" y="3675887"/>
            <a:ext cx="2514600" cy="457200"/>
          </a:xfrm>
          <a:prstGeom prst="rect">
            <a:avLst/>
          </a:prstGeom>
          <a:noFill/>
        </p:spPr>
        <p:txBody>
          <a:bodyPr wrap="square" lIns="45720" tIns="27432" rIns="45720" bIns="27432" anchor="ctr">
            <a:spAutoFit/>
          </a:bodyPr>
          <a:lstStyle/>
          <a:p>
            <a:pPr algn="l">
              <a:spcAft>
                <a:spcPts val="0"/>
              </a:spcAft>
            </a:pPr>
            <a:r>
              <a:rPr sz="1100" b="0" i="0">
                <a:solidFill>
                  <a:srgbClr val="1F2933"/>
                </a:solidFill>
                <a:latin typeface="Aptos"/>
              </a:rPr>
              <a:t>The physical cable route of every closed ring</a:t>
            </a:r>
          </a:p>
        </p:txBody>
      </p:sp>
      <p:sp>
        <p:nvSpPr>
          <p:cNvPr id="21" name="Rounded Rectangle 20"/>
          <p:cNvSpPr/>
          <p:nvPr/>
        </p:nvSpPr>
        <p:spPr>
          <a:xfrm>
            <a:off x="3813048" y="1463040"/>
            <a:ext cx="4343400" cy="283464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22" name="TextBox 21"/>
          <p:cNvSpPr txBox="1"/>
          <p:nvPr/>
        </p:nvSpPr>
        <p:spPr>
          <a:xfrm>
            <a:off x="3950208" y="1527048"/>
            <a:ext cx="4069080" cy="292608"/>
          </a:xfrm>
          <a:prstGeom prst="rect">
            <a:avLst/>
          </a:prstGeom>
          <a:noFill/>
        </p:spPr>
        <p:txBody>
          <a:bodyPr wrap="square" lIns="45720" tIns="27432" rIns="45720" bIns="27432" anchor="t">
            <a:spAutoFit/>
          </a:bodyPr>
          <a:lstStyle/>
          <a:p>
            <a:pPr algn="l">
              <a:spcAft>
                <a:spcPts val="0"/>
              </a:spcAft>
            </a:pPr>
            <a:r>
              <a:rPr sz="1300" b="1" i="0">
                <a:solidFill>
                  <a:srgbClr val="1F2933"/>
                </a:solidFill>
                <a:latin typeface="Aptos"/>
              </a:rPr>
              <a:t>Rules every design must meet</a:t>
            </a:r>
          </a:p>
        </p:txBody>
      </p:sp>
      <p:sp>
        <p:nvSpPr>
          <p:cNvPr id="23" name="Rectangle 22"/>
          <p:cNvSpPr/>
          <p:nvPr/>
        </p:nvSpPr>
        <p:spPr>
          <a:xfrm>
            <a:off x="3995928" y="1847088"/>
            <a:ext cx="457200" cy="32004"/>
          </a:xfrm>
          <a:prstGeom prst="rect">
            <a:avLst/>
          </a:prstGeom>
          <a:solidFill>
            <a:srgbClr val="C8102E"/>
          </a:solidFill>
          <a:ln>
            <a:noFill/>
          </a:ln>
        </p:spPr>
        <p:txBody>
          <a:bodyPr rtlCol="0" anchor="ctr"/>
          <a:lstStyle/>
          <a:p>
            <a:pPr algn="ctr"/>
            <a:endParaRPr/>
          </a:p>
        </p:txBody>
      </p:sp>
      <p:sp>
        <p:nvSpPr>
          <p:cNvPr id="24" name="TextBox 23"/>
          <p:cNvSpPr txBox="1"/>
          <p:nvPr/>
        </p:nvSpPr>
        <p:spPr>
          <a:xfrm>
            <a:off x="3950208" y="1938528"/>
            <a:ext cx="4069080" cy="2331720"/>
          </a:xfrm>
          <a:prstGeom prst="rect">
            <a:avLst/>
          </a:prstGeom>
          <a:noFill/>
        </p:spPr>
        <p:txBody>
          <a:bodyPr wrap="square" lIns="45720" tIns="27432" rIns="45720" bIns="27432" anchor="t">
            <a:spAutoFit/>
          </a:bodyPr>
          <a:lstStyle/>
          <a:p>
            <a:pPr algn="l">
              <a:spcAft>
                <a:spcPts val="300"/>
              </a:spcAft>
            </a:pPr>
            <a:r>
              <a:rPr sz="1050" b="1" i="0">
                <a:solidFill>
                  <a:srgbClr val="C8102E"/>
                </a:solidFill>
                <a:latin typeface="Aptos"/>
              </a:rPr>
              <a:t>•  </a:t>
            </a:r>
            <a:r>
              <a:rPr sz="1050" b="1" i="0">
                <a:solidFill>
                  <a:srgbClr val="1F2933"/>
                </a:solidFill>
                <a:latin typeface="Aptos"/>
              </a:rPr>
              <a:t>Nodes: </a:t>
            </a:r>
            <a:r>
              <a:rPr sz="1050" b="0" i="0">
                <a:solidFill>
                  <a:srgbClr val="1F2933"/>
                </a:solidFill>
                <a:latin typeface="Aptos"/>
              </a:rPr>
              <a:t>one fixed node in every eligible living room, bedroom, kitchen and storage room.</a:t>
            </a:r>
          </a:p>
          <a:p>
            <a:pPr algn="l">
              <a:spcAft>
                <a:spcPts val="300"/>
              </a:spcAft>
            </a:pPr>
            <a:r>
              <a:rPr sz="1050" b="1" i="0">
                <a:solidFill>
                  <a:srgbClr val="C8102E"/>
                </a:solidFill>
                <a:latin typeface="Aptos"/>
              </a:rPr>
              <a:t>•  </a:t>
            </a:r>
            <a:r>
              <a:rPr sz="1050" b="1" i="0">
                <a:solidFill>
                  <a:srgbClr val="1F2933"/>
                </a:solidFill>
                <a:latin typeface="Aptos"/>
              </a:rPr>
              <a:t>Capacity: </a:t>
            </a:r>
            <a:r>
              <a:rPr sz="1050" b="0" i="0">
                <a:solidFill>
                  <a:srgbClr val="1F2933"/>
                </a:solidFill>
                <a:latin typeface="Aptos"/>
              </a:rPr>
              <a:t>each hub serves at most 100 m² of assigned eligible-room area and 5 nodes.</a:t>
            </a:r>
          </a:p>
          <a:p>
            <a:pPr algn="l">
              <a:spcAft>
                <a:spcPts val="300"/>
              </a:spcAft>
            </a:pPr>
            <a:r>
              <a:rPr sz="1050" b="1" i="0">
                <a:solidFill>
                  <a:srgbClr val="C8102E"/>
                </a:solidFill>
                <a:latin typeface="Aptos"/>
              </a:rPr>
              <a:t>•  </a:t>
            </a:r>
            <a:r>
              <a:rPr sz="1050" b="1" i="0">
                <a:solidFill>
                  <a:srgbClr val="1F2933"/>
                </a:solidFill>
                <a:latin typeface="Aptos"/>
              </a:rPr>
              <a:t>Zones: </a:t>
            </a:r>
            <a:r>
              <a:rPr sz="1050" b="0" i="0">
                <a:solidFill>
                  <a:srgbClr val="1F2933"/>
                </a:solidFill>
                <a:latin typeface="Aptos"/>
              </a:rPr>
              <a:t>a hub’s rooms form one connected zone; every node belongs to exactly one hub.</a:t>
            </a:r>
          </a:p>
          <a:p>
            <a:pPr algn="l">
              <a:spcAft>
                <a:spcPts val="300"/>
              </a:spcAft>
            </a:pPr>
            <a:r>
              <a:rPr sz="1050" b="1" i="0">
                <a:solidFill>
                  <a:srgbClr val="C8102E"/>
                </a:solidFill>
                <a:latin typeface="Aptos"/>
              </a:rPr>
              <a:t>•  </a:t>
            </a:r>
            <a:r>
              <a:rPr sz="1050" b="1" i="0">
                <a:solidFill>
                  <a:srgbClr val="1F2933"/>
                </a:solidFill>
                <a:latin typeface="Aptos"/>
              </a:rPr>
              <a:t>Ring: </a:t>
            </a:r>
            <a:r>
              <a:rPr sz="1050" b="0" i="0">
                <a:solidFill>
                  <a:srgbClr val="1F2933"/>
                </a:solidFill>
                <a:latin typeface="Aptos"/>
              </a:rPr>
              <a:t>H → N1 → … → Nn → same H. Closed and non-branching, each node once.</a:t>
            </a:r>
          </a:p>
          <a:p>
            <a:pPr algn="l">
              <a:spcAft>
                <a:spcPts val="300"/>
              </a:spcAft>
            </a:pPr>
            <a:r>
              <a:rPr sz="1050" b="1" i="0">
                <a:solidFill>
                  <a:srgbClr val="C8102E"/>
                </a:solidFill>
                <a:latin typeface="Aptos"/>
              </a:rPr>
              <a:t>•  </a:t>
            </a:r>
            <a:r>
              <a:rPr sz="1050" b="1" i="0">
                <a:solidFill>
                  <a:srgbClr val="1F2933"/>
                </a:solidFill>
                <a:latin typeface="Aptos"/>
              </a:rPr>
              <a:t>Routes: </a:t>
            </a:r>
            <a:r>
              <a:rPr sz="1050" b="0" i="0">
                <a:solidFill>
                  <a:srgbClr val="1F2933"/>
                </a:solidFill>
                <a:latin typeface="Aptos"/>
              </a:rPr>
              <a:t>horizontal and vertical runs, between rooms only through doors and open passages, inside the inner boundary, never through walls, windows or external areas.</a:t>
            </a:r>
          </a:p>
          <a:p>
            <a:pPr algn="l">
              <a:spcAft>
                <a:spcPts val="300"/>
              </a:spcAft>
            </a:pPr>
            <a:r>
              <a:rPr sz="1050" b="1" i="0">
                <a:solidFill>
                  <a:srgbClr val="C8102E"/>
                </a:solidFill>
                <a:latin typeface="Aptos"/>
              </a:rPr>
              <a:t>•  </a:t>
            </a:r>
            <a:r>
              <a:rPr sz="1050" b="1" i="0">
                <a:solidFill>
                  <a:srgbClr val="1F2933"/>
                </a:solidFill>
                <a:latin typeface="Aptos"/>
              </a:rPr>
              <a:t>Invalid: </a:t>
            </a:r>
            <a:r>
              <a:rPr sz="1050" b="0" i="0">
                <a:solidFill>
                  <a:srgbClr val="1F2933"/>
                </a:solidFill>
                <a:latin typeface="Aptos"/>
              </a:rPr>
              <a:t>open-ended routes, branches, skipped or repeated nodes, a ring ending at another hub.</a:t>
            </a:r>
          </a:p>
        </p:txBody>
      </p:sp>
      <p:sp>
        <p:nvSpPr>
          <p:cNvPr id="25" name="Rounded Rectangle 24"/>
          <p:cNvSpPr/>
          <p:nvPr/>
        </p:nvSpPr>
        <p:spPr>
          <a:xfrm>
            <a:off x="8266175" y="1463040"/>
            <a:ext cx="3465576" cy="283464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26" name="TextBox 25"/>
          <p:cNvSpPr txBox="1"/>
          <p:nvPr/>
        </p:nvSpPr>
        <p:spPr>
          <a:xfrm>
            <a:off x="8403336" y="1527048"/>
            <a:ext cx="3191256" cy="292608"/>
          </a:xfrm>
          <a:prstGeom prst="rect">
            <a:avLst/>
          </a:prstGeom>
          <a:noFill/>
        </p:spPr>
        <p:txBody>
          <a:bodyPr wrap="square" lIns="45720" tIns="27432" rIns="45720" bIns="27432" anchor="t">
            <a:spAutoFit/>
          </a:bodyPr>
          <a:lstStyle/>
          <a:p>
            <a:pPr algn="l">
              <a:spcAft>
                <a:spcPts val="0"/>
              </a:spcAft>
            </a:pPr>
            <a:r>
              <a:rPr sz="1300" b="1" i="0">
                <a:solidFill>
                  <a:srgbClr val="1F2933"/>
                </a:solidFill>
                <a:latin typeface="Aptos"/>
              </a:rPr>
              <a:t>Expected outcome</a:t>
            </a:r>
          </a:p>
        </p:txBody>
      </p:sp>
      <p:sp>
        <p:nvSpPr>
          <p:cNvPr id="27" name="Rectangle 26"/>
          <p:cNvSpPr/>
          <p:nvPr/>
        </p:nvSpPr>
        <p:spPr>
          <a:xfrm>
            <a:off x="8449055" y="1847088"/>
            <a:ext cx="457200" cy="32004"/>
          </a:xfrm>
          <a:prstGeom prst="rect">
            <a:avLst/>
          </a:prstGeom>
          <a:solidFill>
            <a:srgbClr val="C8102E"/>
          </a:solidFill>
          <a:ln>
            <a:noFill/>
          </a:ln>
        </p:spPr>
        <p:txBody>
          <a:bodyPr rtlCol="0" anchor="ctr"/>
          <a:lstStyle/>
          <a:p>
            <a:pPr algn="ctr"/>
            <a:endParaRPr/>
          </a:p>
        </p:txBody>
      </p:sp>
      <p:sp>
        <p:nvSpPr>
          <p:cNvPr id="28" name="TextBox 27"/>
          <p:cNvSpPr txBox="1"/>
          <p:nvPr/>
        </p:nvSpPr>
        <p:spPr>
          <a:xfrm>
            <a:off x="8403336" y="1938528"/>
            <a:ext cx="3191256" cy="2331720"/>
          </a:xfrm>
          <a:prstGeom prst="rect">
            <a:avLst/>
          </a:prstGeom>
          <a:noFill/>
        </p:spPr>
        <p:txBody>
          <a:bodyPr wrap="square" lIns="45720" tIns="27432" rIns="45720" bIns="27432" anchor="t">
            <a:spAutoFit/>
          </a:bodyPr>
          <a:lstStyle/>
          <a:p>
            <a:pPr algn="l">
              <a:spcAft>
                <a:spcPts val="300"/>
              </a:spcAft>
            </a:pPr>
            <a:r>
              <a:rPr sz="1050" b="1" i="0">
                <a:solidFill>
                  <a:srgbClr val="C8102E"/>
                </a:solidFill>
                <a:latin typeface="Aptos"/>
              </a:rPr>
              <a:t>•  </a:t>
            </a:r>
            <a:r>
              <a:rPr sz="1050" b="0" i="0">
                <a:solidFill>
                  <a:srgbClr val="1F2933"/>
                </a:solidFill>
                <a:latin typeface="Aptos"/>
              </a:rPr>
              <a:t>A working prototype that processes an unseen ResPlan plan with no manual adjustment.</a:t>
            </a:r>
          </a:p>
          <a:p>
            <a:pPr algn="l">
              <a:spcAft>
                <a:spcPts val="300"/>
              </a:spcAft>
            </a:pPr>
            <a:r>
              <a:rPr sz="1050" b="1" i="0">
                <a:solidFill>
                  <a:srgbClr val="C8102E"/>
                </a:solidFill>
                <a:latin typeface="Aptos"/>
              </a:rPr>
              <a:t>•  </a:t>
            </a:r>
            <a:r>
              <a:rPr sz="1050" b="1" i="0">
                <a:solidFill>
                  <a:srgbClr val="1F2933"/>
                </a:solidFill>
                <a:latin typeface="Aptos"/>
              </a:rPr>
              <a:t>Visual overlay: </a:t>
            </a:r>
            <a:r>
              <a:rPr sz="1050" b="0" i="0">
                <a:solidFill>
                  <a:srgbClr val="1F2933"/>
                </a:solidFill>
                <a:latin typeface="Aptos"/>
              </a:rPr>
              <a:t>room-to-hub assignment, nodes, hubs, connection order and full ring routes. It must show routes crossing only at doors or open passages, avoiding walls and windows, and returning to the starting hub.</a:t>
            </a:r>
          </a:p>
          <a:p>
            <a:pPr algn="l">
              <a:spcAft>
                <a:spcPts val="300"/>
              </a:spcAft>
            </a:pPr>
            <a:r>
              <a:rPr sz="1050" b="1" i="0">
                <a:solidFill>
                  <a:srgbClr val="C8102E"/>
                </a:solidFill>
                <a:latin typeface="Aptos"/>
              </a:rPr>
              <a:t>•  </a:t>
            </a:r>
            <a:r>
              <a:rPr sz="1050" b="1" i="0">
                <a:solidFill>
                  <a:srgbClr val="1F2933"/>
                </a:solidFill>
                <a:latin typeface="Aptos"/>
              </a:rPr>
              <a:t>JSON output: </a:t>
            </a:r>
            <a:r>
              <a:rPr sz="1050" b="0" i="0">
                <a:solidFill>
                  <a:srgbClr val="1F2933"/>
                </a:solidFill>
                <a:latin typeface="Aptos"/>
              </a:rPr>
              <a:t>supports validation and scoring.</a:t>
            </a:r>
          </a:p>
          <a:p>
            <a:pPr algn="l">
              <a:spcAft>
                <a:spcPts val="300"/>
              </a:spcAft>
            </a:pPr>
            <a:r>
              <a:rPr sz="1050" b="1" i="0">
                <a:solidFill>
                  <a:srgbClr val="C8102E"/>
                </a:solidFill>
                <a:latin typeface="Aptos"/>
              </a:rPr>
              <a:t>•  </a:t>
            </a:r>
            <a:r>
              <a:rPr sz="1050" b="1" i="0">
                <a:solidFill>
                  <a:srgbClr val="1F2933"/>
                </a:solidFill>
                <a:latin typeface="Aptos"/>
              </a:rPr>
              <a:t>Ranking: </a:t>
            </a:r>
            <a:r>
              <a:rPr sz="1050" b="0" i="0">
                <a:solidFill>
                  <a:srgbClr val="1F2933"/>
                </a:solidFill>
                <a:latin typeface="Aptos"/>
              </a:rPr>
              <a:t>fewest hubs first, then lowest cost J.</a:t>
            </a:r>
          </a:p>
        </p:txBody>
      </p:sp>
      <p:sp>
        <p:nvSpPr>
          <p:cNvPr id="29" name="Rounded Rectangle 28"/>
          <p:cNvSpPr/>
          <p:nvPr/>
        </p:nvSpPr>
        <p:spPr>
          <a:xfrm>
            <a:off x="457200" y="4434840"/>
            <a:ext cx="5989320" cy="1874519"/>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30" name="TextBox 29"/>
          <p:cNvSpPr txBox="1"/>
          <p:nvPr/>
        </p:nvSpPr>
        <p:spPr>
          <a:xfrm>
            <a:off x="594360" y="4498848"/>
            <a:ext cx="5715000" cy="292608"/>
          </a:xfrm>
          <a:prstGeom prst="rect">
            <a:avLst/>
          </a:prstGeom>
          <a:noFill/>
        </p:spPr>
        <p:txBody>
          <a:bodyPr wrap="square" lIns="45720" tIns="27432" rIns="45720" bIns="27432" anchor="t">
            <a:spAutoFit/>
          </a:bodyPr>
          <a:lstStyle/>
          <a:p>
            <a:pPr algn="l">
              <a:spcAft>
                <a:spcPts val="0"/>
              </a:spcAft>
            </a:pPr>
            <a:r>
              <a:rPr sz="1300" b="1" i="0">
                <a:solidFill>
                  <a:srgbClr val="1F2933"/>
                </a:solidFill>
                <a:latin typeface="Aptos"/>
              </a:rPr>
              <a:t>Major work elements</a:t>
            </a:r>
          </a:p>
        </p:txBody>
      </p:sp>
      <p:sp>
        <p:nvSpPr>
          <p:cNvPr id="31" name="Rectangle 30"/>
          <p:cNvSpPr/>
          <p:nvPr/>
        </p:nvSpPr>
        <p:spPr>
          <a:xfrm>
            <a:off x="640080" y="4818888"/>
            <a:ext cx="457200" cy="32004"/>
          </a:xfrm>
          <a:prstGeom prst="rect">
            <a:avLst/>
          </a:prstGeom>
          <a:solidFill>
            <a:srgbClr val="C8102E"/>
          </a:solidFill>
          <a:ln>
            <a:noFill/>
          </a:ln>
        </p:spPr>
        <p:txBody>
          <a:bodyPr rtlCol="0" anchor="ctr"/>
          <a:lstStyle/>
          <a:p>
            <a:pPr algn="ctr"/>
            <a:endParaRPr/>
          </a:p>
        </p:txBody>
      </p:sp>
      <p:sp>
        <p:nvSpPr>
          <p:cNvPr id="32" name="TextBox 31"/>
          <p:cNvSpPr txBox="1"/>
          <p:nvPr/>
        </p:nvSpPr>
        <p:spPr>
          <a:xfrm>
            <a:off x="594360" y="4910327"/>
            <a:ext cx="2811779" cy="1371599"/>
          </a:xfrm>
          <a:prstGeom prst="rect">
            <a:avLst/>
          </a:prstGeom>
          <a:noFill/>
        </p:spPr>
        <p:txBody>
          <a:bodyPr wrap="square" lIns="45720" tIns="27432" rIns="45720" bIns="27432" anchor="t">
            <a:spAutoFit/>
          </a:bodyPr>
          <a:lstStyle/>
          <a:p>
            <a:pPr algn="l">
              <a:spcAft>
                <a:spcPts val="300"/>
              </a:spcAft>
            </a:pPr>
            <a:r>
              <a:rPr sz="1050" b="1" i="0">
                <a:solidFill>
                  <a:srgbClr val="C8102E"/>
                </a:solidFill>
                <a:latin typeface="Aptos"/>
              </a:rPr>
              <a:t>•  </a:t>
            </a:r>
            <a:r>
              <a:rPr sz="1050" b="0" i="0">
                <a:solidFill>
                  <a:srgbClr val="1F2933"/>
                </a:solidFill>
                <a:latin typeface="Aptos"/>
              </a:rPr>
              <a:t>ResPlan geometry, scale conversion and eligible-room identification</a:t>
            </a:r>
          </a:p>
          <a:p>
            <a:pPr algn="l">
              <a:spcAft>
                <a:spcPts val="300"/>
              </a:spcAft>
            </a:pPr>
            <a:r>
              <a:rPr sz="1050" b="1" i="0">
                <a:solidFill>
                  <a:srgbClr val="C8102E"/>
                </a:solidFill>
                <a:latin typeface="Aptos"/>
              </a:rPr>
              <a:t>•  </a:t>
            </a:r>
            <a:r>
              <a:rPr sz="1050" b="0" i="0">
                <a:solidFill>
                  <a:srgbClr val="1F2933"/>
                </a:solidFill>
                <a:latin typeface="Aptos"/>
              </a:rPr>
              <a:t>Capacity-constrained hub placement and room assignment</a:t>
            </a:r>
          </a:p>
          <a:p>
            <a:pPr algn="l">
              <a:spcAft>
                <a:spcPts val="300"/>
              </a:spcAft>
            </a:pPr>
            <a:r>
              <a:rPr sz="1050" b="1" i="0">
                <a:solidFill>
                  <a:srgbClr val="C8102E"/>
                </a:solidFill>
                <a:latin typeface="Aptos"/>
              </a:rPr>
              <a:t>•  </a:t>
            </a:r>
            <a:r>
              <a:rPr sz="1050" b="0" i="0">
                <a:solidFill>
                  <a:srgbClr val="1F2933"/>
                </a:solidFill>
                <a:latin typeface="Aptos"/>
              </a:rPr>
              <a:t>Contiguous zone generation from door and open-passage links</a:t>
            </a:r>
          </a:p>
          <a:p>
            <a:pPr algn="l">
              <a:spcAft>
                <a:spcPts val="300"/>
              </a:spcAft>
            </a:pPr>
            <a:r>
              <a:rPr sz="1050" b="1" i="0">
                <a:solidFill>
                  <a:srgbClr val="C8102E"/>
                </a:solidFill>
                <a:latin typeface="Aptos"/>
              </a:rPr>
              <a:t>•  </a:t>
            </a:r>
            <a:r>
              <a:rPr sz="1050" b="0" i="0">
                <a:solidFill>
                  <a:srgbClr val="1F2933"/>
                </a:solidFill>
                <a:latin typeface="Aptos"/>
              </a:rPr>
              <a:t>Closed-ring node sequencing</a:t>
            </a:r>
          </a:p>
        </p:txBody>
      </p:sp>
      <p:sp>
        <p:nvSpPr>
          <p:cNvPr id="33" name="TextBox 32"/>
          <p:cNvSpPr txBox="1"/>
          <p:nvPr/>
        </p:nvSpPr>
        <p:spPr>
          <a:xfrm>
            <a:off x="3451859" y="4910327"/>
            <a:ext cx="2811779" cy="1371599"/>
          </a:xfrm>
          <a:prstGeom prst="rect">
            <a:avLst/>
          </a:prstGeom>
          <a:noFill/>
        </p:spPr>
        <p:txBody>
          <a:bodyPr wrap="square" lIns="45720" tIns="27432" rIns="45720" bIns="27432" anchor="t">
            <a:spAutoFit/>
          </a:bodyPr>
          <a:lstStyle/>
          <a:p>
            <a:pPr algn="l">
              <a:spcAft>
                <a:spcPts val="300"/>
              </a:spcAft>
            </a:pPr>
            <a:r>
              <a:rPr sz="1050" b="1" i="0">
                <a:solidFill>
                  <a:srgbClr val="C8102E"/>
                </a:solidFill>
                <a:latin typeface="Aptos"/>
              </a:rPr>
              <a:t>•  </a:t>
            </a:r>
            <a:r>
              <a:rPr sz="1050" b="0" i="0">
                <a:solidFill>
                  <a:srgbClr val="1F2933"/>
                </a:solidFill>
                <a:latin typeface="Aptos"/>
              </a:rPr>
              <a:t>Obstacle-aware axis-aligned routing through doors and open passages</a:t>
            </a:r>
          </a:p>
          <a:p>
            <a:pPr algn="l">
              <a:spcAft>
                <a:spcPts val="300"/>
              </a:spcAft>
            </a:pPr>
            <a:r>
              <a:rPr sz="1050" b="1" i="0">
                <a:solidFill>
                  <a:srgbClr val="C8102E"/>
                </a:solidFill>
                <a:latin typeface="Aptos"/>
              </a:rPr>
              <a:t>•  </a:t>
            </a:r>
            <a:r>
              <a:rPr sz="1050" b="0" i="0">
                <a:solidFill>
                  <a:srgbClr val="1F2933"/>
                </a:solidFill>
                <a:latin typeface="Aptos"/>
              </a:rPr>
              <a:t>Wall, window and external-area avoidance</a:t>
            </a:r>
          </a:p>
          <a:p>
            <a:pPr algn="l">
              <a:spcAft>
                <a:spcPts val="300"/>
              </a:spcAft>
            </a:pPr>
            <a:r>
              <a:rPr sz="1050" b="1" i="0">
                <a:solidFill>
                  <a:srgbClr val="C8102E"/>
                </a:solidFill>
                <a:latin typeface="Aptos"/>
              </a:rPr>
              <a:t>•  </a:t>
            </a:r>
            <a:r>
              <a:rPr sz="1050" b="0" i="0">
                <a:solidFill>
                  <a:srgbClr val="1F2933"/>
                </a:solidFill>
                <a:latin typeface="Aptos"/>
              </a:rPr>
              <a:t>Optimization of hub count, cable length, crossings, overlap and bends</a:t>
            </a:r>
          </a:p>
          <a:p>
            <a:pPr algn="l">
              <a:spcAft>
                <a:spcPts val="300"/>
              </a:spcAft>
            </a:pPr>
            <a:r>
              <a:rPr sz="1050" b="1" i="0">
                <a:solidFill>
                  <a:srgbClr val="C8102E"/>
                </a:solidFill>
                <a:latin typeface="Aptos"/>
              </a:rPr>
              <a:t>•  </a:t>
            </a:r>
            <a:r>
              <a:rPr sz="1050" b="0" i="0">
                <a:solidFill>
                  <a:srgbClr val="1F2933"/>
                </a:solidFill>
                <a:latin typeface="Aptos"/>
              </a:rPr>
              <a:t>Design validation and floor-plan visualization</a:t>
            </a:r>
          </a:p>
        </p:txBody>
      </p:sp>
      <p:sp>
        <p:nvSpPr>
          <p:cNvPr id="34" name="Rounded Rectangle 33"/>
          <p:cNvSpPr/>
          <p:nvPr/>
        </p:nvSpPr>
        <p:spPr>
          <a:xfrm>
            <a:off x="6556248" y="4434840"/>
            <a:ext cx="2514600" cy="1874519"/>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35" name="TextBox 34"/>
          <p:cNvSpPr txBox="1"/>
          <p:nvPr/>
        </p:nvSpPr>
        <p:spPr>
          <a:xfrm>
            <a:off x="6693408" y="4498848"/>
            <a:ext cx="2240280" cy="292608"/>
          </a:xfrm>
          <a:prstGeom prst="rect">
            <a:avLst/>
          </a:prstGeom>
          <a:noFill/>
        </p:spPr>
        <p:txBody>
          <a:bodyPr wrap="square" lIns="45720" tIns="27432" rIns="45720" bIns="27432" anchor="t">
            <a:spAutoFit/>
          </a:bodyPr>
          <a:lstStyle/>
          <a:p>
            <a:pPr algn="l">
              <a:spcAft>
                <a:spcPts val="0"/>
              </a:spcAft>
            </a:pPr>
            <a:r>
              <a:rPr sz="1300" b="1" i="0">
                <a:solidFill>
                  <a:srgbClr val="1F2933"/>
                </a:solidFill>
                <a:latin typeface="Aptos"/>
              </a:rPr>
              <a:t>Required skills</a:t>
            </a:r>
          </a:p>
        </p:txBody>
      </p:sp>
      <p:sp>
        <p:nvSpPr>
          <p:cNvPr id="36" name="Rectangle 35"/>
          <p:cNvSpPr/>
          <p:nvPr/>
        </p:nvSpPr>
        <p:spPr>
          <a:xfrm>
            <a:off x="6739128" y="4818888"/>
            <a:ext cx="457200" cy="32004"/>
          </a:xfrm>
          <a:prstGeom prst="rect">
            <a:avLst/>
          </a:prstGeom>
          <a:solidFill>
            <a:srgbClr val="C8102E"/>
          </a:solidFill>
          <a:ln>
            <a:noFill/>
          </a:ln>
        </p:spPr>
        <p:txBody>
          <a:bodyPr rtlCol="0" anchor="ctr"/>
          <a:lstStyle/>
          <a:p>
            <a:pPr algn="ctr"/>
            <a:endParaRPr/>
          </a:p>
        </p:txBody>
      </p:sp>
      <p:sp>
        <p:nvSpPr>
          <p:cNvPr id="37" name="TextBox 36"/>
          <p:cNvSpPr txBox="1"/>
          <p:nvPr/>
        </p:nvSpPr>
        <p:spPr>
          <a:xfrm>
            <a:off x="6693408" y="4910327"/>
            <a:ext cx="2240280" cy="1371599"/>
          </a:xfrm>
          <a:prstGeom prst="rect">
            <a:avLst/>
          </a:prstGeom>
          <a:noFill/>
        </p:spPr>
        <p:txBody>
          <a:bodyPr wrap="square" lIns="45720" tIns="27432" rIns="45720" bIns="27432" anchor="t">
            <a:spAutoFit/>
          </a:bodyPr>
          <a:lstStyle/>
          <a:p>
            <a:pPr algn="l">
              <a:spcAft>
                <a:spcPts val="100"/>
              </a:spcAft>
            </a:pPr>
            <a:r>
              <a:rPr sz="1050" b="1" i="0">
                <a:solidFill>
                  <a:srgbClr val="C8102E"/>
                </a:solidFill>
                <a:latin typeface="Aptos"/>
              </a:rPr>
              <a:t>•  </a:t>
            </a:r>
            <a:r>
              <a:rPr sz="1050" b="0" i="0">
                <a:solidFill>
                  <a:srgbClr val="1F2933"/>
                </a:solidFill>
                <a:latin typeface="Aptos"/>
              </a:rPr>
              <a:t>Python</a:t>
            </a:r>
          </a:p>
          <a:p>
            <a:pPr algn="l">
              <a:spcAft>
                <a:spcPts val="100"/>
              </a:spcAft>
            </a:pPr>
            <a:r>
              <a:rPr sz="1050" b="1" i="0">
                <a:solidFill>
                  <a:srgbClr val="C8102E"/>
                </a:solidFill>
                <a:latin typeface="Aptos"/>
              </a:rPr>
              <a:t>•  </a:t>
            </a:r>
            <a:r>
              <a:rPr sz="1050" b="0" i="0">
                <a:solidFill>
                  <a:srgbClr val="1F2933"/>
                </a:solidFill>
                <a:latin typeface="Aptos"/>
              </a:rPr>
              <a:t>Computational geometry</a:t>
            </a:r>
          </a:p>
          <a:p>
            <a:pPr algn="l">
              <a:spcAft>
                <a:spcPts val="100"/>
              </a:spcAft>
            </a:pPr>
            <a:r>
              <a:rPr sz="1050" b="1" i="0">
                <a:solidFill>
                  <a:srgbClr val="C8102E"/>
                </a:solidFill>
                <a:latin typeface="Aptos"/>
              </a:rPr>
              <a:t>•  </a:t>
            </a:r>
            <a:r>
              <a:rPr sz="1050" b="0" i="0">
                <a:solidFill>
                  <a:srgbClr val="1F2933"/>
                </a:solidFill>
                <a:latin typeface="Aptos"/>
              </a:rPr>
              <a:t>Graph algorithms</a:t>
            </a:r>
          </a:p>
          <a:p>
            <a:pPr algn="l">
              <a:spcAft>
                <a:spcPts val="100"/>
              </a:spcAft>
            </a:pPr>
            <a:r>
              <a:rPr sz="1050" b="1" i="0">
                <a:solidFill>
                  <a:srgbClr val="C8102E"/>
                </a:solidFill>
                <a:latin typeface="Aptos"/>
              </a:rPr>
              <a:t>•  </a:t>
            </a:r>
            <a:r>
              <a:rPr sz="1050" b="0" i="0">
                <a:solidFill>
                  <a:srgbClr val="1F2933"/>
                </a:solidFill>
                <a:latin typeface="Aptos"/>
              </a:rPr>
              <a:t>Optimization and pathfinding</a:t>
            </a:r>
          </a:p>
          <a:p>
            <a:pPr algn="l">
              <a:spcAft>
                <a:spcPts val="100"/>
              </a:spcAft>
            </a:pPr>
            <a:r>
              <a:rPr sz="1050" b="1" i="0">
                <a:solidFill>
                  <a:srgbClr val="C8102E"/>
                </a:solidFill>
                <a:latin typeface="Aptos"/>
              </a:rPr>
              <a:t>•  </a:t>
            </a:r>
            <a:r>
              <a:rPr sz="1050" b="0" i="0">
                <a:solidFill>
                  <a:srgbClr val="1F2933"/>
                </a:solidFill>
                <a:latin typeface="Aptos"/>
              </a:rPr>
              <a:t>Travelling-salesperson methods</a:t>
            </a:r>
          </a:p>
          <a:p>
            <a:pPr algn="l">
              <a:spcAft>
                <a:spcPts val="100"/>
              </a:spcAft>
            </a:pPr>
            <a:r>
              <a:rPr sz="1050" b="1" i="0">
                <a:solidFill>
                  <a:srgbClr val="C8102E"/>
                </a:solidFill>
                <a:latin typeface="Aptos"/>
              </a:rPr>
              <a:t>•  </a:t>
            </a:r>
            <a:r>
              <a:rPr sz="1050" b="0" i="0">
                <a:solidFill>
                  <a:srgbClr val="1F2933"/>
                </a:solidFill>
                <a:latin typeface="Aptos"/>
              </a:rPr>
              <a:t>Data visualization</a:t>
            </a:r>
          </a:p>
        </p:txBody>
      </p:sp>
      <p:sp>
        <p:nvSpPr>
          <p:cNvPr id="38" name="Rounded Rectangle 37"/>
          <p:cNvSpPr/>
          <p:nvPr/>
        </p:nvSpPr>
        <p:spPr>
          <a:xfrm>
            <a:off x="9180576" y="4434840"/>
            <a:ext cx="2551176" cy="1874519"/>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39" name="TextBox 38"/>
          <p:cNvSpPr txBox="1"/>
          <p:nvPr/>
        </p:nvSpPr>
        <p:spPr>
          <a:xfrm>
            <a:off x="9317736" y="4498848"/>
            <a:ext cx="2276856" cy="292608"/>
          </a:xfrm>
          <a:prstGeom prst="rect">
            <a:avLst/>
          </a:prstGeom>
          <a:noFill/>
        </p:spPr>
        <p:txBody>
          <a:bodyPr wrap="square" lIns="45720" tIns="27432" rIns="45720" bIns="27432" anchor="t">
            <a:spAutoFit/>
          </a:bodyPr>
          <a:lstStyle/>
          <a:p>
            <a:pPr algn="l">
              <a:spcAft>
                <a:spcPts val="0"/>
              </a:spcAft>
            </a:pPr>
            <a:r>
              <a:rPr sz="1300" b="1" i="0">
                <a:solidFill>
                  <a:srgbClr val="1F2933"/>
                </a:solidFill>
                <a:latin typeface="Aptos"/>
              </a:rPr>
              <a:t>Resources</a:t>
            </a:r>
          </a:p>
        </p:txBody>
      </p:sp>
      <p:sp>
        <p:nvSpPr>
          <p:cNvPr id="40" name="Rectangle 39"/>
          <p:cNvSpPr/>
          <p:nvPr/>
        </p:nvSpPr>
        <p:spPr>
          <a:xfrm>
            <a:off x="9363455" y="4818888"/>
            <a:ext cx="457200" cy="32004"/>
          </a:xfrm>
          <a:prstGeom prst="rect">
            <a:avLst/>
          </a:prstGeom>
          <a:solidFill>
            <a:srgbClr val="C8102E"/>
          </a:solidFill>
          <a:ln>
            <a:noFill/>
          </a:ln>
        </p:spPr>
        <p:txBody>
          <a:bodyPr rtlCol="0" anchor="ctr"/>
          <a:lstStyle/>
          <a:p>
            <a:pPr algn="ctr"/>
            <a:endParaRPr/>
          </a:p>
        </p:txBody>
      </p:sp>
      <p:sp>
        <p:nvSpPr>
          <p:cNvPr id="41" name="TextBox 40"/>
          <p:cNvSpPr txBox="1"/>
          <p:nvPr/>
        </p:nvSpPr>
        <p:spPr>
          <a:xfrm>
            <a:off x="9317736" y="4910327"/>
            <a:ext cx="2276856" cy="1371599"/>
          </a:xfrm>
          <a:prstGeom prst="rect">
            <a:avLst/>
          </a:prstGeom>
          <a:noFill/>
        </p:spPr>
        <p:txBody>
          <a:bodyPr wrap="square" lIns="45720" tIns="27432" rIns="45720" bIns="27432" anchor="t">
            <a:spAutoFit/>
          </a:bodyPr>
          <a:lstStyle/>
          <a:p>
            <a:pPr algn="l">
              <a:spcAft>
                <a:spcPts val="300"/>
              </a:spcAft>
            </a:pPr>
            <a:r>
              <a:rPr sz="1050" b="1" i="0">
                <a:solidFill>
                  <a:srgbClr val="C8102E"/>
                </a:solidFill>
                <a:latin typeface="Aptos"/>
              </a:rPr>
              <a:t>•  </a:t>
            </a:r>
            <a:r>
              <a:rPr sz="1050" b="1" i="0">
                <a:solidFill>
                  <a:srgbClr val="1F2933"/>
                </a:solidFill>
                <a:latin typeface="Aptos"/>
              </a:rPr>
              <a:t>Dataset: </a:t>
            </a:r>
            <a:r>
              <a:rPr sz="1050" b="0" i="0">
                <a:solidFill>
                  <a:srgbClr val="1F2933"/>
                </a:solidFill>
                <a:latin typeface="Aptos"/>
              </a:rPr>
              <a:t>ResPlan, 17,000 residential plans (Kaggle and GitHub).</a:t>
            </a:r>
          </a:p>
          <a:p>
            <a:pPr algn="l">
              <a:spcAft>
                <a:spcPts val="300"/>
              </a:spcAft>
            </a:pPr>
            <a:r>
              <a:rPr sz="950" b="0" i="0">
                <a:solidFill>
                  <a:srgbClr val="5B6770"/>
                </a:solidFill>
                <a:latin typeface="Aptos"/>
              </a:rPr>
              <a:t>     kaggle.com/datasets/resplan/resplan</a:t>
            </a:r>
          </a:p>
          <a:p>
            <a:pPr algn="l">
              <a:spcAft>
                <a:spcPts val="300"/>
              </a:spcAft>
            </a:pPr>
            <a:r>
              <a:rPr sz="1050" b="1" i="0">
                <a:solidFill>
                  <a:srgbClr val="C8102E"/>
                </a:solidFill>
                <a:latin typeface="Aptos"/>
              </a:rPr>
              <a:t>•  </a:t>
            </a:r>
            <a:r>
              <a:rPr sz="1050" b="1" i="0">
                <a:solidFill>
                  <a:srgbClr val="1F2933"/>
                </a:solidFill>
                <a:latin typeface="Aptos"/>
              </a:rPr>
              <a:t>Input: </a:t>
            </a:r>
            <a:r>
              <a:rPr sz="1050" b="0" i="0">
                <a:solidFill>
                  <a:srgbClr val="1F2933"/>
                </a:solidFill>
                <a:latin typeface="Aptos"/>
              </a:rPr>
              <a:t>one JSON file per plan from the organisers.</a:t>
            </a:r>
          </a:p>
        </p:txBody>
      </p:sp>
      <p:sp>
        <p:nvSpPr>
          <p:cNvPr id="42" name="TextBox 41"/>
          <p:cNvSpPr txBox="1"/>
          <p:nvPr/>
        </p:nvSpPr>
        <p:spPr>
          <a:xfrm>
            <a:off x="6675120" y="6492240"/>
            <a:ext cx="5056632" cy="274320"/>
          </a:xfrm>
          <a:prstGeom prst="rect">
            <a:avLst/>
          </a:prstGeom>
          <a:noFill/>
        </p:spPr>
        <p:txBody>
          <a:bodyPr wrap="square" lIns="45720" tIns="27432" rIns="45720" bIns="27432" anchor="t">
            <a:spAutoFit/>
          </a:bodyPr>
          <a:lstStyle/>
          <a:p>
            <a:pPr algn="r">
              <a:spcAft>
                <a:spcPts val="0"/>
              </a:spcAft>
            </a:pPr>
            <a:r>
              <a:rPr sz="1000" b="0" i="0">
                <a:solidFill>
                  <a:srgbClr val="5B6770"/>
                </a:solidFill>
                <a:latin typeface="Aptos"/>
              </a:rPr>
              <a:t>UR Hackathon 2026H2  |  Problem statement  |  1 / 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6032"/>
            <a:ext cx="11274552" cy="566928"/>
          </a:xfrm>
        </p:spPr>
        <p:txBody>
          <a:bodyPr wrap="square" lIns="45720" anchor="ctr"/>
          <a:lstStyle/>
          <a:p>
            <a:pPr algn="l"/>
            <a:r>
              <a:rPr sz="2800" b="1">
                <a:solidFill>
                  <a:srgbClr val="1F2933"/>
                </a:solidFill>
                <a:latin typeface="Aptos"/>
              </a:rPr>
              <a:t>Problem statement (1/2): Task and inputs</a:t>
            </a:r>
          </a:p>
        </p:txBody>
      </p:sp>
      <p:sp>
        <p:nvSpPr>
          <p:cNvPr id="3" name="TextBox 2"/>
          <p:cNvSpPr txBox="1"/>
          <p:nvPr/>
        </p:nvSpPr>
        <p:spPr>
          <a:xfrm>
            <a:off x="457200" y="822960"/>
            <a:ext cx="11274552" cy="332399"/>
          </a:xfrm>
          <a:prstGeom prst="rect">
            <a:avLst/>
          </a:prstGeom>
          <a:noFill/>
        </p:spPr>
        <p:txBody>
          <a:bodyPr wrap="square" lIns="45720" tIns="27432" rIns="45720" bIns="27432" anchor="t">
            <a:spAutoFit/>
          </a:bodyPr>
          <a:lstStyle/>
          <a:p>
            <a:pPr algn="l">
              <a:spcAft>
                <a:spcPts val="0"/>
              </a:spcAft>
            </a:pPr>
            <a:r>
              <a:rPr b="1" i="0" dirty="0">
                <a:solidFill>
                  <a:srgbClr val="FF0000"/>
                </a:solidFill>
                <a:latin typeface="Aptos"/>
              </a:rPr>
              <a:t>Joint optimization of hub placement and closed-ring cabling on </a:t>
            </a:r>
            <a:r>
              <a:rPr b="1" i="0" dirty="0" err="1">
                <a:solidFill>
                  <a:srgbClr val="FF0000"/>
                </a:solidFill>
                <a:latin typeface="Aptos"/>
              </a:rPr>
              <a:t>ResPlan</a:t>
            </a:r>
            <a:r>
              <a:rPr b="1" i="0" dirty="0">
                <a:solidFill>
                  <a:srgbClr val="FF0000"/>
                </a:solidFill>
                <a:latin typeface="Aptos"/>
              </a:rPr>
              <a:t> floor plans</a:t>
            </a:r>
          </a:p>
        </p:txBody>
      </p:sp>
      <p:sp>
        <p:nvSpPr>
          <p:cNvPr id="4" name="Rectangle 3"/>
          <p:cNvSpPr/>
          <p:nvPr/>
        </p:nvSpPr>
        <p:spPr>
          <a:xfrm>
            <a:off x="502920" y="1243584"/>
            <a:ext cx="1097280" cy="45720"/>
          </a:xfrm>
          <a:prstGeom prst="rect">
            <a:avLst/>
          </a:prstGeom>
          <a:solidFill>
            <a:srgbClr val="C8102E"/>
          </a:solidFill>
          <a:ln>
            <a:noFill/>
          </a:ln>
        </p:spPr>
        <p:txBody>
          <a:bodyPr rtlCol="0" anchor="ctr"/>
          <a:lstStyle/>
          <a:p>
            <a:pPr algn="ctr"/>
            <a:endParaRPr/>
          </a:p>
        </p:txBody>
      </p:sp>
      <p:sp>
        <p:nvSpPr>
          <p:cNvPr id="5" name="TextBox 4"/>
          <p:cNvSpPr txBox="1"/>
          <p:nvPr/>
        </p:nvSpPr>
        <p:spPr>
          <a:xfrm>
            <a:off x="6675120" y="6492240"/>
            <a:ext cx="5056632" cy="274320"/>
          </a:xfrm>
          <a:prstGeom prst="rect">
            <a:avLst/>
          </a:prstGeom>
          <a:noFill/>
        </p:spPr>
        <p:txBody>
          <a:bodyPr wrap="square" lIns="45720" tIns="27432" rIns="45720" bIns="27432" anchor="t">
            <a:spAutoFit/>
          </a:bodyPr>
          <a:lstStyle/>
          <a:p>
            <a:pPr algn="r">
              <a:spcAft>
                <a:spcPts val="0"/>
              </a:spcAft>
            </a:pPr>
            <a:r>
              <a:rPr sz="1000" b="0" i="0">
                <a:solidFill>
                  <a:srgbClr val="5B6770"/>
                </a:solidFill>
                <a:latin typeface="Aptos"/>
              </a:rPr>
              <a:t>UR Hackathon 2026H2  |  Problem statement  |  2 / 8</a:t>
            </a:r>
          </a:p>
        </p:txBody>
      </p:sp>
      <p:sp>
        <p:nvSpPr>
          <p:cNvPr id="6" name="TextBox 5"/>
          <p:cNvSpPr txBox="1"/>
          <p:nvPr/>
        </p:nvSpPr>
        <p:spPr>
          <a:xfrm>
            <a:off x="457200" y="6492240"/>
            <a:ext cx="6400800" cy="274320"/>
          </a:xfrm>
          <a:prstGeom prst="rect">
            <a:avLst/>
          </a:prstGeom>
          <a:noFill/>
        </p:spPr>
        <p:txBody>
          <a:bodyPr wrap="square" lIns="45720" tIns="27432" rIns="45720" bIns="27432" anchor="t">
            <a:spAutoFit/>
          </a:bodyPr>
          <a:lstStyle/>
          <a:p>
            <a:pPr algn="l">
              <a:spcAft>
                <a:spcPts val="0"/>
              </a:spcAft>
            </a:pPr>
            <a:r>
              <a:rPr sz="1000" b="0" i="0">
                <a:solidFill>
                  <a:srgbClr val="5B6770"/>
                </a:solidFill>
                <a:latin typeface="Aptos"/>
              </a:rPr>
              <a:t>Research exercise: results are not a building-services design.</a:t>
            </a:r>
          </a:p>
        </p:txBody>
      </p:sp>
      <p:sp>
        <p:nvSpPr>
          <p:cNvPr id="7" name="Pentagon 6"/>
          <p:cNvSpPr/>
          <p:nvPr/>
        </p:nvSpPr>
        <p:spPr>
          <a:xfrm>
            <a:off x="457200" y="1481328"/>
            <a:ext cx="2907792" cy="914400"/>
          </a:xfrm>
          <a:prstGeom prst="homePlate">
            <a:avLst>
              <a:gd name="adj" fmla="val 25000"/>
            </a:avLst>
          </a:prstGeom>
          <a:solidFill>
            <a:srgbClr val="2B3A4A"/>
          </a:solidFill>
          <a:ln>
            <a:noFill/>
          </a:ln>
        </p:spPr>
        <p:txBody>
          <a:bodyPr wrap="square" lIns="182880" tIns="27432" rIns="274320" bIns="27432" rtlCol="0" anchor="ctr"/>
          <a:lstStyle/>
          <a:p>
            <a:pPr algn="l">
              <a:spcAft>
                <a:spcPts val="0"/>
              </a:spcAft>
            </a:pPr>
            <a:r>
              <a:rPr sz="1600" b="1" i="0">
                <a:solidFill>
                  <a:srgbClr val="FFFFFF"/>
                </a:solidFill>
                <a:latin typeface="Aptos"/>
              </a:rPr>
              <a:t>1  Place hubs</a:t>
            </a:r>
          </a:p>
          <a:p>
            <a:pPr algn="l">
              <a:spcAft>
                <a:spcPts val="0"/>
              </a:spcAft>
            </a:pPr>
            <a:r>
              <a:rPr sz="1200" b="0" i="0">
                <a:solidFill>
                  <a:srgbClr val="E4E9EE"/>
                </a:solidFill>
                <a:latin typeface="Aptos"/>
              </a:rPr>
              <a:t>choose how many, and where</a:t>
            </a:r>
          </a:p>
        </p:txBody>
      </p:sp>
      <p:sp>
        <p:nvSpPr>
          <p:cNvPr id="8" name="Pentagon 7"/>
          <p:cNvSpPr/>
          <p:nvPr/>
        </p:nvSpPr>
        <p:spPr>
          <a:xfrm>
            <a:off x="3246120" y="1481328"/>
            <a:ext cx="2907792" cy="914400"/>
          </a:xfrm>
          <a:prstGeom prst="homePlate">
            <a:avLst>
              <a:gd name="adj" fmla="val 25000"/>
            </a:avLst>
          </a:prstGeom>
          <a:solidFill>
            <a:srgbClr val="2B3A4A"/>
          </a:solidFill>
          <a:ln>
            <a:noFill/>
          </a:ln>
        </p:spPr>
        <p:txBody>
          <a:bodyPr wrap="square" lIns="182880" tIns="27432" rIns="274320" bIns="27432" rtlCol="0" anchor="ctr"/>
          <a:lstStyle/>
          <a:p>
            <a:pPr algn="l">
              <a:spcAft>
                <a:spcPts val="0"/>
              </a:spcAft>
            </a:pPr>
            <a:r>
              <a:rPr sz="1600" b="1" i="0">
                <a:solidFill>
                  <a:srgbClr val="FFFFFF"/>
                </a:solidFill>
                <a:latin typeface="Aptos"/>
              </a:rPr>
              <a:t>2  Assign rooms</a:t>
            </a:r>
          </a:p>
          <a:p>
            <a:pPr algn="l">
              <a:spcAft>
                <a:spcPts val="0"/>
              </a:spcAft>
            </a:pPr>
            <a:r>
              <a:rPr sz="1200" b="0" i="0">
                <a:solidFill>
                  <a:srgbClr val="E4E9EE"/>
                </a:solidFill>
                <a:latin typeface="Aptos"/>
              </a:rPr>
              <a:t>each room + its node to one hub</a:t>
            </a:r>
          </a:p>
        </p:txBody>
      </p:sp>
      <p:sp>
        <p:nvSpPr>
          <p:cNvPr id="9" name="Pentagon 8"/>
          <p:cNvSpPr/>
          <p:nvPr/>
        </p:nvSpPr>
        <p:spPr>
          <a:xfrm>
            <a:off x="6035040" y="1481328"/>
            <a:ext cx="2907792" cy="914400"/>
          </a:xfrm>
          <a:prstGeom prst="homePlate">
            <a:avLst>
              <a:gd name="adj" fmla="val 25000"/>
            </a:avLst>
          </a:prstGeom>
          <a:solidFill>
            <a:srgbClr val="2B3A4A"/>
          </a:solidFill>
          <a:ln>
            <a:noFill/>
          </a:ln>
        </p:spPr>
        <p:txBody>
          <a:bodyPr wrap="square" lIns="182880" tIns="27432" rIns="274320" bIns="27432" rtlCol="0" anchor="ctr"/>
          <a:lstStyle/>
          <a:p>
            <a:pPr algn="l">
              <a:spcAft>
                <a:spcPts val="0"/>
              </a:spcAft>
            </a:pPr>
            <a:r>
              <a:rPr sz="1600" b="1" i="0">
                <a:solidFill>
                  <a:srgbClr val="FFFFFF"/>
                </a:solidFill>
                <a:latin typeface="Aptos"/>
              </a:rPr>
              <a:t>3  Order nodes</a:t>
            </a:r>
          </a:p>
          <a:p>
            <a:pPr algn="l">
              <a:spcAft>
                <a:spcPts val="0"/>
              </a:spcAft>
            </a:pPr>
            <a:r>
              <a:rPr sz="1200" b="0" i="0">
                <a:solidFill>
                  <a:srgbClr val="E4E9EE"/>
                </a:solidFill>
                <a:latin typeface="Aptos"/>
              </a:rPr>
              <a:t>one closed sequence per hub</a:t>
            </a:r>
          </a:p>
        </p:txBody>
      </p:sp>
      <p:sp>
        <p:nvSpPr>
          <p:cNvPr id="10" name="Pentagon 9"/>
          <p:cNvSpPr/>
          <p:nvPr/>
        </p:nvSpPr>
        <p:spPr>
          <a:xfrm>
            <a:off x="8823959" y="1481328"/>
            <a:ext cx="2907792" cy="914400"/>
          </a:xfrm>
          <a:prstGeom prst="homePlate">
            <a:avLst>
              <a:gd name="adj" fmla="val 25000"/>
            </a:avLst>
          </a:prstGeom>
          <a:solidFill>
            <a:srgbClr val="2B3A4A"/>
          </a:solidFill>
          <a:ln>
            <a:noFill/>
          </a:ln>
        </p:spPr>
        <p:txBody>
          <a:bodyPr wrap="square" lIns="182880" tIns="27432" rIns="274320" bIns="27432" rtlCol="0" anchor="ctr"/>
          <a:lstStyle/>
          <a:p>
            <a:pPr algn="l">
              <a:spcAft>
                <a:spcPts val="0"/>
              </a:spcAft>
            </a:pPr>
            <a:r>
              <a:rPr sz="1600" b="1" i="0">
                <a:solidFill>
                  <a:srgbClr val="FFFFFF"/>
                </a:solidFill>
                <a:latin typeface="Aptos"/>
              </a:rPr>
              <a:t>4  Route cable</a:t>
            </a:r>
          </a:p>
          <a:p>
            <a:pPr algn="l">
              <a:spcAft>
                <a:spcPts val="0"/>
              </a:spcAft>
            </a:pPr>
            <a:r>
              <a:rPr sz="1200" b="0" i="0">
                <a:solidFill>
                  <a:srgbClr val="E4E9EE"/>
                </a:solidFill>
                <a:latin typeface="Aptos"/>
              </a:rPr>
              <a:t>axis-aligned, through doors</a:t>
            </a:r>
          </a:p>
        </p:txBody>
      </p:sp>
      <p:sp>
        <p:nvSpPr>
          <p:cNvPr id="11" name="Rounded Rectangle 10"/>
          <p:cNvSpPr/>
          <p:nvPr/>
        </p:nvSpPr>
        <p:spPr>
          <a:xfrm>
            <a:off x="457200" y="2606040"/>
            <a:ext cx="4572000" cy="338328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12" name="TextBox 11"/>
          <p:cNvSpPr txBox="1"/>
          <p:nvPr/>
        </p:nvSpPr>
        <p:spPr>
          <a:xfrm>
            <a:off x="594360" y="2679192"/>
            <a:ext cx="4297680"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Given for every plan</a:t>
            </a:r>
          </a:p>
        </p:txBody>
      </p:sp>
      <p:sp>
        <p:nvSpPr>
          <p:cNvPr id="13" name="Rectangle 12"/>
          <p:cNvSpPr/>
          <p:nvPr/>
        </p:nvSpPr>
        <p:spPr>
          <a:xfrm>
            <a:off x="640080" y="3017520"/>
            <a:ext cx="457200" cy="32004"/>
          </a:xfrm>
          <a:prstGeom prst="rect">
            <a:avLst/>
          </a:prstGeom>
          <a:solidFill>
            <a:srgbClr val="C8102E"/>
          </a:solidFill>
          <a:ln>
            <a:noFill/>
          </a:ln>
        </p:spPr>
        <p:txBody>
          <a:bodyPr rtlCol="0" anchor="ctr"/>
          <a:lstStyle/>
          <a:p>
            <a:pPr algn="ctr"/>
            <a:endParaRPr/>
          </a:p>
        </p:txBody>
      </p:sp>
      <p:sp>
        <p:nvSpPr>
          <p:cNvPr id="14" name="TextBox 13"/>
          <p:cNvSpPr txBox="1"/>
          <p:nvPr/>
        </p:nvSpPr>
        <p:spPr>
          <a:xfrm>
            <a:off x="566928" y="3108960"/>
            <a:ext cx="4370832" cy="2834640"/>
          </a:xfrm>
          <a:prstGeom prst="rect">
            <a:avLst/>
          </a:prstGeom>
          <a:noFill/>
        </p:spPr>
        <p:txBody>
          <a:bodyPr wrap="square" lIns="45720" tIns="27432" rIns="45720" bIns="27432" anchor="t">
            <a:spAutoFit/>
          </a:bodyPr>
          <a:lstStyle/>
          <a:p>
            <a:pPr algn="l">
              <a:spcAft>
                <a:spcPts val="600"/>
              </a:spcAft>
            </a:pPr>
            <a:r>
              <a:rPr sz="1250" b="1" i="0">
                <a:solidFill>
                  <a:srgbClr val="C8102E"/>
                </a:solidFill>
                <a:latin typeface="Aptos"/>
              </a:rPr>
              <a:t>•  </a:t>
            </a:r>
            <a:r>
              <a:rPr sz="1250" b="1" i="0">
                <a:solidFill>
                  <a:srgbClr val="1F2933"/>
                </a:solidFill>
                <a:latin typeface="Aptos"/>
              </a:rPr>
              <a:t>Geometry in drawing units. </a:t>
            </a:r>
            <a:r>
              <a:rPr sz="1250" b="0" i="0">
                <a:solidFill>
                  <a:srgbClr val="1F2933"/>
                </a:solidFill>
                <a:latin typeface="Aptos"/>
              </a:rPr>
              <a:t>Convert to metres with the scale on slide 4; invalid polygons are repaired.</a:t>
            </a:r>
          </a:p>
          <a:p>
            <a:pPr algn="l">
              <a:spcAft>
                <a:spcPts val="600"/>
              </a:spcAft>
            </a:pPr>
            <a:r>
              <a:rPr sz="1250" b="1" i="0">
                <a:solidFill>
                  <a:srgbClr val="C8102E"/>
                </a:solidFill>
                <a:latin typeface="Aptos"/>
              </a:rPr>
              <a:t>•  </a:t>
            </a:r>
            <a:r>
              <a:rPr sz="1250" b="1" i="0">
                <a:solidFill>
                  <a:srgbClr val="1F2933"/>
                </a:solidFill>
                <a:latin typeface="Aptos"/>
              </a:rPr>
              <a:t>Eligible rooms: </a:t>
            </a:r>
            <a:r>
              <a:rPr sz="1250" b="0" i="0">
                <a:solidFill>
                  <a:srgbClr val="1F2933"/>
                </a:solidFill>
                <a:latin typeface="Aptos"/>
              </a:rPr>
              <a:t>living, bedroom, kitchen, storage. Each polygon is one room with one node.</a:t>
            </a:r>
          </a:p>
          <a:p>
            <a:pPr algn="l">
              <a:spcAft>
                <a:spcPts val="600"/>
              </a:spcAft>
            </a:pPr>
            <a:r>
              <a:rPr sz="1250" b="1" i="0">
                <a:solidFill>
                  <a:srgbClr val="C8102E"/>
                </a:solidFill>
                <a:latin typeface="Aptos"/>
              </a:rPr>
              <a:t>•  </a:t>
            </a:r>
            <a:r>
              <a:rPr sz="1250" b="1" i="0">
                <a:solidFill>
                  <a:srgbClr val="1F2933"/>
                </a:solidFill>
                <a:latin typeface="Aptos"/>
              </a:rPr>
              <a:t>Node points are fixed inputs: </a:t>
            </a:r>
            <a:r>
              <a:rPr sz="1250" b="0" i="0">
                <a:solidFill>
                  <a:srgbClr val="1F2933"/>
                </a:solidFill>
                <a:latin typeface="Aptos"/>
              </a:rPr>
              <a:t>one arbitrary interior point per room (0.5 m from walls). Teams cannot move them.</a:t>
            </a:r>
          </a:p>
          <a:p>
            <a:pPr algn="l">
              <a:spcAft>
                <a:spcPts val="600"/>
              </a:spcAft>
            </a:pPr>
            <a:r>
              <a:rPr sz="1250" b="1" i="0">
                <a:solidFill>
                  <a:srgbClr val="C8102E"/>
                </a:solidFill>
                <a:latin typeface="Aptos"/>
              </a:rPr>
              <a:t>•  </a:t>
            </a:r>
            <a:r>
              <a:rPr sz="1250" b="1" i="0">
                <a:solidFill>
                  <a:srgbClr val="1F2933"/>
                </a:solidFill>
                <a:latin typeface="Aptos"/>
              </a:rPr>
              <a:t>Excluded: </a:t>
            </a:r>
            <a:r>
              <a:rPr sz="1250" b="0" i="0">
                <a:solidFill>
                  <a:srgbClr val="1F2933"/>
                </a:solidFill>
                <a:latin typeface="Aptos"/>
              </a:rPr>
              <a:t>bathroom, balcony, stair, garden, pool, parking, land. No node and no hub.</a:t>
            </a:r>
          </a:p>
          <a:p>
            <a:pPr algn="l">
              <a:spcAft>
                <a:spcPts val="600"/>
              </a:spcAft>
            </a:pPr>
            <a:r>
              <a:rPr sz="1250" b="1" i="0">
                <a:solidFill>
                  <a:srgbClr val="C8102E"/>
                </a:solidFill>
                <a:latin typeface="Aptos"/>
              </a:rPr>
              <a:t>•  </a:t>
            </a:r>
            <a:r>
              <a:rPr sz="1250" b="1" i="0">
                <a:solidFill>
                  <a:srgbClr val="1F2933"/>
                </a:solidFill>
                <a:latin typeface="Aptos"/>
              </a:rPr>
              <a:t>Benchmark plans: </a:t>
            </a:r>
            <a:r>
              <a:rPr sz="1250" b="0" i="0">
                <a:solidFill>
                  <a:srgbClr val="1F2933"/>
                </a:solidFill>
                <a:latin typeface="Aptos"/>
              </a:rPr>
              <a:t>the organisers keep only plans a reference solver can solve (no room over 100 m²).</a:t>
            </a:r>
          </a:p>
        </p:txBody>
      </p:sp>
      <p:sp>
        <p:nvSpPr>
          <p:cNvPr id="15" name="Rounded Rectangle 14"/>
          <p:cNvSpPr/>
          <p:nvPr/>
        </p:nvSpPr>
        <p:spPr>
          <a:xfrm>
            <a:off x="5212080" y="2606040"/>
            <a:ext cx="3017520" cy="338328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16" name="TextBox 15"/>
          <p:cNvSpPr txBox="1"/>
          <p:nvPr/>
        </p:nvSpPr>
        <p:spPr>
          <a:xfrm>
            <a:off x="5349240" y="2679192"/>
            <a:ext cx="2743200"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Capacity of each hub</a:t>
            </a:r>
          </a:p>
        </p:txBody>
      </p:sp>
      <p:sp>
        <p:nvSpPr>
          <p:cNvPr id="17" name="Rectangle 16"/>
          <p:cNvSpPr/>
          <p:nvPr/>
        </p:nvSpPr>
        <p:spPr>
          <a:xfrm>
            <a:off x="5394960" y="3017520"/>
            <a:ext cx="457200" cy="32004"/>
          </a:xfrm>
          <a:prstGeom prst="rect">
            <a:avLst/>
          </a:prstGeom>
          <a:solidFill>
            <a:srgbClr val="C8102E"/>
          </a:solidFill>
          <a:ln>
            <a:noFill/>
          </a:ln>
        </p:spPr>
        <p:txBody>
          <a:bodyPr rtlCol="0" anchor="ctr"/>
          <a:lstStyle/>
          <a:p>
            <a:pPr algn="ctr"/>
            <a:endParaRPr/>
          </a:p>
        </p:txBody>
      </p:sp>
      <p:sp>
        <p:nvSpPr>
          <p:cNvPr id="18" name="TextBox 17"/>
          <p:cNvSpPr txBox="1"/>
          <p:nvPr/>
        </p:nvSpPr>
        <p:spPr>
          <a:xfrm>
            <a:off x="5349240" y="3154680"/>
            <a:ext cx="2743200" cy="685800"/>
          </a:xfrm>
          <a:prstGeom prst="rect">
            <a:avLst/>
          </a:prstGeom>
          <a:noFill/>
        </p:spPr>
        <p:txBody>
          <a:bodyPr wrap="square" lIns="45720" tIns="27432" rIns="45720" bIns="27432" anchor="t">
            <a:spAutoFit/>
          </a:bodyPr>
          <a:lstStyle/>
          <a:p>
            <a:pPr algn="l">
              <a:spcAft>
                <a:spcPts val="0"/>
              </a:spcAft>
            </a:pPr>
            <a:r>
              <a:rPr sz="3400" b="1" i="0">
                <a:solidFill>
                  <a:srgbClr val="1F5FBF"/>
                </a:solidFill>
                <a:latin typeface="Aptos"/>
              </a:rPr>
              <a:t>≤ 100 m²</a:t>
            </a:r>
          </a:p>
        </p:txBody>
      </p:sp>
      <p:sp>
        <p:nvSpPr>
          <p:cNvPr id="19" name="TextBox 18"/>
          <p:cNvSpPr txBox="1"/>
          <p:nvPr/>
        </p:nvSpPr>
        <p:spPr>
          <a:xfrm>
            <a:off x="5349240" y="3794760"/>
            <a:ext cx="2743200" cy="274320"/>
          </a:xfrm>
          <a:prstGeom prst="rect">
            <a:avLst/>
          </a:prstGeom>
          <a:noFill/>
        </p:spPr>
        <p:txBody>
          <a:bodyPr wrap="square" lIns="45720" tIns="27432" rIns="45720" bIns="27432" anchor="t">
            <a:spAutoFit/>
          </a:bodyPr>
          <a:lstStyle/>
          <a:p>
            <a:pPr algn="l">
              <a:spcAft>
                <a:spcPts val="0"/>
              </a:spcAft>
            </a:pPr>
            <a:r>
              <a:rPr sz="1200" b="0" i="0">
                <a:solidFill>
                  <a:srgbClr val="5B6770"/>
                </a:solidFill>
                <a:latin typeface="Aptos"/>
              </a:rPr>
              <a:t>of assigned eligible-room area</a:t>
            </a:r>
          </a:p>
        </p:txBody>
      </p:sp>
      <p:sp>
        <p:nvSpPr>
          <p:cNvPr id="20" name="TextBox 19"/>
          <p:cNvSpPr txBox="1"/>
          <p:nvPr/>
        </p:nvSpPr>
        <p:spPr>
          <a:xfrm>
            <a:off x="5349240" y="4160520"/>
            <a:ext cx="2743200" cy="685800"/>
          </a:xfrm>
          <a:prstGeom prst="rect">
            <a:avLst/>
          </a:prstGeom>
          <a:noFill/>
        </p:spPr>
        <p:txBody>
          <a:bodyPr wrap="square" lIns="45720" tIns="27432" rIns="45720" bIns="27432" anchor="t">
            <a:spAutoFit/>
          </a:bodyPr>
          <a:lstStyle/>
          <a:p>
            <a:pPr algn="l">
              <a:spcAft>
                <a:spcPts val="0"/>
              </a:spcAft>
            </a:pPr>
            <a:r>
              <a:rPr sz="3400" b="1" i="0">
                <a:solidFill>
                  <a:srgbClr val="1F5FBF"/>
                </a:solidFill>
                <a:latin typeface="Aptos"/>
              </a:rPr>
              <a:t>≤ 5 nodes</a:t>
            </a:r>
          </a:p>
        </p:txBody>
      </p:sp>
      <p:sp>
        <p:nvSpPr>
          <p:cNvPr id="21" name="TextBox 20"/>
          <p:cNvSpPr txBox="1"/>
          <p:nvPr/>
        </p:nvSpPr>
        <p:spPr>
          <a:xfrm>
            <a:off x="5349240" y="4800600"/>
            <a:ext cx="2743200" cy="274320"/>
          </a:xfrm>
          <a:prstGeom prst="rect">
            <a:avLst/>
          </a:prstGeom>
          <a:noFill/>
        </p:spPr>
        <p:txBody>
          <a:bodyPr wrap="square" lIns="45720" tIns="27432" rIns="45720" bIns="27432" anchor="t">
            <a:spAutoFit/>
          </a:bodyPr>
          <a:lstStyle/>
          <a:p>
            <a:pPr algn="l">
              <a:spcAft>
                <a:spcPts val="0"/>
              </a:spcAft>
            </a:pPr>
            <a:r>
              <a:rPr sz="1200" b="0" i="0">
                <a:solidFill>
                  <a:srgbClr val="5B6770"/>
                </a:solidFill>
                <a:latin typeface="Aptos"/>
              </a:rPr>
              <a:t>assigned to the hub</a:t>
            </a:r>
          </a:p>
        </p:txBody>
      </p:sp>
      <p:sp>
        <p:nvSpPr>
          <p:cNvPr id="22" name="TextBox 21"/>
          <p:cNvSpPr txBox="1"/>
          <p:nvPr/>
        </p:nvSpPr>
        <p:spPr>
          <a:xfrm>
            <a:off x="5349240" y="5212080"/>
            <a:ext cx="2743200" cy="731520"/>
          </a:xfrm>
          <a:prstGeom prst="rect">
            <a:avLst/>
          </a:prstGeom>
          <a:noFill/>
        </p:spPr>
        <p:txBody>
          <a:bodyPr wrap="square" lIns="45720" tIns="27432" rIns="45720" bIns="27432" anchor="t">
            <a:spAutoFit/>
          </a:bodyPr>
          <a:lstStyle/>
          <a:p>
            <a:pPr algn="l">
              <a:spcAft>
                <a:spcPts val="0"/>
              </a:spcAft>
            </a:pPr>
            <a:r>
              <a:rPr sz="1150" b="1" i="0">
                <a:solidFill>
                  <a:srgbClr val="1F2933"/>
                </a:solidFill>
                <a:latin typeface="Aptos"/>
              </a:rPr>
              <a:t>Both limits apply at once.</a:t>
            </a:r>
          </a:p>
          <a:p>
            <a:pPr algn="l">
              <a:spcAft>
                <a:spcPts val="0"/>
              </a:spcAft>
            </a:pPr>
            <a:r>
              <a:rPr sz="1150" b="0" i="0">
                <a:solidFill>
                  <a:srgbClr val="1F2933"/>
                </a:solidFill>
                <a:latin typeface="Aptos"/>
              </a:rPr>
              <a:t>Hubs needed ≥ max( ceil(area/100), ceil(nodes/5) )</a:t>
            </a:r>
          </a:p>
        </p:txBody>
      </p:sp>
      <p:sp>
        <p:nvSpPr>
          <p:cNvPr id="23" name="Rounded Rectangle 22"/>
          <p:cNvSpPr/>
          <p:nvPr/>
        </p:nvSpPr>
        <p:spPr>
          <a:xfrm>
            <a:off x="8412480" y="2606040"/>
            <a:ext cx="3319272" cy="338328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24" name="TextBox 23"/>
          <p:cNvSpPr txBox="1"/>
          <p:nvPr/>
        </p:nvSpPr>
        <p:spPr>
          <a:xfrm>
            <a:off x="8549640" y="2679192"/>
            <a:ext cx="3044952"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Required ring per hub</a:t>
            </a:r>
          </a:p>
        </p:txBody>
      </p:sp>
      <p:sp>
        <p:nvSpPr>
          <p:cNvPr id="25" name="Rectangle 24"/>
          <p:cNvSpPr/>
          <p:nvPr/>
        </p:nvSpPr>
        <p:spPr>
          <a:xfrm>
            <a:off x="8595359" y="3017520"/>
            <a:ext cx="457200" cy="32004"/>
          </a:xfrm>
          <a:prstGeom prst="rect">
            <a:avLst/>
          </a:prstGeom>
          <a:solidFill>
            <a:srgbClr val="C8102E"/>
          </a:solidFill>
          <a:ln>
            <a:noFill/>
          </a:ln>
        </p:spPr>
        <p:txBody>
          <a:bodyPr rtlCol="0" anchor="ctr"/>
          <a:lstStyle/>
          <a:p>
            <a:pPr algn="ctr"/>
            <a:endParaRPr/>
          </a:p>
        </p:txBody>
      </p:sp>
      <p:sp>
        <p:nvSpPr>
          <p:cNvPr id="26" name="TextBox 25"/>
          <p:cNvSpPr txBox="1"/>
          <p:nvPr/>
        </p:nvSpPr>
        <p:spPr>
          <a:xfrm>
            <a:off x="8549640" y="3154680"/>
            <a:ext cx="3063240" cy="411480"/>
          </a:xfrm>
          <a:prstGeom prst="rect">
            <a:avLst/>
          </a:prstGeom>
          <a:noFill/>
        </p:spPr>
        <p:txBody>
          <a:bodyPr wrap="square" lIns="45720" tIns="27432" rIns="45720" bIns="27432" anchor="t">
            <a:spAutoFit/>
          </a:bodyPr>
          <a:lstStyle/>
          <a:p>
            <a:pPr algn="l">
              <a:spcAft>
                <a:spcPts val="0"/>
              </a:spcAft>
            </a:pPr>
            <a:r>
              <a:rPr sz="1700" b="1" i="0">
                <a:solidFill>
                  <a:srgbClr val="1F5FBF"/>
                </a:solidFill>
                <a:latin typeface="Aptos"/>
              </a:rPr>
              <a:t>H → N1 → N2 → … → Nn → H</a:t>
            </a:r>
          </a:p>
        </p:txBody>
      </p:sp>
      <p:sp>
        <p:nvSpPr>
          <p:cNvPr id="27" name="TextBox 26"/>
          <p:cNvSpPr txBox="1"/>
          <p:nvPr/>
        </p:nvSpPr>
        <p:spPr>
          <a:xfrm>
            <a:off x="8522208" y="3657600"/>
            <a:ext cx="3108960" cy="2286000"/>
          </a:xfrm>
          <a:prstGeom prst="rect">
            <a:avLst/>
          </a:prstGeom>
          <a:noFill/>
        </p:spPr>
        <p:txBody>
          <a:bodyPr wrap="square" lIns="45720" tIns="27432" rIns="45720" bIns="27432" anchor="t">
            <a:spAutoFit/>
          </a:bodyPr>
          <a:lstStyle/>
          <a:p>
            <a:pPr algn="l">
              <a:spcAft>
                <a:spcPts val="600"/>
              </a:spcAft>
            </a:pPr>
            <a:r>
              <a:rPr sz="1250" b="1" i="0">
                <a:solidFill>
                  <a:srgbClr val="C8102E"/>
                </a:solidFill>
                <a:latin typeface="Aptos"/>
              </a:rPr>
              <a:t>•  </a:t>
            </a:r>
            <a:r>
              <a:rPr sz="1250" b="0" i="0">
                <a:solidFill>
                  <a:srgbClr val="1F2933"/>
                </a:solidFill>
                <a:latin typeface="Aptos"/>
              </a:rPr>
              <a:t>Starts and ends at the same hub</a:t>
            </a:r>
          </a:p>
          <a:p>
            <a:pPr algn="l">
              <a:spcAft>
                <a:spcPts val="600"/>
              </a:spcAft>
            </a:pPr>
            <a:r>
              <a:rPr sz="1250" b="1" i="0">
                <a:solidFill>
                  <a:srgbClr val="C8102E"/>
                </a:solidFill>
                <a:latin typeface="Aptos"/>
              </a:rPr>
              <a:t>•  </a:t>
            </a:r>
            <a:r>
              <a:rPr sz="1250" b="0" i="0">
                <a:solidFill>
                  <a:srgbClr val="1F2933"/>
                </a:solidFill>
                <a:latin typeface="Aptos"/>
              </a:rPr>
              <a:t>Visits every assigned node exactly once</a:t>
            </a:r>
          </a:p>
          <a:p>
            <a:pPr algn="l">
              <a:spcAft>
                <a:spcPts val="600"/>
              </a:spcAft>
            </a:pPr>
            <a:r>
              <a:rPr sz="1250" b="1" i="0">
                <a:solidFill>
                  <a:srgbClr val="C8102E"/>
                </a:solidFill>
                <a:latin typeface="Aptos"/>
              </a:rPr>
              <a:t>•  </a:t>
            </a:r>
            <a:r>
              <a:rPr sz="1250" b="0" i="0">
                <a:solidFill>
                  <a:srgbClr val="1F2933"/>
                </a:solidFill>
                <a:latin typeface="Aptos"/>
              </a:rPr>
              <a:t>No branches; never ends at another hub</a:t>
            </a:r>
          </a:p>
          <a:p>
            <a:pPr algn="l">
              <a:spcAft>
                <a:spcPts val="600"/>
              </a:spcAft>
            </a:pPr>
            <a:r>
              <a:rPr sz="1250" b="1" i="0">
                <a:solidFill>
                  <a:srgbClr val="C8102E"/>
                </a:solidFill>
                <a:latin typeface="Aptos"/>
              </a:rPr>
              <a:t>•  </a:t>
            </a:r>
            <a:r>
              <a:rPr sz="1250" b="0" i="0">
                <a:solidFill>
                  <a:srgbClr val="1F2933"/>
                </a:solidFill>
                <a:latin typeface="Aptos"/>
              </a:rPr>
              <a:t>Every node belongs to exactly one ring</a:t>
            </a:r>
          </a:p>
          <a:p>
            <a:pPr algn="l">
              <a:spcAft>
                <a:spcPts val="600"/>
              </a:spcAft>
            </a:pPr>
            <a:r>
              <a:rPr sz="1250" b="1" i="0">
                <a:solidFill>
                  <a:srgbClr val="C8102E"/>
                </a:solidFill>
                <a:latin typeface="Aptos"/>
              </a:rPr>
              <a:t>•  </a:t>
            </a:r>
            <a:r>
              <a:rPr sz="1250" b="0" i="0">
                <a:solidFill>
                  <a:srgbClr val="1F2933"/>
                </a:solidFill>
                <a:latin typeface="Aptos"/>
              </a:rPr>
              <a:t>Retracing a door to reach a single-door room is allowed; shared line length counts as overlap</a:t>
            </a:r>
          </a:p>
        </p:txBody>
      </p:sp>
      <p:sp>
        <p:nvSpPr>
          <p:cNvPr id="28" name="Rounded Rectangle 27"/>
          <p:cNvSpPr/>
          <p:nvPr/>
        </p:nvSpPr>
        <p:spPr>
          <a:xfrm>
            <a:off x="457200" y="6108192"/>
            <a:ext cx="11274552" cy="347472"/>
          </a:xfrm>
          <a:prstGeom prst="roundRect">
            <a:avLst>
              <a:gd name="adj" fmla="val 20000"/>
            </a:avLst>
          </a:prstGeom>
          <a:solidFill>
            <a:srgbClr val="FFFFFF"/>
          </a:solidFill>
          <a:ln w="9525">
            <a:solidFill>
              <a:srgbClr val="CBD2D9"/>
            </a:solidFill>
          </a:ln>
        </p:spPr>
        <p:txBody>
          <a:bodyPr rtlCol="0" anchor="ctr"/>
          <a:lstStyle/>
          <a:p>
            <a:pPr algn="ctr"/>
            <a:endParaRPr/>
          </a:p>
        </p:txBody>
      </p:sp>
      <p:sp>
        <p:nvSpPr>
          <p:cNvPr id="29" name="TextBox 28"/>
          <p:cNvSpPr txBox="1"/>
          <p:nvPr/>
        </p:nvSpPr>
        <p:spPr>
          <a:xfrm>
            <a:off x="548640" y="6161895"/>
            <a:ext cx="11064240" cy="240066"/>
          </a:xfrm>
          <a:prstGeom prst="rect">
            <a:avLst/>
          </a:prstGeom>
          <a:noFill/>
        </p:spPr>
        <p:txBody>
          <a:bodyPr wrap="square" lIns="45720" tIns="27432" rIns="45720" bIns="27432" anchor="ctr">
            <a:spAutoFit/>
          </a:bodyPr>
          <a:lstStyle/>
          <a:p>
            <a:pPr algn="l">
              <a:spcAft>
                <a:spcPts val="0"/>
              </a:spcAft>
            </a:pPr>
            <a:r>
              <a:rPr sz="1200" b="1" i="0" dirty="0">
                <a:solidFill>
                  <a:srgbClr val="1F2933"/>
                </a:solidFill>
                <a:latin typeface="Aptos"/>
              </a:rPr>
              <a:t>Dataset: </a:t>
            </a:r>
            <a:r>
              <a:rPr sz="1200" b="0" i="0" dirty="0" err="1">
                <a:solidFill>
                  <a:srgbClr val="1F2933"/>
                </a:solidFill>
                <a:latin typeface="Aptos"/>
              </a:rPr>
              <a:t>ResPlan</a:t>
            </a:r>
            <a:r>
              <a:rPr sz="1200" b="0" i="0" dirty="0">
                <a:solidFill>
                  <a:srgbClr val="1F2933"/>
                </a:solidFill>
                <a:latin typeface="Aptos"/>
              </a:rPr>
              <a:t> (17,000 residential plans, Kaggle / GitHub).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6032"/>
            <a:ext cx="11274552" cy="566928"/>
          </a:xfrm>
        </p:spPr>
        <p:txBody>
          <a:bodyPr wrap="square" lIns="45720" anchor="ctr"/>
          <a:lstStyle/>
          <a:p>
            <a:pPr algn="l"/>
            <a:r>
              <a:rPr sz="2800" b="1">
                <a:solidFill>
                  <a:srgbClr val="1F2933"/>
                </a:solidFill>
                <a:latin typeface="Aptos"/>
              </a:rPr>
              <a:t>Problem statement (2/2): Rules, ranking and deliverables</a:t>
            </a:r>
          </a:p>
        </p:txBody>
      </p:sp>
      <p:sp>
        <p:nvSpPr>
          <p:cNvPr id="3" name="TextBox 2"/>
          <p:cNvSpPr txBox="1"/>
          <p:nvPr/>
        </p:nvSpPr>
        <p:spPr>
          <a:xfrm>
            <a:off x="457200" y="822960"/>
            <a:ext cx="11274552" cy="365760"/>
          </a:xfrm>
          <a:prstGeom prst="rect">
            <a:avLst/>
          </a:prstGeom>
          <a:noFill/>
        </p:spPr>
        <p:txBody>
          <a:bodyPr wrap="square" lIns="45720" tIns="27432" rIns="45720" bIns="27432" anchor="t">
            <a:spAutoFit/>
          </a:bodyPr>
          <a:lstStyle/>
          <a:p>
            <a:pPr algn="l">
              <a:spcAft>
                <a:spcPts val="0"/>
              </a:spcAft>
            </a:pPr>
            <a:r>
              <a:rPr sz="1400" b="0" i="0">
                <a:solidFill>
                  <a:srgbClr val="5B6770"/>
                </a:solidFill>
                <a:latin typeface="Aptos"/>
              </a:rPr>
              <a:t>A design must pass every rule before it is ranked</a:t>
            </a:r>
          </a:p>
        </p:txBody>
      </p:sp>
      <p:sp>
        <p:nvSpPr>
          <p:cNvPr id="4" name="Rectangle 3"/>
          <p:cNvSpPr/>
          <p:nvPr/>
        </p:nvSpPr>
        <p:spPr>
          <a:xfrm>
            <a:off x="502920" y="1243584"/>
            <a:ext cx="1097280" cy="45720"/>
          </a:xfrm>
          <a:prstGeom prst="rect">
            <a:avLst/>
          </a:prstGeom>
          <a:solidFill>
            <a:srgbClr val="C8102E"/>
          </a:solidFill>
          <a:ln>
            <a:noFill/>
          </a:ln>
        </p:spPr>
        <p:txBody>
          <a:bodyPr rtlCol="0" anchor="ctr"/>
          <a:lstStyle/>
          <a:p>
            <a:pPr algn="ctr"/>
            <a:endParaRPr/>
          </a:p>
        </p:txBody>
      </p:sp>
      <p:sp>
        <p:nvSpPr>
          <p:cNvPr id="5" name="TextBox 4"/>
          <p:cNvSpPr txBox="1"/>
          <p:nvPr/>
        </p:nvSpPr>
        <p:spPr>
          <a:xfrm>
            <a:off x="6675120" y="6492240"/>
            <a:ext cx="5056632" cy="274320"/>
          </a:xfrm>
          <a:prstGeom prst="rect">
            <a:avLst/>
          </a:prstGeom>
          <a:noFill/>
        </p:spPr>
        <p:txBody>
          <a:bodyPr wrap="square" lIns="45720" tIns="27432" rIns="45720" bIns="27432" anchor="t">
            <a:spAutoFit/>
          </a:bodyPr>
          <a:lstStyle/>
          <a:p>
            <a:pPr algn="r">
              <a:spcAft>
                <a:spcPts val="0"/>
              </a:spcAft>
            </a:pPr>
            <a:r>
              <a:rPr sz="1000" b="0" i="0">
                <a:solidFill>
                  <a:srgbClr val="5B6770"/>
                </a:solidFill>
                <a:latin typeface="Aptos"/>
              </a:rPr>
              <a:t>UR Hackathon 2026H2  |  Problem statement  |  3 / 8</a:t>
            </a:r>
          </a:p>
        </p:txBody>
      </p:sp>
      <p:sp>
        <p:nvSpPr>
          <p:cNvPr id="6" name="TextBox 5"/>
          <p:cNvSpPr txBox="1"/>
          <p:nvPr/>
        </p:nvSpPr>
        <p:spPr>
          <a:xfrm>
            <a:off x="457200" y="6492240"/>
            <a:ext cx="6400800" cy="274320"/>
          </a:xfrm>
          <a:prstGeom prst="rect">
            <a:avLst/>
          </a:prstGeom>
          <a:noFill/>
        </p:spPr>
        <p:txBody>
          <a:bodyPr wrap="square" lIns="45720" tIns="27432" rIns="45720" bIns="27432" anchor="t">
            <a:spAutoFit/>
          </a:bodyPr>
          <a:lstStyle/>
          <a:p>
            <a:pPr algn="l">
              <a:spcAft>
                <a:spcPts val="0"/>
              </a:spcAft>
            </a:pPr>
            <a:r>
              <a:rPr sz="1000" b="0" i="0">
                <a:solidFill>
                  <a:srgbClr val="5B6770"/>
                </a:solidFill>
                <a:latin typeface="Aptos"/>
              </a:rPr>
              <a:t>Research exercise: results are not a building-services design.</a:t>
            </a:r>
          </a:p>
        </p:txBody>
      </p:sp>
      <p:sp>
        <p:nvSpPr>
          <p:cNvPr id="7" name="Rounded Rectangle 6"/>
          <p:cNvSpPr/>
          <p:nvPr/>
        </p:nvSpPr>
        <p:spPr>
          <a:xfrm>
            <a:off x="457200" y="1508760"/>
            <a:ext cx="6903720" cy="448056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8" name="TextBox 7"/>
          <p:cNvSpPr txBox="1"/>
          <p:nvPr/>
        </p:nvSpPr>
        <p:spPr>
          <a:xfrm>
            <a:off x="594360" y="1581912"/>
            <a:ext cx="6629400"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Hard rules: a plan is invalid if any is broken</a:t>
            </a:r>
          </a:p>
        </p:txBody>
      </p:sp>
      <p:sp>
        <p:nvSpPr>
          <p:cNvPr id="9" name="Rectangle 8"/>
          <p:cNvSpPr/>
          <p:nvPr/>
        </p:nvSpPr>
        <p:spPr>
          <a:xfrm>
            <a:off x="640080" y="1920240"/>
            <a:ext cx="457200" cy="32004"/>
          </a:xfrm>
          <a:prstGeom prst="rect">
            <a:avLst/>
          </a:prstGeom>
          <a:solidFill>
            <a:srgbClr val="C8102E"/>
          </a:solidFill>
          <a:ln>
            <a:noFill/>
          </a:ln>
        </p:spPr>
        <p:txBody>
          <a:bodyPr rtlCol="0" anchor="ctr"/>
          <a:lstStyle/>
          <a:p>
            <a:pPr algn="ctr"/>
            <a:endParaRPr/>
          </a:p>
        </p:txBody>
      </p:sp>
      <p:sp>
        <p:nvSpPr>
          <p:cNvPr id="10" name="Oval 9"/>
          <p:cNvSpPr/>
          <p:nvPr/>
        </p:nvSpPr>
        <p:spPr>
          <a:xfrm>
            <a:off x="621792" y="2066544"/>
            <a:ext cx="310896" cy="310896"/>
          </a:xfrm>
          <a:prstGeom prst="ellipse">
            <a:avLst/>
          </a:prstGeom>
          <a:solidFill>
            <a:srgbClr val="1F5FBF"/>
          </a:solidFill>
          <a:ln>
            <a:noFill/>
          </a:ln>
        </p:spPr>
        <p:txBody>
          <a:bodyPr wrap="square" lIns="0" tIns="0" rIns="0" bIns="0" rtlCol="0" anchor="ctr"/>
          <a:lstStyle/>
          <a:p>
            <a:pPr algn="ctr">
              <a:spcAft>
                <a:spcPts val="0"/>
              </a:spcAft>
            </a:pPr>
            <a:r>
              <a:rPr sz="1200" b="1" i="0">
                <a:solidFill>
                  <a:srgbClr val="FFFFFF"/>
                </a:solidFill>
                <a:latin typeface="Aptos"/>
              </a:rPr>
              <a:t>1</a:t>
            </a:r>
          </a:p>
        </p:txBody>
      </p:sp>
      <p:sp>
        <p:nvSpPr>
          <p:cNvPr id="11" name="TextBox 10"/>
          <p:cNvSpPr txBox="1"/>
          <p:nvPr/>
        </p:nvSpPr>
        <p:spPr>
          <a:xfrm>
            <a:off x="1024128" y="2029968"/>
            <a:ext cx="6217920" cy="640080"/>
          </a:xfrm>
          <a:prstGeom prst="rect">
            <a:avLst/>
          </a:prstGeom>
          <a:noFill/>
        </p:spPr>
        <p:txBody>
          <a:bodyPr wrap="square" lIns="45720" tIns="27432" rIns="45720" bIns="27432" anchor="t">
            <a:spAutoFit/>
          </a:bodyPr>
          <a:lstStyle/>
          <a:p>
            <a:pPr algn="l">
              <a:spcAft>
                <a:spcPts val="0"/>
              </a:spcAft>
            </a:pPr>
            <a:r>
              <a:rPr sz="1250" b="1" i="0">
                <a:solidFill>
                  <a:srgbClr val="1F2933"/>
                </a:solidFill>
                <a:latin typeface="Aptos"/>
              </a:rPr>
              <a:t>Coverage: </a:t>
            </a:r>
            <a:r>
              <a:rPr sz="1250" b="0" i="0">
                <a:solidFill>
                  <a:srgbClr val="1F2933"/>
                </a:solidFill>
                <a:latin typeface="Aptos"/>
              </a:rPr>
              <a:t>every eligible room and its node is assigned to exactly one hub; none omitted, split or duplicated.</a:t>
            </a:r>
          </a:p>
        </p:txBody>
      </p:sp>
      <p:sp>
        <p:nvSpPr>
          <p:cNvPr id="12" name="Oval 11"/>
          <p:cNvSpPr/>
          <p:nvPr/>
        </p:nvSpPr>
        <p:spPr>
          <a:xfrm>
            <a:off x="621792" y="2724912"/>
            <a:ext cx="310896" cy="310896"/>
          </a:xfrm>
          <a:prstGeom prst="ellipse">
            <a:avLst/>
          </a:prstGeom>
          <a:solidFill>
            <a:srgbClr val="1F5FBF"/>
          </a:solidFill>
          <a:ln>
            <a:noFill/>
          </a:ln>
        </p:spPr>
        <p:txBody>
          <a:bodyPr wrap="square" lIns="0" tIns="0" rIns="0" bIns="0" rtlCol="0" anchor="ctr"/>
          <a:lstStyle/>
          <a:p>
            <a:pPr algn="ctr">
              <a:spcAft>
                <a:spcPts val="0"/>
              </a:spcAft>
            </a:pPr>
            <a:r>
              <a:rPr sz="1200" b="1" i="0">
                <a:solidFill>
                  <a:srgbClr val="FFFFFF"/>
                </a:solidFill>
                <a:latin typeface="Aptos"/>
              </a:rPr>
              <a:t>2</a:t>
            </a:r>
          </a:p>
        </p:txBody>
      </p:sp>
      <p:sp>
        <p:nvSpPr>
          <p:cNvPr id="13" name="TextBox 12"/>
          <p:cNvSpPr txBox="1"/>
          <p:nvPr/>
        </p:nvSpPr>
        <p:spPr>
          <a:xfrm>
            <a:off x="1024128" y="2688336"/>
            <a:ext cx="6217920" cy="640080"/>
          </a:xfrm>
          <a:prstGeom prst="rect">
            <a:avLst/>
          </a:prstGeom>
          <a:noFill/>
        </p:spPr>
        <p:txBody>
          <a:bodyPr wrap="square" lIns="45720" tIns="27432" rIns="45720" bIns="27432" anchor="t">
            <a:spAutoFit/>
          </a:bodyPr>
          <a:lstStyle/>
          <a:p>
            <a:pPr algn="l">
              <a:spcAft>
                <a:spcPts val="0"/>
              </a:spcAft>
            </a:pPr>
            <a:r>
              <a:rPr sz="1250" b="1" i="0">
                <a:solidFill>
                  <a:srgbClr val="1F2933"/>
                </a:solidFill>
                <a:latin typeface="Aptos"/>
              </a:rPr>
              <a:t>Capacity: </a:t>
            </a:r>
            <a:r>
              <a:rPr sz="1250" b="0" i="0">
                <a:solidFill>
                  <a:srgbClr val="1F2933"/>
                </a:solidFill>
                <a:latin typeface="Aptos"/>
              </a:rPr>
              <a:t>each hub serves at most 100 m² of eligible-room area and at most 5 nodes.</a:t>
            </a:r>
          </a:p>
        </p:txBody>
      </p:sp>
      <p:sp>
        <p:nvSpPr>
          <p:cNvPr id="14" name="Oval 13"/>
          <p:cNvSpPr/>
          <p:nvPr/>
        </p:nvSpPr>
        <p:spPr>
          <a:xfrm>
            <a:off x="621792" y="3383280"/>
            <a:ext cx="310896" cy="310896"/>
          </a:xfrm>
          <a:prstGeom prst="ellipse">
            <a:avLst/>
          </a:prstGeom>
          <a:solidFill>
            <a:srgbClr val="1F5FBF"/>
          </a:solidFill>
          <a:ln>
            <a:noFill/>
          </a:ln>
        </p:spPr>
        <p:txBody>
          <a:bodyPr wrap="square" lIns="0" tIns="0" rIns="0" bIns="0" rtlCol="0" anchor="ctr"/>
          <a:lstStyle/>
          <a:p>
            <a:pPr algn="ctr">
              <a:spcAft>
                <a:spcPts val="0"/>
              </a:spcAft>
            </a:pPr>
            <a:r>
              <a:rPr sz="1200" b="1" i="0">
                <a:solidFill>
                  <a:srgbClr val="FFFFFF"/>
                </a:solidFill>
                <a:latin typeface="Aptos"/>
              </a:rPr>
              <a:t>3</a:t>
            </a:r>
          </a:p>
        </p:txBody>
      </p:sp>
      <p:sp>
        <p:nvSpPr>
          <p:cNvPr id="15" name="TextBox 14"/>
          <p:cNvSpPr txBox="1"/>
          <p:nvPr/>
        </p:nvSpPr>
        <p:spPr>
          <a:xfrm>
            <a:off x="1024128" y="3346704"/>
            <a:ext cx="6217920" cy="640080"/>
          </a:xfrm>
          <a:prstGeom prst="rect">
            <a:avLst/>
          </a:prstGeom>
          <a:noFill/>
        </p:spPr>
        <p:txBody>
          <a:bodyPr wrap="square" lIns="45720" tIns="27432" rIns="45720" bIns="27432" anchor="t">
            <a:spAutoFit/>
          </a:bodyPr>
          <a:lstStyle/>
          <a:p>
            <a:pPr algn="l">
              <a:spcAft>
                <a:spcPts val="0"/>
              </a:spcAft>
            </a:pPr>
            <a:r>
              <a:rPr sz="1250" b="1" i="0">
                <a:solidFill>
                  <a:srgbClr val="1F2933"/>
                </a:solidFill>
                <a:latin typeface="Aptos"/>
              </a:rPr>
              <a:t>Zone: </a:t>
            </a:r>
            <a:r>
              <a:rPr sz="1250" b="0" i="0">
                <a:solidFill>
                  <a:srgbClr val="1F2933"/>
                </a:solidFill>
                <a:latin typeface="Aptos"/>
              </a:rPr>
              <a:t>a hub's rooms are connected through doors or open passages only. Windows, wall-only adjacency and the entrance do not count.</a:t>
            </a:r>
          </a:p>
        </p:txBody>
      </p:sp>
      <p:sp>
        <p:nvSpPr>
          <p:cNvPr id="16" name="Oval 15"/>
          <p:cNvSpPr/>
          <p:nvPr/>
        </p:nvSpPr>
        <p:spPr>
          <a:xfrm>
            <a:off x="621792" y="4041648"/>
            <a:ext cx="310896" cy="310896"/>
          </a:xfrm>
          <a:prstGeom prst="ellipse">
            <a:avLst/>
          </a:prstGeom>
          <a:solidFill>
            <a:srgbClr val="1F5FBF"/>
          </a:solidFill>
          <a:ln>
            <a:noFill/>
          </a:ln>
        </p:spPr>
        <p:txBody>
          <a:bodyPr wrap="square" lIns="0" tIns="0" rIns="0" bIns="0" rtlCol="0" anchor="ctr"/>
          <a:lstStyle/>
          <a:p>
            <a:pPr algn="ctr">
              <a:spcAft>
                <a:spcPts val="0"/>
              </a:spcAft>
            </a:pPr>
            <a:r>
              <a:rPr sz="1200" b="1" i="0">
                <a:solidFill>
                  <a:srgbClr val="FFFFFF"/>
                </a:solidFill>
                <a:latin typeface="Aptos"/>
              </a:rPr>
              <a:t>4</a:t>
            </a:r>
          </a:p>
        </p:txBody>
      </p:sp>
      <p:sp>
        <p:nvSpPr>
          <p:cNvPr id="17" name="TextBox 16"/>
          <p:cNvSpPr txBox="1"/>
          <p:nvPr/>
        </p:nvSpPr>
        <p:spPr>
          <a:xfrm>
            <a:off x="1024128" y="4005072"/>
            <a:ext cx="6217920" cy="640080"/>
          </a:xfrm>
          <a:prstGeom prst="rect">
            <a:avLst/>
          </a:prstGeom>
          <a:noFill/>
        </p:spPr>
        <p:txBody>
          <a:bodyPr wrap="square" lIns="45720" tIns="27432" rIns="45720" bIns="27432" anchor="t">
            <a:spAutoFit/>
          </a:bodyPr>
          <a:lstStyle/>
          <a:p>
            <a:pPr algn="l">
              <a:spcAft>
                <a:spcPts val="0"/>
              </a:spcAft>
            </a:pPr>
            <a:r>
              <a:rPr sz="1250" b="1" i="0">
                <a:solidFill>
                  <a:srgbClr val="1F2933"/>
                </a:solidFill>
                <a:latin typeface="Aptos"/>
              </a:rPr>
              <a:t>Ring: </a:t>
            </a:r>
            <a:r>
              <a:rPr sz="1250" b="0" i="0">
                <a:solidFill>
                  <a:srgbClr val="1F2933"/>
                </a:solidFill>
                <a:latin typeface="Aptos"/>
              </a:rPr>
              <a:t>one closed ring per hub: H → every assigned node once → same H, no branches. Retracing a door to reach a single-door room is allowed; shared line length counts as overlap.</a:t>
            </a:r>
          </a:p>
        </p:txBody>
      </p:sp>
      <p:sp>
        <p:nvSpPr>
          <p:cNvPr id="18" name="Oval 17"/>
          <p:cNvSpPr/>
          <p:nvPr/>
        </p:nvSpPr>
        <p:spPr>
          <a:xfrm>
            <a:off x="621792" y="4700016"/>
            <a:ext cx="310896" cy="310896"/>
          </a:xfrm>
          <a:prstGeom prst="ellipse">
            <a:avLst/>
          </a:prstGeom>
          <a:solidFill>
            <a:srgbClr val="1F5FBF"/>
          </a:solidFill>
          <a:ln>
            <a:noFill/>
          </a:ln>
        </p:spPr>
        <p:txBody>
          <a:bodyPr wrap="square" lIns="0" tIns="0" rIns="0" bIns="0" rtlCol="0" anchor="ctr"/>
          <a:lstStyle/>
          <a:p>
            <a:pPr algn="ctr">
              <a:spcAft>
                <a:spcPts val="0"/>
              </a:spcAft>
            </a:pPr>
            <a:r>
              <a:rPr sz="1200" b="1" i="0">
                <a:solidFill>
                  <a:srgbClr val="FFFFFF"/>
                </a:solidFill>
                <a:latin typeface="Aptos"/>
              </a:rPr>
              <a:t>5</a:t>
            </a:r>
          </a:p>
        </p:txBody>
      </p:sp>
      <p:sp>
        <p:nvSpPr>
          <p:cNvPr id="19" name="TextBox 18"/>
          <p:cNvSpPr txBox="1"/>
          <p:nvPr/>
        </p:nvSpPr>
        <p:spPr>
          <a:xfrm>
            <a:off x="1024128" y="4663440"/>
            <a:ext cx="6217920" cy="640080"/>
          </a:xfrm>
          <a:prstGeom prst="rect">
            <a:avLst/>
          </a:prstGeom>
          <a:noFill/>
        </p:spPr>
        <p:txBody>
          <a:bodyPr wrap="square" lIns="45720" tIns="27432" rIns="45720" bIns="27432" anchor="t">
            <a:spAutoFit/>
          </a:bodyPr>
          <a:lstStyle/>
          <a:p>
            <a:pPr algn="l">
              <a:spcAft>
                <a:spcPts val="0"/>
              </a:spcAft>
            </a:pPr>
            <a:r>
              <a:rPr sz="1250" b="1" i="0">
                <a:solidFill>
                  <a:srgbClr val="1F2933"/>
                </a:solidFill>
                <a:latin typeface="Aptos"/>
              </a:rPr>
              <a:t>Free space: </a:t>
            </a:r>
            <a:r>
              <a:rPr sz="1250" b="0" i="0">
                <a:solidFill>
                  <a:srgbClr val="1F2933"/>
                </a:solidFill>
                <a:latin typeface="Aptos"/>
              </a:rPr>
              <a:t>cable stays inside the inner boundary, outside walls and windows, runs only horizontally or vertically, and passes between rooms only through door or open-passage gaps.</a:t>
            </a:r>
          </a:p>
        </p:txBody>
      </p:sp>
      <p:sp>
        <p:nvSpPr>
          <p:cNvPr id="20" name="Oval 19"/>
          <p:cNvSpPr/>
          <p:nvPr/>
        </p:nvSpPr>
        <p:spPr>
          <a:xfrm>
            <a:off x="621792" y="5358383"/>
            <a:ext cx="310896" cy="310896"/>
          </a:xfrm>
          <a:prstGeom prst="ellipse">
            <a:avLst/>
          </a:prstGeom>
          <a:solidFill>
            <a:srgbClr val="1F5FBF"/>
          </a:solidFill>
          <a:ln>
            <a:noFill/>
          </a:ln>
        </p:spPr>
        <p:txBody>
          <a:bodyPr wrap="square" lIns="0" tIns="0" rIns="0" bIns="0" rtlCol="0" anchor="ctr"/>
          <a:lstStyle/>
          <a:p>
            <a:pPr algn="ctr">
              <a:spcAft>
                <a:spcPts val="0"/>
              </a:spcAft>
            </a:pPr>
            <a:r>
              <a:rPr sz="1200" b="1" i="0">
                <a:solidFill>
                  <a:srgbClr val="FFFFFF"/>
                </a:solidFill>
                <a:latin typeface="Aptos"/>
              </a:rPr>
              <a:t>6</a:t>
            </a:r>
          </a:p>
        </p:txBody>
      </p:sp>
      <p:sp>
        <p:nvSpPr>
          <p:cNvPr id="21" name="TextBox 20"/>
          <p:cNvSpPr txBox="1"/>
          <p:nvPr/>
        </p:nvSpPr>
        <p:spPr>
          <a:xfrm>
            <a:off x="1024128" y="5321807"/>
            <a:ext cx="6217920" cy="640080"/>
          </a:xfrm>
          <a:prstGeom prst="rect">
            <a:avLst/>
          </a:prstGeom>
          <a:noFill/>
        </p:spPr>
        <p:txBody>
          <a:bodyPr wrap="square" lIns="45720" tIns="27432" rIns="45720" bIns="27432" anchor="t">
            <a:spAutoFit/>
          </a:bodyPr>
          <a:lstStyle/>
          <a:p>
            <a:pPr algn="l">
              <a:spcAft>
                <a:spcPts val="0"/>
              </a:spcAft>
            </a:pPr>
            <a:r>
              <a:rPr sz="1250" b="1" i="0">
                <a:solidFill>
                  <a:srgbClr val="1F2933"/>
                </a:solidFill>
                <a:latin typeface="Aptos"/>
              </a:rPr>
              <a:t>Hub point: </a:t>
            </a:r>
            <a:r>
              <a:rPr sz="1250" b="0" i="0">
                <a:solidFill>
                  <a:srgbClr val="1F2933"/>
                </a:solidFill>
                <a:latin typeface="Aptos"/>
              </a:rPr>
              <a:t>inside an eligible room assigned to that hub, at least 0.5 m from walls. A hub and a node may share a room.</a:t>
            </a:r>
          </a:p>
        </p:txBody>
      </p:sp>
      <p:sp>
        <p:nvSpPr>
          <p:cNvPr id="22" name="Rounded Rectangle 21"/>
          <p:cNvSpPr/>
          <p:nvPr/>
        </p:nvSpPr>
        <p:spPr>
          <a:xfrm>
            <a:off x="7543800" y="1508760"/>
            <a:ext cx="4187952" cy="269748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23" name="TextBox 22"/>
          <p:cNvSpPr txBox="1"/>
          <p:nvPr/>
        </p:nvSpPr>
        <p:spPr>
          <a:xfrm>
            <a:off x="7680960" y="1581912"/>
            <a:ext cx="3913632"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Ranking of valid designs</a:t>
            </a:r>
          </a:p>
        </p:txBody>
      </p:sp>
      <p:sp>
        <p:nvSpPr>
          <p:cNvPr id="24" name="Rectangle 23"/>
          <p:cNvSpPr/>
          <p:nvPr/>
        </p:nvSpPr>
        <p:spPr>
          <a:xfrm>
            <a:off x="7726679" y="1920240"/>
            <a:ext cx="457200" cy="32004"/>
          </a:xfrm>
          <a:prstGeom prst="rect">
            <a:avLst/>
          </a:prstGeom>
          <a:solidFill>
            <a:srgbClr val="C8102E"/>
          </a:solidFill>
          <a:ln>
            <a:noFill/>
          </a:ln>
        </p:spPr>
        <p:txBody>
          <a:bodyPr rtlCol="0" anchor="ctr"/>
          <a:lstStyle/>
          <a:p>
            <a:pPr algn="ctr"/>
            <a:endParaRPr/>
          </a:p>
        </p:txBody>
      </p:sp>
      <p:sp>
        <p:nvSpPr>
          <p:cNvPr id="25" name="TextBox 24"/>
          <p:cNvSpPr txBox="1"/>
          <p:nvPr/>
        </p:nvSpPr>
        <p:spPr>
          <a:xfrm>
            <a:off x="7680960" y="2011680"/>
            <a:ext cx="3931920" cy="274320"/>
          </a:xfrm>
          <a:prstGeom prst="rect">
            <a:avLst/>
          </a:prstGeom>
          <a:noFill/>
        </p:spPr>
        <p:txBody>
          <a:bodyPr wrap="square" lIns="45720" tIns="27432" rIns="45720" bIns="27432" anchor="t">
            <a:spAutoFit/>
          </a:bodyPr>
          <a:lstStyle/>
          <a:p>
            <a:pPr algn="l">
              <a:spcAft>
                <a:spcPts val="0"/>
              </a:spcAft>
            </a:pPr>
            <a:r>
              <a:rPr sz="1150" b="0" i="0">
                <a:solidFill>
                  <a:srgbClr val="5B6770"/>
                </a:solidFill>
                <a:latin typeface="Aptos"/>
              </a:rPr>
              <a:t>Fewest hubs first, then lowest cost (L + X + O + B)</a:t>
            </a:r>
          </a:p>
        </p:txBody>
      </p:sp>
      <p:sp>
        <p:nvSpPr>
          <p:cNvPr id="26" name="Oval 25"/>
          <p:cNvSpPr/>
          <p:nvPr/>
        </p:nvSpPr>
        <p:spPr>
          <a:xfrm>
            <a:off x="7699248" y="2359151"/>
            <a:ext cx="256032" cy="256032"/>
          </a:xfrm>
          <a:prstGeom prst="ellipse">
            <a:avLst/>
          </a:prstGeom>
          <a:solidFill>
            <a:srgbClr val="C8102E"/>
          </a:solidFill>
          <a:ln>
            <a:noFill/>
          </a:ln>
        </p:spPr>
        <p:txBody>
          <a:bodyPr wrap="square" lIns="0" tIns="0" rIns="0" bIns="0" rtlCol="0" anchor="ctr"/>
          <a:lstStyle/>
          <a:p>
            <a:pPr algn="ctr">
              <a:spcAft>
                <a:spcPts val="0"/>
              </a:spcAft>
            </a:pPr>
            <a:r>
              <a:rPr sz="1100" b="1" i="0">
                <a:solidFill>
                  <a:srgbClr val="FFFFFF"/>
                </a:solidFill>
                <a:latin typeface="Aptos"/>
              </a:rPr>
              <a:t>H</a:t>
            </a:r>
          </a:p>
        </p:txBody>
      </p:sp>
      <p:sp>
        <p:nvSpPr>
          <p:cNvPr id="27" name="TextBox 26"/>
          <p:cNvSpPr txBox="1"/>
          <p:nvPr/>
        </p:nvSpPr>
        <p:spPr>
          <a:xfrm>
            <a:off x="8046720" y="2331720"/>
            <a:ext cx="3611880" cy="292608"/>
          </a:xfrm>
          <a:prstGeom prst="rect">
            <a:avLst/>
          </a:prstGeom>
          <a:noFill/>
        </p:spPr>
        <p:txBody>
          <a:bodyPr wrap="square" lIns="45720" tIns="27432" rIns="45720" bIns="27432" anchor="ctr">
            <a:spAutoFit/>
          </a:bodyPr>
          <a:lstStyle/>
          <a:p>
            <a:pPr algn="l">
              <a:spcAft>
                <a:spcPts val="0"/>
              </a:spcAft>
            </a:pPr>
            <a:r>
              <a:rPr sz="1250" b="0" i="0">
                <a:solidFill>
                  <a:srgbClr val="1F2933"/>
                </a:solidFill>
                <a:latin typeface="Aptos"/>
              </a:rPr>
              <a:t>Fewest hubs (always decides first)</a:t>
            </a:r>
          </a:p>
        </p:txBody>
      </p:sp>
      <p:sp>
        <p:nvSpPr>
          <p:cNvPr id="28" name="Oval 27"/>
          <p:cNvSpPr/>
          <p:nvPr/>
        </p:nvSpPr>
        <p:spPr>
          <a:xfrm>
            <a:off x="7699248" y="2660903"/>
            <a:ext cx="256032" cy="256032"/>
          </a:xfrm>
          <a:prstGeom prst="ellipse">
            <a:avLst/>
          </a:prstGeom>
          <a:solidFill>
            <a:srgbClr val="C8102E"/>
          </a:solidFill>
          <a:ln>
            <a:noFill/>
          </a:ln>
        </p:spPr>
        <p:txBody>
          <a:bodyPr wrap="square" lIns="0" tIns="0" rIns="0" bIns="0" rtlCol="0" anchor="ctr"/>
          <a:lstStyle/>
          <a:p>
            <a:pPr algn="ctr">
              <a:spcAft>
                <a:spcPts val="0"/>
              </a:spcAft>
            </a:pPr>
            <a:r>
              <a:rPr sz="1100" b="1" i="0">
                <a:solidFill>
                  <a:srgbClr val="FFFFFF"/>
                </a:solidFill>
                <a:latin typeface="Aptos"/>
              </a:rPr>
              <a:t>L</a:t>
            </a:r>
          </a:p>
        </p:txBody>
      </p:sp>
      <p:sp>
        <p:nvSpPr>
          <p:cNvPr id="29" name="TextBox 28"/>
          <p:cNvSpPr txBox="1"/>
          <p:nvPr/>
        </p:nvSpPr>
        <p:spPr>
          <a:xfrm>
            <a:off x="8046720" y="2633472"/>
            <a:ext cx="3611880" cy="292608"/>
          </a:xfrm>
          <a:prstGeom prst="rect">
            <a:avLst/>
          </a:prstGeom>
          <a:noFill/>
        </p:spPr>
        <p:txBody>
          <a:bodyPr wrap="square" lIns="45720" tIns="27432" rIns="45720" bIns="27432" anchor="ctr">
            <a:spAutoFit/>
          </a:bodyPr>
          <a:lstStyle/>
          <a:p>
            <a:pPr algn="l">
              <a:spcAft>
                <a:spcPts val="0"/>
              </a:spcAft>
            </a:pPr>
            <a:r>
              <a:rPr sz="1250" b="0" i="0">
                <a:solidFill>
                  <a:srgbClr val="1F2933"/>
                </a:solidFill>
                <a:latin typeface="Aptos"/>
              </a:rPr>
              <a:t>Cable length, returns included (1/m)</a:t>
            </a:r>
          </a:p>
        </p:txBody>
      </p:sp>
      <p:sp>
        <p:nvSpPr>
          <p:cNvPr id="30" name="Oval 29"/>
          <p:cNvSpPr/>
          <p:nvPr/>
        </p:nvSpPr>
        <p:spPr>
          <a:xfrm>
            <a:off x="7699248" y="2962656"/>
            <a:ext cx="256032" cy="256032"/>
          </a:xfrm>
          <a:prstGeom prst="ellipse">
            <a:avLst/>
          </a:prstGeom>
          <a:solidFill>
            <a:srgbClr val="C8102E"/>
          </a:solidFill>
          <a:ln>
            <a:noFill/>
          </a:ln>
        </p:spPr>
        <p:txBody>
          <a:bodyPr wrap="square" lIns="0" tIns="0" rIns="0" bIns="0" rtlCol="0" anchor="ctr"/>
          <a:lstStyle/>
          <a:p>
            <a:pPr algn="ctr">
              <a:spcAft>
                <a:spcPts val="0"/>
              </a:spcAft>
            </a:pPr>
            <a:r>
              <a:rPr sz="1100" b="1" i="0">
                <a:solidFill>
                  <a:srgbClr val="FFFFFF"/>
                </a:solidFill>
                <a:latin typeface="Aptos"/>
              </a:rPr>
              <a:t>X</a:t>
            </a:r>
          </a:p>
        </p:txBody>
      </p:sp>
      <p:sp>
        <p:nvSpPr>
          <p:cNvPr id="31" name="TextBox 30"/>
          <p:cNvSpPr txBox="1"/>
          <p:nvPr/>
        </p:nvSpPr>
        <p:spPr>
          <a:xfrm>
            <a:off x="8046720" y="2935224"/>
            <a:ext cx="3611880" cy="292608"/>
          </a:xfrm>
          <a:prstGeom prst="rect">
            <a:avLst/>
          </a:prstGeom>
          <a:noFill/>
        </p:spPr>
        <p:txBody>
          <a:bodyPr wrap="square" lIns="45720" tIns="27432" rIns="45720" bIns="27432" anchor="ctr">
            <a:spAutoFit/>
          </a:bodyPr>
          <a:lstStyle/>
          <a:p>
            <a:pPr algn="l">
              <a:spcAft>
                <a:spcPts val="0"/>
              </a:spcAft>
            </a:pPr>
            <a:r>
              <a:rPr sz="1250" b="0" i="0">
                <a:solidFill>
                  <a:srgbClr val="1F2933"/>
                </a:solidFill>
                <a:latin typeface="Aptos"/>
              </a:rPr>
              <a:t>Crossings, any rings (5 each)</a:t>
            </a:r>
          </a:p>
        </p:txBody>
      </p:sp>
      <p:sp>
        <p:nvSpPr>
          <p:cNvPr id="32" name="Oval 31"/>
          <p:cNvSpPr/>
          <p:nvPr/>
        </p:nvSpPr>
        <p:spPr>
          <a:xfrm>
            <a:off x="7699248" y="3264408"/>
            <a:ext cx="256032" cy="256032"/>
          </a:xfrm>
          <a:prstGeom prst="ellipse">
            <a:avLst/>
          </a:prstGeom>
          <a:solidFill>
            <a:srgbClr val="C8102E"/>
          </a:solidFill>
          <a:ln>
            <a:noFill/>
          </a:ln>
        </p:spPr>
        <p:txBody>
          <a:bodyPr wrap="square" lIns="0" tIns="0" rIns="0" bIns="0" rtlCol="0" anchor="ctr"/>
          <a:lstStyle/>
          <a:p>
            <a:pPr algn="ctr">
              <a:spcAft>
                <a:spcPts val="0"/>
              </a:spcAft>
            </a:pPr>
            <a:r>
              <a:rPr sz="1100" b="1" i="0">
                <a:solidFill>
                  <a:srgbClr val="FFFFFF"/>
                </a:solidFill>
                <a:latin typeface="Aptos"/>
              </a:rPr>
              <a:t>O</a:t>
            </a:r>
          </a:p>
        </p:txBody>
      </p:sp>
      <p:sp>
        <p:nvSpPr>
          <p:cNvPr id="33" name="TextBox 32"/>
          <p:cNvSpPr txBox="1"/>
          <p:nvPr/>
        </p:nvSpPr>
        <p:spPr>
          <a:xfrm>
            <a:off x="8046720" y="3236976"/>
            <a:ext cx="3611880" cy="292608"/>
          </a:xfrm>
          <a:prstGeom prst="rect">
            <a:avLst/>
          </a:prstGeom>
          <a:noFill/>
        </p:spPr>
        <p:txBody>
          <a:bodyPr wrap="square" lIns="45720" tIns="27432" rIns="45720" bIns="27432" anchor="ctr">
            <a:spAutoFit/>
          </a:bodyPr>
          <a:lstStyle/>
          <a:p>
            <a:pPr algn="l">
              <a:spcAft>
                <a:spcPts val="0"/>
              </a:spcAft>
            </a:pPr>
            <a:r>
              <a:rPr sz="1250" b="0" i="0">
                <a:solidFill>
                  <a:srgbClr val="1F2933"/>
                </a:solidFill>
                <a:latin typeface="Aptos"/>
              </a:rPr>
              <a:t>Overlap on the same line (1/m)</a:t>
            </a:r>
          </a:p>
        </p:txBody>
      </p:sp>
      <p:sp>
        <p:nvSpPr>
          <p:cNvPr id="34" name="Oval 33"/>
          <p:cNvSpPr/>
          <p:nvPr/>
        </p:nvSpPr>
        <p:spPr>
          <a:xfrm>
            <a:off x="7699248" y="3566160"/>
            <a:ext cx="256032" cy="256032"/>
          </a:xfrm>
          <a:prstGeom prst="ellipse">
            <a:avLst/>
          </a:prstGeom>
          <a:solidFill>
            <a:srgbClr val="C8102E"/>
          </a:solidFill>
          <a:ln>
            <a:noFill/>
          </a:ln>
        </p:spPr>
        <p:txBody>
          <a:bodyPr wrap="square" lIns="0" tIns="0" rIns="0" bIns="0" rtlCol="0" anchor="ctr"/>
          <a:lstStyle/>
          <a:p>
            <a:pPr algn="ctr">
              <a:spcAft>
                <a:spcPts val="0"/>
              </a:spcAft>
            </a:pPr>
            <a:r>
              <a:rPr sz="1100" b="1" i="0">
                <a:solidFill>
                  <a:srgbClr val="FFFFFF"/>
                </a:solidFill>
                <a:latin typeface="Aptos"/>
              </a:rPr>
              <a:t>B</a:t>
            </a:r>
          </a:p>
        </p:txBody>
      </p:sp>
      <p:sp>
        <p:nvSpPr>
          <p:cNvPr id="35" name="TextBox 34"/>
          <p:cNvSpPr txBox="1"/>
          <p:nvPr/>
        </p:nvSpPr>
        <p:spPr>
          <a:xfrm>
            <a:off x="8046720" y="3538728"/>
            <a:ext cx="3611880" cy="292608"/>
          </a:xfrm>
          <a:prstGeom prst="rect">
            <a:avLst/>
          </a:prstGeom>
          <a:noFill/>
        </p:spPr>
        <p:txBody>
          <a:bodyPr wrap="square" lIns="45720" tIns="27432" rIns="45720" bIns="27432" anchor="ctr">
            <a:spAutoFit/>
          </a:bodyPr>
          <a:lstStyle/>
          <a:p>
            <a:pPr algn="l">
              <a:spcAft>
                <a:spcPts val="0"/>
              </a:spcAft>
            </a:pPr>
            <a:r>
              <a:rPr sz="1250" b="0" i="0">
                <a:solidFill>
                  <a:srgbClr val="1F2933"/>
                </a:solidFill>
                <a:latin typeface="Aptos"/>
              </a:rPr>
              <a:t>Bends, all 90° turns (0.5 each)</a:t>
            </a:r>
          </a:p>
        </p:txBody>
      </p:sp>
      <p:sp>
        <p:nvSpPr>
          <p:cNvPr id="36" name="TextBox 35"/>
          <p:cNvSpPr txBox="1"/>
          <p:nvPr/>
        </p:nvSpPr>
        <p:spPr>
          <a:xfrm>
            <a:off x="7680960" y="3840480"/>
            <a:ext cx="3931920" cy="256032"/>
          </a:xfrm>
          <a:prstGeom prst="rect">
            <a:avLst/>
          </a:prstGeom>
          <a:noFill/>
        </p:spPr>
        <p:txBody>
          <a:bodyPr wrap="square" lIns="45720" tIns="27432" rIns="45720" bIns="27432" anchor="t">
            <a:spAutoFit/>
          </a:bodyPr>
          <a:lstStyle/>
          <a:p>
            <a:pPr algn="l">
              <a:spcAft>
                <a:spcPts val="0"/>
              </a:spcAft>
            </a:pPr>
            <a:r>
              <a:rPr sz="1150" b="1" i="0">
                <a:solidFill>
                  <a:srgbClr val="1F2933"/>
                </a:solidFill>
                <a:latin typeface="Aptos"/>
              </a:rPr>
              <a:t>Tie-break: </a:t>
            </a:r>
            <a:r>
              <a:rPr sz="1150" b="0" i="0">
                <a:solidFill>
                  <a:srgbClr val="1F2933"/>
                </a:solidFill>
                <a:latin typeface="Aptos"/>
              </a:rPr>
              <a:t>smaller assigned-area gap between hubs</a:t>
            </a:r>
          </a:p>
        </p:txBody>
      </p:sp>
      <p:sp>
        <p:nvSpPr>
          <p:cNvPr id="37" name="Rounded Rectangle 36"/>
          <p:cNvSpPr/>
          <p:nvPr/>
        </p:nvSpPr>
        <p:spPr>
          <a:xfrm>
            <a:off x="7543800" y="4343400"/>
            <a:ext cx="4187952" cy="164592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38" name="TextBox 37"/>
          <p:cNvSpPr txBox="1"/>
          <p:nvPr/>
        </p:nvSpPr>
        <p:spPr>
          <a:xfrm>
            <a:off x="7680960" y="4416552"/>
            <a:ext cx="3913632"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Deliverables per plan</a:t>
            </a:r>
          </a:p>
        </p:txBody>
      </p:sp>
      <p:sp>
        <p:nvSpPr>
          <p:cNvPr id="39" name="Rectangle 38"/>
          <p:cNvSpPr/>
          <p:nvPr/>
        </p:nvSpPr>
        <p:spPr>
          <a:xfrm>
            <a:off x="7726679" y="4754880"/>
            <a:ext cx="457200" cy="32004"/>
          </a:xfrm>
          <a:prstGeom prst="rect">
            <a:avLst/>
          </a:prstGeom>
          <a:solidFill>
            <a:srgbClr val="C8102E"/>
          </a:solidFill>
          <a:ln>
            <a:noFill/>
          </a:ln>
        </p:spPr>
        <p:txBody>
          <a:bodyPr rtlCol="0" anchor="ctr"/>
          <a:lstStyle/>
          <a:p>
            <a:pPr algn="ctr"/>
            <a:endParaRPr/>
          </a:p>
        </p:txBody>
      </p:sp>
      <p:sp>
        <p:nvSpPr>
          <p:cNvPr id="40" name="TextBox 39"/>
          <p:cNvSpPr txBox="1"/>
          <p:nvPr/>
        </p:nvSpPr>
        <p:spPr>
          <a:xfrm>
            <a:off x="7653527" y="4800600"/>
            <a:ext cx="4005072" cy="1017202"/>
          </a:xfrm>
          <a:prstGeom prst="rect">
            <a:avLst/>
          </a:prstGeom>
          <a:noFill/>
        </p:spPr>
        <p:txBody>
          <a:bodyPr wrap="square" lIns="45720" tIns="27432" rIns="45720" bIns="27432" anchor="t">
            <a:spAutoFit/>
          </a:bodyPr>
          <a:lstStyle/>
          <a:p>
            <a:pPr algn="l">
              <a:spcAft>
                <a:spcPts val="300"/>
              </a:spcAft>
            </a:pPr>
            <a:r>
              <a:rPr sz="1150" b="1" i="0" dirty="0">
                <a:solidFill>
                  <a:srgbClr val="C8102E"/>
                </a:solidFill>
                <a:latin typeface="Aptos"/>
              </a:rPr>
              <a:t>•  </a:t>
            </a:r>
            <a:r>
              <a:rPr sz="1150" b="1" i="0" dirty="0">
                <a:solidFill>
                  <a:srgbClr val="1F2933"/>
                </a:solidFill>
                <a:latin typeface="Aptos"/>
              </a:rPr>
              <a:t>Floor-plan overlay: </a:t>
            </a:r>
            <a:r>
              <a:rPr sz="1150" b="0" i="0" dirty="0">
                <a:solidFill>
                  <a:srgbClr val="1F2933"/>
                </a:solidFill>
                <a:latin typeface="Aptos"/>
              </a:rPr>
              <a:t>zones, hub and node IDs, visiting order, full rings with return leg, violations in red</a:t>
            </a:r>
          </a:p>
          <a:p>
            <a:pPr algn="l">
              <a:spcAft>
                <a:spcPts val="300"/>
              </a:spcAft>
            </a:pPr>
            <a:r>
              <a:rPr sz="1150" b="1" i="0" dirty="0">
                <a:solidFill>
                  <a:srgbClr val="C8102E"/>
                </a:solidFill>
                <a:latin typeface="Aptos"/>
              </a:rPr>
              <a:t>•  </a:t>
            </a:r>
            <a:r>
              <a:rPr sz="1150" b="1" i="0" dirty="0">
                <a:solidFill>
                  <a:srgbClr val="1F2933"/>
                </a:solidFill>
                <a:latin typeface="Aptos"/>
              </a:rPr>
              <a:t>JSON </a:t>
            </a:r>
            <a:r>
              <a:rPr sz="1150" b="0" i="0" dirty="0">
                <a:solidFill>
                  <a:srgbClr val="1F2933"/>
                </a:solidFill>
                <a:latin typeface="Aptos"/>
              </a:rPr>
              <a:t>with the same hubs, sequences, polylines and lengths</a:t>
            </a:r>
          </a:p>
          <a:p>
            <a:pPr algn="l">
              <a:spcAft>
                <a:spcPts val="300"/>
              </a:spcAft>
            </a:pPr>
            <a:endParaRPr sz="1150" b="0" i="0" dirty="0">
              <a:solidFill>
                <a:srgbClr val="1F2933"/>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6032"/>
            <a:ext cx="11274552" cy="566928"/>
          </a:xfrm>
        </p:spPr>
        <p:txBody>
          <a:bodyPr wrap="square" lIns="45720" anchor="ctr"/>
          <a:lstStyle/>
          <a:p>
            <a:pPr algn="l"/>
            <a:r>
              <a:rPr sz="2800" b="1">
                <a:solidFill>
                  <a:srgbClr val="1F2933"/>
                </a:solidFill>
                <a:latin typeface="Aptos"/>
              </a:rPr>
              <a:t>Scale: from drawing units to metres</a:t>
            </a:r>
          </a:p>
        </p:txBody>
      </p:sp>
      <p:sp>
        <p:nvSpPr>
          <p:cNvPr id="3" name="TextBox 2"/>
          <p:cNvSpPr txBox="1"/>
          <p:nvPr/>
        </p:nvSpPr>
        <p:spPr>
          <a:xfrm>
            <a:off x="457200" y="822960"/>
            <a:ext cx="11274552" cy="365760"/>
          </a:xfrm>
          <a:prstGeom prst="rect">
            <a:avLst/>
          </a:prstGeom>
          <a:noFill/>
        </p:spPr>
        <p:txBody>
          <a:bodyPr wrap="square" lIns="45720" tIns="27432" rIns="45720" bIns="27432" anchor="t">
            <a:spAutoFit/>
          </a:bodyPr>
          <a:lstStyle/>
          <a:p>
            <a:pPr algn="l">
              <a:spcAft>
                <a:spcPts val="0"/>
              </a:spcAft>
            </a:pPr>
            <a:r>
              <a:rPr sz="1400" b="0" i="0">
                <a:solidFill>
                  <a:srgbClr val="5B6770"/>
                </a:solidFill>
                <a:latin typeface="Aptos"/>
              </a:rPr>
              <a:t>ResPlan coordinates are drawing units, not metres. Two values stored in every plan give the conversion.</a:t>
            </a:r>
          </a:p>
        </p:txBody>
      </p:sp>
      <p:sp>
        <p:nvSpPr>
          <p:cNvPr id="4" name="Rectangle 3"/>
          <p:cNvSpPr/>
          <p:nvPr/>
        </p:nvSpPr>
        <p:spPr>
          <a:xfrm>
            <a:off x="502920" y="1243584"/>
            <a:ext cx="1097280" cy="45720"/>
          </a:xfrm>
          <a:prstGeom prst="rect">
            <a:avLst/>
          </a:prstGeom>
          <a:solidFill>
            <a:srgbClr val="C8102E"/>
          </a:solidFill>
          <a:ln>
            <a:noFill/>
          </a:ln>
        </p:spPr>
        <p:txBody>
          <a:bodyPr rtlCol="0" anchor="ctr"/>
          <a:lstStyle/>
          <a:p>
            <a:pPr algn="ctr"/>
            <a:endParaRPr/>
          </a:p>
        </p:txBody>
      </p:sp>
      <p:sp>
        <p:nvSpPr>
          <p:cNvPr id="5" name="TextBox 4"/>
          <p:cNvSpPr txBox="1"/>
          <p:nvPr/>
        </p:nvSpPr>
        <p:spPr>
          <a:xfrm>
            <a:off x="457200" y="6492240"/>
            <a:ext cx="6400800" cy="274320"/>
          </a:xfrm>
          <a:prstGeom prst="rect">
            <a:avLst/>
          </a:prstGeom>
          <a:noFill/>
        </p:spPr>
        <p:txBody>
          <a:bodyPr wrap="square" lIns="45720" tIns="27432" rIns="45720" bIns="27432" anchor="t">
            <a:spAutoFit/>
          </a:bodyPr>
          <a:lstStyle/>
          <a:p>
            <a:pPr algn="l">
              <a:spcAft>
                <a:spcPts val="0"/>
              </a:spcAft>
            </a:pPr>
            <a:r>
              <a:rPr sz="1000" b="0" i="0">
                <a:solidFill>
                  <a:srgbClr val="5B6770"/>
                </a:solidFill>
                <a:latin typeface="Aptos"/>
              </a:rPr>
              <a:t>Research exercise: results are not a building-services design.</a:t>
            </a:r>
          </a:p>
        </p:txBody>
      </p:sp>
      <p:sp>
        <p:nvSpPr>
          <p:cNvPr id="6" name="Rounded Rectangle 5"/>
          <p:cNvSpPr/>
          <p:nvPr/>
        </p:nvSpPr>
        <p:spPr>
          <a:xfrm>
            <a:off x="457200" y="1508760"/>
            <a:ext cx="5852160" cy="4663440"/>
          </a:xfrm>
          <a:prstGeom prst="roundRect">
            <a:avLst>
              <a:gd name="adj" fmla="val 2000"/>
            </a:avLst>
          </a:prstGeom>
          <a:solidFill>
            <a:srgbClr val="F3F5F7"/>
          </a:solidFill>
          <a:ln w="9525">
            <a:solidFill>
              <a:srgbClr val="CBD2D9"/>
            </a:solidFill>
          </a:ln>
        </p:spPr>
        <p:txBody>
          <a:bodyPr rtlCol="0" anchor="ctr"/>
          <a:lstStyle/>
          <a:p>
            <a:pPr algn="ctr"/>
            <a:endParaRPr/>
          </a:p>
        </p:txBody>
      </p:sp>
      <p:sp>
        <p:nvSpPr>
          <p:cNvPr id="7" name="TextBox 6"/>
          <p:cNvSpPr txBox="1"/>
          <p:nvPr/>
        </p:nvSpPr>
        <p:spPr>
          <a:xfrm>
            <a:off x="594360" y="1563624"/>
            <a:ext cx="5577840" cy="274320"/>
          </a:xfrm>
          <a:prstGeom prst="rect">
            <a:avLst/>
          </a:prstGeom>
          <a:noFill/>
        </p:spPr>
        <p:txBody>
          <a:bodyPr wrap="square" lIns="45720" tIns="27432" rIns="45720" bIns="27432" anchor="t">
            <a:spAutoFit/>
          </a:bodyPr>
          <a:lstStyle/>
          <a:p>
            <a:pPr algn="l">
              <a:spcAft>
                <a:spcPts val="0"/>
              </a:spcAft>
            </a:pPr>
            <a:r>
              <a:rPr sz="1300" b="1" i="0">
                <a:solidFill>
                  <a:srgbClr val="1F2933"/>
                </a:solidFill>
                <a:latin typeface="Aptos"/>
              </a:rPr>
              <a:t>Example plan: 200 × 180 drawing units</a:t>
            </a:r>
          </a:p>
        </p:txBody>
      </p:sp>
      <p:sp>
        <p:nvSpPr>
          <p:cNvPr id="8" name="Rectangle 7"/>
          <p:cNvSpPr/>
          <p:nvPr/>
        </p:nvSpPr>
        <p:spPr>
          <a:xfrm>
            <a:off x="640080" y="1874519"/>
            <a:ext cx="457200" cy="32004"/>
          </a:xfrm>
          <a:prstGeom prst="rect">
            <a:avLst/>
          </a:prstGeom>
          <a:solidFill>
            <a:srgbClr val="C8102E"/>
          </a:solidFill>
          <a:ln>
            <a:noFill/>
          </a:ln>
        </p:spPr>
        <p:txBody>
          <a:bodyPr rtlCol="0" anchor="ctr"/>
          <a:lstStyle/>
          <a:p>
            <a:pPr algn="ctr"/>
            <a:endParaRPr/>
          </a:p>
        </p:txBody>
      </p:sp>
      <p:sp>
        <p:nvSpPr>
          <p:cNvPr id="9" name="Rectangle 8"/>
          <p:cNvSpPr/>
          <p:nvPr/>
        </p:nvSpPr>
        <p:spPr>
          <a:xfrm>
            <a:off x="1143000" y="2377440"/>
            <a:ext cx="3657600" cy="3291840"/>
          </a:xfrm>
          <a:prstGeom prst="rect">
            <a:avLst/>
          </a:prstGeom>
          <a:solidFill>
            <a:srgbClr val="DCE6F7"/>
          </a:solidFill>
          <a:ln>
            <a:noFill/>
          </a:ln>
        </p:spPr>
        <p:txBody>
          <a:bodyPr rtlCol="0" anchor="ctr"/>
          <a:lstStyle/>
          <a:p>
            <a:pPr algn="ctr"/>
            <a:endParaRPr/>
          </a:p>
        </p:txBody>
      </p:sp>
      <p:sp>
        <p:nvSpPr>
          <p:cNvPr id="10" name="Rectangle 9"/>
          <p:cNvSpPr/>
          <p:nvPr/>
        </p:nvSpPr>
        <p:spPr>
          <a:xfrm>
            <a:off x="1060704" y="2295144"/>
            <a:ext cx="3822191" cy="82296"/>
          </a:xfrm>
          <a:prstGeom prst="rect">
            <a:avLst/>
          </a:prstGeom>
          <a:solidFill>
            <a:srgbClr val="1F2933"/>
          </a:solidFill>
          <a:ln>
            <a:noFill/>
          </a:ln>
        </p:spPr>
        <p:txBody>
          <a:bodyPr rtlCol="0" anchor="ctr"/>
          <a:lstStyle/>
          <a:p>
            <a:pPr algn="ctr"/>
            <a:endParaRPr/>
          </a:p>
        </p:txBody>
      </p:sp>
      <p:sp>
        <p:nvSpPr>
          <p:cNvPr id="11" name="Rectangle 10"/>
          <p:cNvSpPr/>
          <p:nvPr/>
        </p:nvSpPr>
        <p:spPr>
          <a:xfrm>
            <a:off x="1060704" y="5669280"/>
            <a:ext cx="3822191" cy="82296"/>
          </a:xfrm>
          <a:prstGeom prst="rect">
            <a:avLst/>
          </a:prstGeom>
          <a:solidFill>
            <a:srgbClr val="1F2933"/>
          </a:solidFill>
          <a:ln>
            <a:noFill/>
          </a:ln>
        </p:spPr>
        <p:txBody>
          <a:bodyPr rtlCol="0" anchor="ctr"/>
          <a:lstStyle/>
          <a:p>
            <a:pPr algn="ctr"/>
            <a:endParaRPr/>
          </a:p>
        </p:txBody>
      </p:sp>
      <p:sp>
        <p:nvSpPr>
          <p:cNvPr id="12" name="Rectangle 11"/>
          <p:cNvSpPr/>
          <p:nvPr/>
        </p:nvSpPr>
        <p:spPr>
          <a:xfrm>
            <a:off x="1060704" y="2295144"/>
            <a:ext cx="82296" cy="3456432"/>
          </a:xfrm>
          <a:prstGeom prst="rect">
            <a:avLst/>
          </a:prstGeom>
          <a:solidFill>
            <a:srgbClr val="1F2933"/>
          </a:solidFill>
          <a:ln>
            <a:noFill/>
          </a:ln>
        </p:spPr>
        <p:txBody>
          <a:bodyPr rtlCol="0" anchor="ctr"/>
          <a:lstStyle/>
          <a:p>
            <a:pPr algn="ctr"/>
            <a:endParaRPr/>
          </a:p>
        </p:txBody>
      </p:sp>
      <p:sp>
        <p:nvSpPr>
          <p:cNvPr id="13" name="Rectangle 12"/>
          <p:cNvSpPr/>
          <p:nvPr/>
        </p:nvSpPr>
        <p:spPr>
          <a:xfrm>
            <a:off x="4800600" y="2295144"/>
            <a:ext cx="82296" cy="3456432"/>
          </a:xfrm>
          <a:prstGeom prst="rect">
            <a:avLst/>
          </a:prstGeom>
          <a:solidFill>
            <a:srgbClr val="1F2933"/>
          </a:solidFill>
          <a:ln>
            <a:noFill/>
          </a:ln>
        </p:spPr>
        <p:txBody>
          <a:bodyPr rtlCol="0" anchor="ctr"/>
          <a:lstStyle/>
          <a:p>
            <a:pPr algn="ctr"/>
            <a:endParaRPr/>
          </a:p>
        </p:txBody>
      </p:sp>
      <p:sp>
        <p:nvSpPr>
          <p:cNvPr id="14" name="Rectangle 13"/>
          <p:cNvSpPr/>
          <p:nvPr/>
        </p:nvSpPr>
        <p:spPr>
          <a:xfrm>
            <a:off x="2578608" y="2377440"/>
            <a:ext cx="54864" cy="1005840"/>
          </a:xfrm>
          <a:prstGeom prst="rect">
            <a:avLst/>
          </a:prstGeom>
          <a:solidFill>
            <a:srgbClr val="1F2933"/>
          </a:solidFill>
          <a:ln>
            <a:noFill/>
          </a:ln>
        </p:spPr>
        <p:txBody>
          <a:bodyPr rtlCol="0" anchor="ctr"/>
          <a:lstStyle/>
          <a:p>
            <a:pPr algn="ctr"/>
            <a:endParaRPr/>
          </a:p>
        </p:txBody>
      </p:sp>
      <p:sp>
        <p:nvSpPr>
          <p:cNvPr id="15" name="Rectangle 14"/>
          <p:cNvSpPr/>
          <p:nvPr/>
        </p:nvSpPr>
        <p:spPr>
          <a:xfrm>
            <a:off x="2578608" y="3749039"/>
            <a:ext cx="54864" cy="274320"/>
          </a:xfrm>
          <a:prstGeom prst="rect">
            <a:avLst/>
          </a:prstGeom>
          <a:solidFill>
            <a:srgbClr val="1F2933"/>
          </a:solidFill>
          <a:ln>
            <a:noFill/>
          </a:ln>
        </p:spPr>
        <p:txBody>
          <a:bodyPr rtlCol="0" anchor="ctr"/>
          <a:lstStyle/>
          <a:p>
            <a:pPr algn="ctr"/>
            <a:endParaRPr/>
          </a:p>
        </p:txBody>
      </p:sp>
      <p:sp>
        <p:nvSpPr>
          <p:cNvPr id="16" name="Rectangle 15"/>
          <p:cNvSpPr/>
          <p:nvPr/>
        </p:nvSpPr>
        <p:spPr>
          <a:xfrm>
            <a:off x="3675888" y="2377440"/>
            <a:ext cx="54864" cy="548640"/>
          </a:xfrm>
          <a:prstGeom prst="rect">
            <a:avLst/>
          </a:prstGeom>
          <a:solidFill>
            <a:srgbClr val="1F2933"/>
          </a:solidFill>
          <a:ln>
            <a:noFill/>
          </a:ln>
        </p:spPr>
        <p:txBody>
          <a:bodyPr rtlCol="0" anchor="ctr"/>
          <a:lstStyle/>
          <a:p>
            <a:pPr algn="ctr"/>
            <a:endParaRPr/>
          </a:p>
        </p:txBody>
      </p:sp>
      <p:sp>
        <p:nvSpPr>
          <p:cNvPr id="17" name="Rectangle 16"/>
          <p:cNvSpPr/>
          <p:nvPr/>
        </p:nvSpPr>
        <p:spPr>
          <a:xfrm>
            <a:off x="3675888" y="3200400"/>
            <a:ext cx="54864" cy="1188720"/>
          </a:xfrm>
          <a:prstGeom prst="rect">
            <a:avLst/>
          </a:prstGeom>
          <a:solidFill>
            <a:srgbClr val="1F2933"/>
          </a:solidFill>
          <a:ln>
            <a:noFill/>
          </a:ln>
        </p:spPr>
        <p:txBody>
          <a:bodyPr rtlCol="0" anchor="ctr"/>
          <a:lstStyle/>
          <a:p>
            <a:pPr algn="ctr"/>
            <a:endParaRPr/>
          </a:p>
        </p:txBody>
      </p:sp>
      <p:sp>
        <p:nvSpPr>
          <p:cNvPr id="18" name="Rectangle 17"/>
          <p:cNvSpPr/>
          <p:nvPr/>
        </p:nvSpPr>
        <p:spPr>
          <a:xfrm>
            <a:off x="3675888" y="4754880"/>
            <a:ext cx="54864" cy="914400"/>
          </a:xfrm>
          <a:prstGeom prst="rect">
            <a:avLst/>
          </a:prstGeom>
          <a:solidFill>
            <a:srgbClr val="1F2933"/>
          </a:solidFill>
          <a:ln>
            <a:noFill/>
          </a:ln>
        </p:spPr>
        <p:txBody>
          <a:bodyPr rtlCol="0" anchor="ctr"/>
          <a:lstStyle/>
          <a:p>
            <a:pPr algn="ctr"/>
            <a:endParaRPr/>
          </a:p>
        </p:txBody>
      </p:sp>
      <p:sp>
        <p:nvSpPr>
          <p:cNvPr id="19" name="Rectangle 18"/>
          <p:cNvSpPr/>
          <p:nvPr/>
        </p:nvSpPr>
        <p:spPr>
          <a:xfrm>
            <a:off x="1143000" y="3995928"/>
            <a:ext cx="365760" cy="54864"/>
          </a:xfrm>
          <a:prstGeom prst="rect">
            <a:avLst/>
          </a:prstGeom>
          <a:solidFill>
            <a:srgbClr val="1F2933"/>
          </a:solidFill>
          <a:ln>
            <a:noFill/>
          </a:ln>
        </p:spPr>
        <p:txBody>
          <a:bodyPr rtlCol="0" anchor="ctr"/>
          <a:lstStyle/>
          <a:p>
            <a:pPr algn="ctr"/>
            <a:endParaRPr/>
          </a:p>
        </p:txBody>
      </p:sp>
      <p:sp>
        <p:nvSpPr>
          <p:cNvPr id="20" name="Rectangle 19"/>
          <p:cNvSpPr/>
          <p:nvPr/>
        </p:nvSpPr>
        <p:spPr>
          <a:xfrm>
            <a:off x="1874519" y="3995928"/>
            <a:ext cx="1005840" cy="54864"/>
          </a:xfrm>
          <a:prstGeom prst="rect">
            <a:avLst/>
          </a:prstGeom>
          <a:solidFill>
            <a:srgbClr val="1F2933"/>
          </a:solidFill>
          <a:ln>
            <a:noFill/>
          </a:ln>
        </p:spPr>
        <p:txBody>
          <a:bodyPr rtlCol="0" anchor="ctr"/>
          <a:lstStyle/>
          <a:p>
            <a:pPr algn="ctr"/>
            <a:endParaRPr/>
          </a:p>
        </p:txBody>
      </p:sp>
      <p:sp>
        <p:nvSpPr>
          <p:cNvPr id="21" name="Rectangle 20"/>
          <p:cNvSpPr/>
          <p:nvPr/>
        </p:nvSpPr>
        <p:spPr>
          <a:xfrm>
            <a:off x="3246120" y="3995928"/>
            <a:ext cx="457200" cy="54864"/>
          </a:xfrm>
          <a:prstGeom prst="rect">
            <a:avLst/>
          </a:prstGeom>
          <a:solidFill>
            <a:srgbClr val="1F2933"/>
          </a:solidFill>
          <a:ln>
            <a:noFill/>
          </a:ln>
        </p:spPr>
        <p:txBody>
          <a:bodyPr rtlCol="0" anchor="ctr"/>
          <a:lstStyle/>
          <a:p>
            <a:pPr algn="ctr"/>
            <a:endParaRPr/>
          </a:p>
        </p:txBody>
      </p:sp>
      <p:sp>
        <p:nvSpPr>
          <p:cNvPr id="22" name="Rectangle 21"/>
          <p:cNvSpPr/>
          <p:nvPr/>
        </p:nvSpPr>
        <p:spPr>
          <a:xfrm>
            <a:off x="3703320" y="3447288"/>
            <a:ext cx="1097280" cy="54864"/>
          </a:xfrm>
          <a:prstGeom prst="rect">
            <a:avLst/>
          </a:prstGeom>
          <a:solidFill>
            <a:srgbClr val="1F2933"/>
          </a:solidFill>
          <a:ln>
            <a:noFill/>
          </a:ln>
        </p:spPr>
        <p:txBody>
          <a:bodyPr rtlCol="0" anchor="ctr"/>
          <a:lstStyle/>
          <a:p>
            <a:pPr algn="ctr"/>
            <a:endParaRPr/>
          </a:p>
        </p:txBody>
      </p:sp>
      <p:sp>
        <p:nvSpPr>
          <p:cNvPr id="23" name="TextBox 22"/>
          <p:cNvSpPr txBox="1"/>
          <p:nvPr/>
        </p:nvSpPr>
        <p:spPr>
          <a:xfrm>
            <a:off x="1197864" y="2423160"/>
            <a:ext cx="914400" cy="201168"/>
          </a:xfrm>
          <a:prstGeom prst="rect">
            <a:avLst/>
          </a:prstGeom>
          <a:noFill/>
        </p:spPr>
        <p:txBody>
          <a:bodyPr wrap="square" lIns="0" tIns="0" rIns="0" bIns="0" anchor="t">
            <a:spAutoFit/>
          </a:bodyPr>
          <a:lstStyle/>
          <a:p>
            <a:pPr algn="l">
              <a:spcAft>
                <a:spcPts val="0"/>
              </a:spcAft>
            </a:pPr>
            <a:r>
              <a:rPr sz="900" b="0" i="0">
                <a:solidFill>
                  <a:srgbClr val="5B6770"/>
                </a:solidFill>
                <a:latin typeface="Aptos"/>
              </a:rPr>
              <a:t>Bedroom 1</a:t>
            </a:r>
          </a:p>
        </p:txBody>
      </p:sp>
      <p:sp>
        <p:nvSpPr>
          <p:cNvPr id="24" name="TextBox 23"/>
          <p:cNvSpPr txBox="1"/>
          <p:nvPr/>
        </p:nvSpPr>
        <p:spPr>
          <a:xfrm>
            <a:off x="2660904" y="2423160"/>
            <a:ext cx="914400" cy="201168"/>
          </a:xfrm>
          <a:prstGeom prst="rect">
            <a:avLst/>
          </a:prstGeom>
          <a:noFill/>
        </p:spPr>
        <p:txBody>
          <a:bodyPr wrap="square" lIns="0" tIns="0" rIns="0" bIns="0" anchor="t">
            <a:spAutoFit/>
          </a:bodyPr>
          <a:lstStyle/>
          <a:p>
            <a:pPr algn="l">
              <a:spcAft>
                <a:spcPts val="0"/>
              </a:spcAft>
            </a:pPr>
            <a:r>
              <a:rPr sz="900" b="0" i="0">
                <a:solidFill>
                  <a:srgbClr val="5B6770"/>
                </a:solidFill>
                <a:latin typeface="Aptos"/>
              </a:rPr>
              <a:t>Kitchen</a:t>
            </a:r>
          </a:p>
        </p:txBody>
      </p:sp>
      <p:sp>
        <p:nvSpPr>
          <p:cNvPr id="25" name="TextBox 24"/>
          <p:cNvSpPr txBox="1"/>
          <p:nvPr/>
        </p:nvSpPr>
        <p:spPr>
          <a:xfrm>
            <a:off x="3758184" y="2423160"/>
            <a:ext cx="914400" cy="201168"/>
          </a:xfrm>
          <a:prstGeom prst="rect">
            <a:avLst/>
          </a:prstGeom>
          <a:noFill/>
        </p:spPr>
        <p:txBody>
          <a:bodyPr wrap="square" lIns="0" tIns="0" rIns="0" bIns="0" anchor="t">
            <a:spAutoFit/>
          </a:bodyPr>
          <a:lstStyle/>
          <a:p>
            <a:pPr algn="l">
              <a:spcAft>
                <a:spcPts val="0"/>
              </a:spcAft>
            </a:pPr>
            <a:r>
              <a:rPr sz="900" b="0" i="0">
                <a:solidFill>
                  <a:srgbClr val="5B6770"/>
                </a:solidFill>
                <a:latin typeface="Aptos"/>
              </a:rPr>
              <a:t>Bath</a:t>
            </a:r>
          </a:p>
        </p:txBody>
      </p:sp>
      <p:sp>
        <p:nvSpPr>
          <p:cNvPr id="26" name="TextBox 25"/>
          <p:cNvSpPr txBox="1"/>
          <p:nvPr/>
        </p:nvSpPr>
        <p:spPr>
          <a:xfrm>
            <a:off x="3758184" y="3520439"/>
            <a:ext cx="914400" cy="201168"/>
          </a:xfrm>
          <a:prstGeom prst="rect">
            <a:avLst/>
          </a:prstGeom>
          <a:noFill/>
        </p:spPr>
        <p:txBody>
          <a:bodyPr wrap="square" lIns="0" tIns="0" rIns="0" bIns="0" anchor="t">
            <a:spAutoFit/>
          </a:bodyPr>
          <a:lstStyle/>
          <a:p>
            <a:pPr algn="l">
              <a:spcAft>
                <a:spcPts val="0"/>
              </a:spcAft>
            </a:pPr>
            <a:r>
              <a:rPr sz="900" b="0" i="0">
                <a:solidFill>
                  <a:srgbClr val="5B6770"/>
                </a:solidFill>
                <a:latin typeface="Aptos"/>
              </a:rPr>
              <a:t>Bedroom 2</a:t>
            </a:r>
          </a:p>
        </p:txBody>
      </p:sp>
      <p:sp>
        <p:nvSpPr>
          <p:cNvPr id="27" name="TextBox 26"/>
          <p:cNvSpPr txBox="1"/>
          <p:nvPr/>
        </p:nvSpPr>
        <p:spPr>
          <a:xfrm>
            <a:off x="1197864" y="4069080"/>
            <a:ext cx="914400" cy="201168"/>
          </a:xfrm>
          <a:prstGeom prst="rect">
            <a:avLst/>
          </a:prstGeom>
          <a:noFill/>
        </p:spPr>
        <p:txBody>
          <a:bodyPr wrap="square" lIns="0" tIns="0" rIns="0" bIns="0" anchor="t">
            <a:spAutoFit/>
          </a:bodyPr>
          <a:lstStyle/>
          <a:p>
            <a:pPr algn="l">
              <a:spcAft>
                <a:spcPts val="0"/>
              </a:spcAft>
            </a:pPr>
            <a:r>
              <a:rPr sz="900" b="0" i="0">
                <a:solidFill>
                  <a:srgbClr val="5B6770"/>
                </a:solidFill>
                <a:latin typeface="Aptos"/>
              </a:rPr>
              <a:t>Living</a:t>
            </a:r>
          </a:p>
        </p:txBody>
      </p:sp>
      <p:sp>
        <p:nvSpPr>
          <p:cNvPr id="28" name="Rectangle 27"/>
          <p:cNvSpPr/>
          <p:nvPr/>
        </p:nvSpPr>
        <p:spPr>
          <a:xfrm>
            <a:off x="3703320" y="5751576"/>
            <a:ext cx="1097280" cy="310896"/>
          </a:xfrm>
          <a:prstGeom prst="rect">
            <a:avLst/>
          </a:prstGeom>
          <a:solidFill>
            <a:srgbClr val="E6E9EC"/>
          </a:solidFill>
          <a:ln w="12700">
            <a:solidFill>
              <a:srgbClr val="5B6770"/>
            </a:solidFill>
            <a:prstDash val="dash"/>
          </a:ln>
        </p:spPr>
        <p:txBody>
          <a:bodyPr rtlCol="0" anchor="ctr"/>
          <a:lstStyle/>
          <a:p>
            <a:pPr algn="ctr"/>
            <a:endParaRPr/>
          </a:p>
        </p:txBody>
      </p:sp>
      <p:sp>
        <p:nvSpPr>
          <p:cNvPr id="29" name="TextBox 28"/>
          <p:cNvSpPr txBox="1"/>
          <p:nvPr/>
        </p:nvSpPr>
        <p:spPr>
          <a:xfrm>
            <a:off x="3703320" y="5769864"/>
            <a:ext cx="1097280" cy="274320"/>
          </a:xfrm>
          <a:prstGeom prst="rect">
            <a:avLst/>
          </a:prstGeom>
          <a:noFill/>
        </p:spPr>
        <p:txBody>
          <a:bodyPr wrap="square" lIns="18288" tIns="0" rIns="18288" bIns="0" anchor="ctr">
            <a:spAutoFit/>
          </a:bodyPr>
          <a:lstStyle/>
          <a:p>
            <a:pPr algn="ctr">
              <a:spcAft>
                <a:spcPts val="0"/>
              </a:spcAft>
            </a:pPr>
            <a:r>
              <a:rPr sz="800" b="0" i="0">
                <a:solidFill>
                  <a:srgbClr val="5B6770"/>
                </a:solidFill>
                <a:latin typeface="Aptos"/>
              </a:rPr>
              <a:t>Balcony: outside inner</a:t>
            </a:r>
          </a:p>
        </p:txBody>
      </p:sp>
      <p:sp>
        <p:nvSpPr>
          <p:cNvPr id="30" name="TextBox 29"/>
          <p:cNvSpPr txBox="1"/>
          <p:nvPr/>
        </p:nvSpPr>
        <p:spPr>
          <a:xfrm>
            <a:off x="1188720" y="4608576"/>
            <a:ext cx="2468880" cy="822960"/>
          </a:xfrm>
          <a:prstGeom prst="rect">
            <a:avLst/>
          </a:prstGeom>
          <a:noFill/>
        </p:spPr>
        <p:txBody>
          <a:bodyPr wrap="square" lIns="0" tIns="0" rIns="0" bIns="0" anchor="t">
            <a:spAutoFit/>
          </a:bodyPr>
          <a:lstStyle/>
          <a:p>
            <a:pPr algn="ctr">
              <a:spcAft>
                <a:spcPts val="0"/>
              </a:spcAft>
            </a:pPr>
            <a:r>
              <a:rPr sz="1600" b="1" i="0">
                <a:solidFill>
                  <a:srgbClr val="1F5FBF"/>
                </a:solidFill>
                <a:latin typeface="Aptos"/>
              </a:rPr>
              <a:t>inner (shaded)</a:t>
            </a:r>
          </a:p>
          <a:p>
            <a:pPr algn="ctr">
              <a:spcAft>
                <a:spcPts val="0"/>
              </a:spcAft>
            </a:pPr>
            <a:r>
              <a:rPr sz="1100" b="1" i="0">
                <a:solidFill>
                  <a:srgbClr val="1F5FBF"/>
                </a:solidFill>
                <a:latin typeface="Aptos"/>
              </a:rPr>
              <a:t>inner.area = 36,000 units²</a:t>
            </a:r>
          </a:p>
          <a:p>
            <a:pPr algn="ctr">
              <a:spcAft>
                <a:spcPts val="0"/>
              </a:spcAft>
            </a:pPr>
            <a:r>
              <a:rPr sz="1100" b="1" i="0">
                <a:solidFill>
                  <a:srgbClr val="D9731A"/>
                </a:solidFill>
                <a:latin typeface="Aptos"/>
              </a:rPr>
              <a:t>area = 110 m²</a:t>
            </a:r>
          </a:p>
        </p:txBody>
      </p:sp>
      <p:sp>
        <p:nvSpPr>
          <p:cNvPr id="31" name="TextBox 30"/>
          <p:cNvSpPr txBox="1"/>
          <p:nvPr/>
        </p:nvSpPr>
        <p:spPr>
          <a:xfrm>
            <a:off x="640080" y="5760720"/>
            <a:ext cx="3566160" cy="365760"/>
          </a:xfrm>
          <a:prstGeom prst="rect">
            <a:avLst/>
          </a:prstGeom>
          <a:noFill/>
        </p:spPr>
        <p:txBody>
          <a:bodyPr wrap="square" lIns="0" tIns="0" rIns="0" bIns="0" anchor="t">
            <a:spAutoFit/>
          </a:bodyPr>
          <a:lstStyle/>
          <a:p>
            <a:pPr algn="l">
              <a:spcAft>
                <a:spcPts val="0"/>
              </a:spcAft>
            </a:pPr>
            <a:r>
              <a:rPr sz="950" b="0" i="0">
                <a:solidFill>
                  <a:srgbClr val="5B6770"/>
                </a:solidFill>
                <a:latin typeface="Aptos"/>
              </a:rPr>
              <a:t>Dark bars: walls.  Shaded: inner.  Dashed: outside inner.</a:t>
            </a:r>
          </a:p>
        </p:txBody>
      </p:sp>
      <p:cxnSp>
        <p:nvCxnSpPr>
          <p:cNvPr id="32" name="Connector 31"/>
          <p:cNvCxnSpPr/>
          <p:nvPr/>
        </p:nvCxnSpPr>
        <p:spPr>
          <a:xfrm>
            <a:off x="1143000" y="2212848"/>
            <a:ext cx="3657600" cy="0"/>
          </a:xfrm>
          <a:prstGeom prst="line">
            <a:avLst/>
          </a:prstGeom>
          <a:ln w="15875">
            <a:solidFill>
              <a:srgbClr val="5B6770"/>
            </a:solidFill>
            <a:headEnd type="triangle" w="sm" len="sm"/>
            <a:tailEnd type="triangle" w="sm" len="sm"/>
          </a:ln>
        </p:spPr>
      </p:cxnSp>
      <p:sp>
        <p:nvSpPr>
          <p:cNvPr id="33" name="TextBox 32"/>
          <p:cNvSpPr txBox="1"/>
          <p:nvPr/>
        </p:nvSpPr>
        <p:spPr>
          <a:xfrm>
            <a:off x="1143000" y="1956816"/>
            <a:ext cx="3657600" cy="274320"/>
          </a:xfrm>
          <a:prstGeom prst="rect">
            <a:avLst/>
          </a:prstGeom>
          <a:noFill/>
        </p:spPr>
        <p:txBody>
          <a:bodyPr wrap="square" lIns="0" tIns="0" rIns="0" bIns="0" anchor="t">
            <a:spAutoFit/>
          </a:bodyPr>
          <a:lstStyle/>
          <a:p>
            <a:pPr algn="ctr">
              <a:spcAft>
                <a:spcPts val="0"/>
              </a:spcAft>
            </a:pPr>
            <a:r>
              <a:rPr sz="1050" b="1" i="0">
                <a:solidFill>
                  <a:srgbClr val="5B6770"/>
                </a:solidFill>
                <a:latin typeface="Aptos"/>
              </a:rPr>
              <a:t>200 units ≈ 11.1 m</a:t>
            </a:r>
          </a:p>
        </p:txBody>
      </p:sp>
      <p:cxnSp>
        <p:nvCxnSpPr>
          <p:cNvPr id="34" name="Connector 33"/>
          <p:cNvCxnSpPr/>
          <p:nvPr/>
        </p:nvCxnSpPr>
        <p:spPr>
          <a:xfrm>
            <a:off x="5074920" y="2377440"/>
            <a:ext cx="0" cy="3291840"/>
          </a:xfrm>
          <a:prstGeom prst="line">
            <a:avLst/>
          </a:prstGeom>
          <a:ln w="15875">
            <a:solidFill>
              <a:srgbClr val="5B6770"/>
            </a:solidFill>
            <a:headEnd type="triangle" w="sm" len="sm"/>
            <a:tailEnd type="triangle" w="sm" len="sm"/>
          </a:ln>
        </p:spPr>
      </p:cxnSp>
      <p:sp>
        <p:nvSpPr>
          <p:cNvPr id="35" name="TextBox 34"/>
          <p:cNvSpPr txBox="1"/>
          <p:nvPr/>
        </p:nvSpPr>
        <p:spPr>
          <a:xfrm>
            <a:off x="5148072" y="3840480"/>
            <a:ext cx="1005840" cy="457200"/>
          </a:xfrm>
          <a:prstGeom prst="rect">
            <a:avLst/>
          </a:prstGeom>
          <a:noFill/>
        </p:spPr>
        <p:txBody>
          <a:bodyPr wrap="square" lIns="0" tIns="0" rIns="0" bIns="0" anchor="t">
            <a:spAutoFit/>
          </a:bodyPr>
          <a:lstStyle/>
          <a:p>
            <a:pPr algn="l">
              <a:spcAft>
                <a:spcPts val="0"/>
              </a:spcAft>
            </a:pPr>
            <a:r>
              <a:rPr sz="1050" b="1" i="0">
                <a:solidFill>
                  <a:srgbClr val="5B6770"/>
                </a:solidFill>
                <a:latin typeface="Aptos"/>
              </a:rPr>
              <a:t>180 units</a:t>
            </a:r>
          </a:p>
          <a:p>
            <a:pPr algn="l">
              <a:spcAft>
                <a:spcPts val="0"/>
              </a:spcAft>
            </a:pPr>
            <a:r>
              <a:rPr sz="1050" b="1" i="0">
                <a:solidFill>
                  <a:srgbClr val="5B6770"/>
                </a:solidFill>
                <a:latin typeface="Aptos"/>
              </a:rPr>
              <a:t>≈ 9.9 m</a:t>
            </a:r>
          </a:p>
        </p:txBody>
      </p:sp>
      <p:sp>
        <p:nvSpPr>
          <p:cNvPr id="36" name="Rounded Rectangle 35"/>
          <p:cNvSpPr/>
          <p:nvPr/>
        </p:nvSpPr>
        <p:spPr>
          <a:xfrm>
            <a:off x="6537960" y="1508760"/>
            <a:ext cx="5193792" cy="1097280"/>
          </a:xfrm>
          <a:prstGeom prst="roundRect">
            <a:avLst>
              <a:gd name="adj" fmla="val 4000"/>
            </a:avLst>
          </a:prstGeom>
          <a:solidFill>
            <a:srgbClr val="F3F5F7"/>
          </a:solidFill>
          <a:ln w="9525">
            <a:solidFill>
              <a:srgbClr val="CBD2D9"/>
            </a:solidFill>
          </a:ln>
        </p:spPr>
        <p:txBody>
          <a:bodyPr rtlCol="0" anchor="ctr"/>
          <a:lstStyle/>
          <a:p>
            <a:pPr algn="ctr"/>
            <a:endParaRPr/>
          </a:p>
        </p:txBody>
      </p:sp>
      <p:sp>
        <p:nvSpPr>
          <p:cNvPr id="37" name="Rectangle 36"/>
          <p:cNvSpPr/>
          <p:nvPr/>
        </p:nvSpPr>
        <p:spPr>
          <a:xfrm>
            <a:off x="6675120" y="1600200"/>
            <a:ext cx="64008" cy="274320"/>
          </a:xfrm>
          <a:prstGeom prst="rect">
            <a:avLst/>
          </a:prstGeom>
          <a:solidFill>
            <a:srgbClr val="1F5FBF"/>
          </a:solidFill>
          <a:ln>
            <a:noFill/>
          </a:ln>
        </p:spPr>
        <p:txBody>
          <a:bodyPr rtlCol="0" anchor="ctr"/>
          <a:lstStyle/>
          <a:p>
            <a:pPr algn="ctr"/>
            <a:endParaRPr/>
          </a:p>
        </p:txBody>
      </p:sp>
      <p:sp>
        <p:nvSpPr>
          <p:cNvPr id="38" name="TextBox 37"/>
          <p:cNvSpPr txBox="1"/>
          <p:nvPr/>
        </p:nvSpPr>
        <p:spPr>
          <a:xfrm>
            <a:off x="6793992" y="1572768"/>
            <a:ext cx="4828031" cy="310896"/>
          </a:xfrm>
          <a:prstGeom prst="rect">
            <a:avLst/>
          </a:prstGeom>
          <a:noFill/>
        </p:spPr>
        <p:txBody>
          <a:bodyPr wrap="square" lIns="45720" tIns="27432" rIns="45720" bIns="27432" anchor="t">
            <a:spAutoFit/>
          </a:bodyPr>
          <a:lstStyle/>
          <a:p>
            <a:pPr algn="l">
              <a:spcAft>
                <a:spcPts val="0"/>
              </a:spcAft>
            </a:pPr>
            <a:r>
              <a:rPr sz="1400" b="1" i="0">
                <a:solidFill>
                  <a:srgbClr val="1F5FBF"/>
                </a:solidFill>
                <a:latin typeface="Consolas"/>
              </a:rPr>
              <a:t>inner.area</a:t>
            </a:r>
            <a:r>
              <a:rPr sz="1300" b="1" i="0">
                <a:solidFill>
                  <a:srgbClr val="1F2933"/>
                </a:solidFill>
                <a:latin typeface="Aptos"/>
              </a:rPr>
              <a:t>   (drawing units²)</a:t>
            </a:r>
          </a:p>
        </p:txBody>
      </p:sp>
      <p:sp>
        <p:nvSpPr>
          <p:cNvPr id="39" name="TextBox 38"/>
          <p:cNvSpPr txBox="1"/>
          <p:nvPr/>
        </p:nvSpPr>
        <p:spPr>
          <a:xfrm>
            <a:off x="6720840" y="1901952"/>
            <a:ext cx="4828031" cy="685800"/>
          </a:xfrm>
          <a:prstGeom prst="rect">
            <a:avLst/>
          </a:prstGeom>
          <a:noFill/>
        </p:spPr>
        <p:txBody>
          <a:bodyPr wrap="square" lIns="45720" tIns="27432" rIns="45720" bIns="27432" anchor="t">
            <a:spAutoFit/>
          </a:bodyPr>
          <a:lstStyle/>
          <a:p>
            <a:pPr algn="l">
              <a:spcAft>
                <a:spcPts val="200"/>
              </a:spcAft>
            </a:pPr>
            <a:r>
              <a:rPr sz="1100" b="0" i="0">
                <a:solidFill>
                  <a:srgbClr val="1F2933"/>
                </a:solidFill>
                <a:latin typeface="Aptos"/>
              </a:rPr>
              <a:t>Area of the plan’s </a:t>
            </a:r>
            <a:r>
              <a:rPr sz="1100" b="1" i="0">
                <a:solidFill>
                  <a:srgbClr val="1F2933"/>
                </a:solidFill>
                <a:latin typeface="Aptos"/>
              </a:rPr>
              <a:t>inner</a:t>
            </a:r>
            <a:r>
              <a:rPr sz="1100" b="0" i="0">
                <a:solidFill>
                  <a:srgbClr val="1F2933"/>
                </a:solidFill>
                <a:latin typeface="Aptos"/>
              </a:rPr>
              <a:t> polygon: everything inside the outer walls, meaning all rooms and the partition walls between them. Balconies and outdoor areas are outside it. Example: 36,000 units².</a:t>
            </a:r>
          </a:p>
        </p:txBody>
      </p:sp>
      <p:sp>
        <p:nvSpPr>
          <p:cNvPr id="40" name="Rounded Rectangle 39"/>
          <p:cNvSpPr/>
          <p:nvPr/>
        </p:nvSpPr>
        <p:spPr>
          <a:xfrm>
            <a:off x="6537960" y="2715768"/>
            <a:ext cx="5193792" cy="914400"/>
          </a:xfrm>
          <a:prstGeom prst="roundRect">
            <a:avLst>
              <a:gd name="adj" fmla="val 4000"/>
            </a:avLst>
          </a:prstGeom>
          <a:solidFill>
            <a:srgbClr val="F3F5F7"/>
          </a:solidFill>
          <a:ln w="9525">
            <a:solidFill>
              <a:srgbClr val="CBD2D9"/>
            </a:solidFill>
          </a:ln>
        </p:spPr>
        <p:txBody>
          <a:bodyPr rtlCol="0" anchor="ctr"/>
          <a:lstStyle/>
          <a:p>
            <a:pPr algn="ctr"/>
            <a:endParaRPr/>
          </a:p>
        </p:txBody>
      </p:sp>
      <p:sp>
        <p:nvSpPr>
          <p:cNvPr id="41" name="Rectangle 40"/>
          <p:cNvSpPr/>
          <p:nvPr/>
        </p:nvSpPr>
        <p:spPr>
          <a:xfrm>
            <a:off x="6675120" y="2807208"/>
            <a:ext cx="64008" cy="274320"/>
          </a:xfrm>
          <a:prstGeom prst="rect">
            <a:avLst/>
          </a:prstGeom>
          <a:solidFill>
            <a:srgbClr val="D9731A"/>
          </a:solidFill>
          <a:ln>
            <a:noFill/>
          </a:ln>
        </p:spPr>
        <p:txBody>
          <a:bodyPr rtlCol="0" anchor="ctr"/>
          <a:lstStyle/>
          <a:p>
            <a:pPr algn="ctr"/>
            <a:endParaRPr/>
          </a:p>
        </p:txBody>
      </p:sp>
      <p:sp>
        <p:nvSpPr>
          <p:cNvPr id="42" name="TextBox 41"/>
          <p:cNvSpPr txBox="1"/>
          <p:nvPr/>
        </p:nvSpPr>
        <p:spPr>
          <a:xfrm>
            <a:off x="6793992" y="2779776"/>
            <a:ext cx="4828031" cy="310896"/>
          </a:xfrm>
          <a:prstGeom prst="rect">
            <a:avLst/>
          </a:prstGeom>
          <a:noFill/>
        </p:spPr>
        <p:txBody>
          <a:bodyPr wrap="square" lIns="45720" tIns="27432" rIns="45720" bIns="27432" anchor="t">
            <a:spAutoFit/>
          </a:bodyPr>
          <a:lstStyle/>
          <a:p>
            <a:pPr algn="l">
              <a:spcAft>
                <a:spcPts val="0"/>
              </a:spcAft>
            </a:pPr>
            <a:r>
              <a:rPr sz="1400" b="1" i="0">
                <a:solidFill>
                  <a:srgbClr val="D9731A"/>
                </a:solidFill>
                <a:latin typeface="Consolas"/>
              </a:rPr>
              <a:t>area</a:t>
            </a:r>
            <a:r>
              <a:rPr sz="1300" b="1" i="0">
                <a:solidFill>
                  <a:srgbClr val="1F2933"/>
                </a:solidFill>
                <a:latin typeface="Aptos"/>
              </a:rPr>
              <a:t>   (m²)</a:t>
            </a:r>
          </a:p>
        </p:txBody>
      </p:sp>
      <p:sp>
        <p:nvSpPr>
          <p:cNvPr id="43" name="TextBox 42"/>
          <p:cNvSpPr txBox="1"/>
          <p:nvPr/>
        </p:nvSpPr>
        <p:spPr>
          <a:xfrm>
            <a:off x="6720840" y="3108960"/>
            <a:ext cx="4828031" cy="502920"/>
          </a:xfrm>
          <a:prstGeom prst="rect">
            <a:avLst/>
          </a:prstGeom>
          <a:noFill/>
        </p:spPr>
        <p:txBody>
          <a:bodyPr wrap="square" lIns="45720" tIns="27432" rIns="45720" bIns="27432" anchor="t">
            <a:spAutoFit/>
          </a:bodyPr>
          <a:lstStyle/>
          <a:p>
            <a:pPr algn="l">
              <a:spcAft>
                <a:spcPts val="200"/>
              </a:spcAft>
            </a:pPr>
            <a:r>
              <a:rPr sz="1100" b="0" i="0">
                <a:solidFill>
                  <a:srgbClr val="1F2933"/>
                </a:solidFill>
                <a:latin typeface="Aptos"/>
              </a:rPr>
              <a:t>Floor area of that same footprint in square metres. It is a single number stored in the plan. Example: 110 m². </a:t>
            </a:r>
            <a:r>
              <a:rPr sz="1100" b="0" i="0">
                <a:solidFill>
                  <a:srgbClr val="5B6770"/>
                </a:solidFill>
                <a:latin typeface="Aptos"/>
              </a:rPr>
              <a:t>Do not use net_area: it is 0 in 32% of plans.</a:t>
            </a:r>
          </a:p>
        </p:txBody>
      </p:sp>
      <p:sp>
        <p:nvSpPr>
          <p:cNvPr id="44" name="Rounded Rectangle 43"/>
          <p:cNvSpPr/>
          <p:nvPr/>
        </p:nvSpPr>
        <p:spPr>
          <a:xfrm>
            <a:off x="6537960" y="3739896"/>
            <a:ext cx="5193792" cy="2432304"/>
          </a:xfrm>
          <a:prstGeom prst="roundRect">
            <a:avLst>
              <a:gd name="adj" fmla="val 3000"/>
            </a:avLst>
          </a:prstGeom>
          <a:solidFill>
            <a:srgbClr val="FFFFFF"/>
          </a:solidFill>
          <a:ln w="19050">
            <a:solidFill>
              <a:srgbClr val="1F5FBF"/>
            </a:solidFill>
          </a:ln>
        </p:spPr>
        <p:txBody>
          <a:bodyPr rtlCol="0" anchor="ctr"/>
          <a:lstStyle/>
          <a:p>
            <a:pPr algn="ctr"/>
            <a:endParaRPr/>
          </a:p>
        </p:txBody>
      </p:sp>
      <p:sp>
        <p:nvSpPr>
          <p:cNvPr id="45" name="TextBox 44"/>
          <p:cNvSpPr txBox="1"/>
          <p:nvPr/>
        </p:nvSpPr>
        <p:spPr>
          <a:xfrm>
            <a:off x="6720840" y="3785615"/>
            <a:ext cx="4828031" cy="310896"/>
          </a:xfrm>
          <a:prstGeom prst="rect">
            <a:avLst/>
          </a:prstGeom>
          <a:noFill/>
        </p:spPr>
        <p:txBody>
          <a:bodyPr wrap="square" lIns="45720" tIns="27432" rIns="45720" bIns="27432" anchor="t">
            <a:spAutoFit/>
          </a:bodyPr>
          <a:lstStyle/>
          <a:p>
            <a:pPr algn="l">
              <a:spcAft>
                <a:spcPts val="0"/>
              </a:spcAft>
            </a:pPr>
            <a:r>
              <a:rPr sz="1300" b="1" i="0">
                <a:solidFill>
                  <a:srgbClr val="1F2933"/>
                </a:solidFill>
                <a:latin typeface="Aptos"/>
              </a:rPr>
              <a:t>Scale = drawing units per metre</a:t>
            </a:r>
          </a:p>
        </p:txBody>
      </p:sp>
      <p:sp>
        <p:nvSpPr>
          <p:cNvPr id="46" name="TextBox 45"/>
          <p:cNvSpPr txBox="1"/>
          <p:nvPr/>
        </p:nvSpPr>
        <p:spPr>
          <a:xfrm>
            <a:off x="6720840" y="4114800"/>
            <a:ext cx="4828031" cy="365760"/>
          </a:xfrm>
          <a:prstGeom prst="rect">
            <a:avLst/>
          </a:prstGeom>
          <a:noFill/>
        </p:spPr>
        <p:txBody>
          <a:bodyPr wrap="square" lIns="45720" tIns="27432" rIns="45720" bIns="27432" anchor="t">
            <a:spAutoFit/>
          </a:bodyPr>
          <a:lstStyle/>
          <a:p>
            <a:pPr algn="l">
              <a:spcAft>
                <a:spcPts val="0"/>
              </a:spcAft>
            </a:pPr>
            <a:r>
              <a:rPr sz="2000" b="1" i="0">
                <a:solidFill>
                  <a:srgbClr val="1F5FBF"/>
                </a:solidFill>
                <a:latin typeface="Aptos"/>
              </a:rPr>
              <a:t>scale = sqrt( inner.area / area )</a:t>
            </a:r>
          </a:p>
        </p:txBody>
      </p:sp>
      <p:sp>
        <p:nvSpPr>
          <p:cNvPr id="47" name="TextBox 46"/>
          <p:cNvSpPr txBox="1"/>
          <p:nvPr/>
        </p:nvSpPr>
        <p:spPr>
          <a:xfrm>
            <a:off x="6720840" y="4507992"/>
            <a:ext cx="4828031" cy="274320"/>
          </a:xfrm>
          <a:prstGeom prst="rect">
            <a:avLst/>
          </a:prstGeom>
          <a:noFill/>
        </p:spPr>
        <p:txBody>
          <a:bodyPr wrap="square" lIns="45720" tIns="27432" rIns="45720" bIns="27432" anchor="t">
            <a:spAutoFit/>
          </a:bodyPr>
          <a:lstStyle/>
          <a:p>
            <a:pPr algn="l">
              <a:spcAft>
                <a:spcPts val="0"/>
              </a:spcAft>
            </a:pPr>
            <a:r>
              <a:rPr sz="1200" b="0" i="0">
                <a:solidFill>
                  <a:srgbClr val="1F2933"/>
                </a:solidFill>
                <a:latin typeface="Aptos"/>
              </a:rPr>
              <a:t>= sqrt( 36,000 / 110 )  ≈  18.1 units per metre</a:t>
            </a:r>
          </a:p>
        </p:txBody>
      </p:sp>
      <p:sp>
        <p:nvSpPr>
          <p:cNvPr id="48" name="Rectangle 47"/>
          <p:cNvSpPr/>
          <p:nvPr/>
        </p:nvSpPr>
        <p:spPr>
          <a:xfrm>
            <a:off x="6766560" y="4846320"/>
            <a:ext cx="4736592" cy="10972"/>
          </a:xfrm>
          <a:prstGeom prst="rect">
            <a:avLst/>
          </a:prstGeom>
          <a:solidFill>
            <a:srgbClr val="CBD2D9"/>
          </a:solidFill>
          <a:ln>
            <a:noFill/>
          </a:ln>
        </p:spPr>
        <p:txBody>
          <a:bodyPr rtlCol="0" anchor="ctr"/>
          <a:lstStyle/>
          <a:p>
            <a:pPr algn="ctr"/>
            <a:endParaRPr/>
          </a:p>
        </p:txBody>
      </p:sp>
      <p:sp>
        <p:nvSpPr>
          <p:cNvPr id="49" name="TextBox 48"/>
          <p:cNvSpPr txBox="1"/>
          <p:nvPr/>
        </p:nvSpPr>
        <p:spPr>
          <a:xfrm>
            <a:off x="6720840" y="4901184"/>
            <a:ext cx="4828031" cy="914400"/>
          </a:xfrm>
          <a:prstGeom prst="rect">
            <a:avLst/>
          </a:prstGeom>
          <a:noFill/>
        </p:spPr>
        <p:txBody>
          <a:bodyPr wrap="square" lIns="45720" tIns="27432" rIns="45720" bIns="27432" anchor="t">
            <a:spAutoFit/>
          </a:bodyPr>
          <a:lstStyle/>
          <a:p>
            <a:pPr algn="l">
              <a:spcAft>
                <a:spcPts val="100"/>
              </a:spcAft>
            </a:pPr>
            <a:r>
              <a:rPr sz="1100" b="1" i="0">
                <a:solidFill>
                  <a:srgbClr val="1F2933"/>
                </a:solidFill>
                <a:latin typeface="Aptos"/>
              </a:rPr>
              <a:t>Convert once per plan, before any limit or clearance check.</a:t>
            </a:r>
          </a:p>
          <a:p>
            <a:pPr algn="l">
              <a:spcAft>
                <a:spcPts val="100"/>
              </a:spcAft>
            </a:pPr>
            <a:r>
              <a:rPr sz="1100" b="0" i="0">
                <a:solidFill>
                  <a:srgbClr val="1F2933"/>
                </a:solidFill>
                <a:latin typeface="Aptos"/>
              </a:rPr>
              <a:t>•  Length:  metres = units ÷ scale   (90 units ≈ 5.0 m)</a:t>
            </a:r>
          </a:p>
          <a:p>
            <a:pPr algn="l">
              <a:spcAft>
                <a:spcPts val="100"/>
              </a:spcAft>
            </a:pPr>
            <a:r>
              <a:rPr sz="1100" b="0" i="0">
                <a:solidFill>
                  <a:srgbClr val="1F2933"/>
                </a:solidFill>
                <a:latin typeface="Aptos"/>
              </a:rPr>
              <a:t>•  Area:  m² = units² ÷ scale²   (100 m² = 32,700 units² here)</a:t>
            </a:r>
          </a:p>
          <a:p>
            <a:pPr algn="l">
              <a:spcAft>
                <a:spcPts val="100"/>
              </a:spcAft>
            </a:pPr>
            <a:r>
              <a:rPr sz="1100" b="0" i="0">
                <a:solidFill>
                  <a:srgbClr val="1F2933"/>
                </a:solidFill>
                <a:latin typeface="Aptos"/>
              </a:rPr>
              <a:t>•  Clearance:  0.5 m = 9.0 units here</a:t>
            </a:r>
          </a:p>
        </p:txBody>
      </p:sp>
      <p:sp>
        <p:nvSpPr>
          <p:cNvPr id="50" name="Rectangle 49"/>
          <p:cNvSpPr/>
          <p:nvPr/>
        </p:nvSpPr>
        <p:spPr>
          <a:xfrm>
            <a:off x="6766560" y="5788152"/>
            <a:ext cx="4736592" cy="274320"/>
          </a:xfrm>
          <a:prstGeom prst="rect">
            <a:avLst/>
          </a:prstGeom>
          <a:solidFill>
            <a:srgbClr val="F3F5F7"/>
          </a:solidFill>
          <a:ln w="6350">
            <a:solidFill>
              <a:srgbClr val="CBD2D9"/>
            </a:solidFill>
          </a:ln>
        </p:spPr>
        <p:txBody>
          <a:bodyPr rtlCol="0" anchor="ctr"/>
          <a:lstStyle/>
          <a:p>
            <a:pPr algn="ctr"/>
            <a:endParaRPr/>
          </a:p>
        </p:txBody>
      </p:sp>
      <p:sp>
        <p:nvSpPr>
          <p:cNvPr id="51" name="TextBox 50"/>
          <p:cNvSpPr txBox="1"/>
          <p:nvPr/>
        </p:nvSpPr>
        <p:spPr>
          <a:xfrm>
            <a:off x="6812280" y="5797296"/>
            <a:ext cx="4645152" cy="256032"/>
          </a:xfrm>
          <a:prstGeom prst="rect">
            <a:avLst/>
          </a:prstGeom>
          <a:noFill/>
        </p:spPr>
        <p:txBody>
          <a:bodyPr wrap="square" lIns="27432" tIns="0" rIns="27432" bIns="0" anchor="ctr">
            <a:spAutoFit/>
          </a:bodyPr>
          <a:lstStyle/>
          <a:p>
            <a:pPr algn="l">
              <a:spcAft>
                <a:spcPts val="0"/>
              </a:spcAft>
            </a:pPr>
            <a:r>
              <a:rPr sz="1050" b="0" i="0">
                <a:solidFill>
                  <a:srgbClr val="1F2933"/>
                </a:solidFill>
                <a:latin typeface="Consolas"/>
              </a:rPr>
              <a:t>scale = (plan["inner"].area / plan["area"]) ** 0.5</a:t>
            </a:r>
          </a:p>
        </p:txBody>
      </p:sp>
      <p:sp>
        <p:nvSpPr>
          <p:cNvPr id="52" name="TextBox 51"/>
          <p:cNvSpPr txBox="1"/>
          <p:nvPr/>
        </p:nvSpPr>
        <p:spPr>
          <a:xfrm>
            <a:off x="6675120" y="6492240"/>
            <a:ext cx="5056632" cy="274320"/>
          </a:xfrm>
          <a:prstGeom prst="rect">
            <a:avLst/>
          </a:prstGeom>
          <a:noFill/>
        </p:spPr>
        <p:txBody>
          <a:bodyPr wrap="square" lIns="45720" tIns="27432" rIns="45720" bIns="27432" anchor="t">
            <a:spAutoFit/>
          </a:bodyPr>
          <a:lstStyle/>
          <a:p>
            <a:pPr algn="r">
              <a:spcAft>
                <a:spcPts val="0"/>
              </a:spcAft>
            </a:pPr>
            <a:r>
              <a:rPr sz="1000" b="0" i="0">
                <a:solidFill>
                  <a:srgbClr val="5B6770"/>
                </a:solidFill>
                <a:latin typeface="Aptos"/>
              </a:rPr>
              <a:t>UR Hackathon 2026H2  |  Problem statement  |  4 / 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6032"/>
            <a:ext cx="11274552" cy="566928"/>
          </a:xfrm>
        </p:spPr>
        <p:txBody>
          <a:bodyPr wrap="square" lIns="45720" anchor="ctr"/>
          <a:lstStyle/>
          <a:p>
            <a:pPr algn="l"/>
            <a:r>
              <a:rPr sz="2800" b="1">
                <a:solidFill>
                  <a:srgbClr val="1F2933"/>
                </a:solidFill>
                <a:latin typeface="Aptos"/>
              </a:rPr>
              <a:t>Expected solution: illustrative schematic</a:t>
            </a:r>
          </a:p>
        </p:txBody>
      </p:sp>
      <p:sp>
        <p:nvSpPr>
          <p:cNvPr id="3" name="TextBox 2"/>
          <p:cNvSpPr txBox="1"/>
          <p:nvPr/>
        </p:nvSpPr>
        <p:spPr>
          <a:xfrm>
            <a:off x="457200" y="822960"/>
            <a:ext cx="11274552" cy="365760"/>
          </a:xfrm>
          <a:prstGeom prst="rect">
            <a:avLst/>
          </a:prstGeom>
          <a:noFill/>
        </p:spPr>
        <p:txBody>
          <a:bodyPr wrap="square" lIns="45720" tIns="27432" rIns="45720" bIns="27432" anchor="t">
            <a:spAutoFit/>
          </a:bodyPr>
          <a:lstStyle/>
          <a:p>
            <a:pPr algn="l">
              <a:spcAft>
                <a:spcPts val="0"/>
              </a:spcAft>
            </a:pPr>
            <a:r>
              <a:rPr sz="1400" b="0" i="0">
                <a:solidFill>
                  <a:srgbClr val="5B6770"/>
                </a:solidFill>
                <a:latin typeface="Aptos"/>
              </a:rPr>
              <a:t>Invented 6-room layout, not a ResPlan plan. Two zones, each with one hub and one ring that returns to it.</a:t>
            </a:r>
          </a:p>
        </p:txBody>
      </p:sp>
      <p:sp>
        <p:nvSpPr>
          <p:cNvPr id="4" name="Rectangle 3"/>
          <p:cNvSpPr/>
          <p:nvPr/>
        </p:nvSpPr>
        <p:spPr>
          <a:xfrm>
            <a:off x="502920" y="1243584"/>
            <a:ext cx="1097280" cy="45720"/>
          </a:xfrm>
          <a:prstGeom prst="rect">
            <a:avLst/>
          </a:prstGeom>
          <a:solidFill>
            <a:srgbClr val="C8102E"/>
          </a:solidFill>
          <a:ln>
            <a:noFill/>
          </a:ln>
        </p:spPr>
        <p:txBody>
          <a:bodyPr rtlCol="0" anchor="ctr"/>
          <a:lstStyle/>
          <a:p>
            <a:pPr algn="ctr"/>
            <a:endParaRPr/>
          </a:p>
        </p:txBody>
      </p:sp>
      <p:sp>
        <p:nvSpPr>
          <p:cNvPr id="5" name="TextBox 4"/>
          <p:cNvSpPr txBox="1"/>
          <p:nvPr/>
        </p:nvSpPr>
        <p:spPr>
          <a:xfrm>
            <a:off x="6675120" y="6492240"/>
            <a:ext cx="5056632" cy="274320"/>
          </a:xfrm>
          <a:prstGeom prst="rect">
            <a:avLst/>
          </a:prstGeom>
          <a:noFill/>
        </p:spPr>
        <p:txBody>
          <a:bodyPr wrap="square" lIns="45720" tIns="27432" rIns="45720" bIns="27432" anchor="t">
            <a:spAutoFit/>
          </a:bodyPr>
          <a:lstStyle/>
          <a:p>
            <a:pPr algn="r">
              <a:spcAft>
                <a:spcPts val="0"/>
              </a:spcAft>
            </a:pPr>
            <a:r>
              <a:rPr sz="1000" b="0" i="0">
                <a:solidFill>
                  <a:srgbClr val="5B6770"/>
                </a:solidFill>
                <a:latin typeface="Aptos"/>
              </a:rPr>
              <a:t>UR Hackathon 2026H2  |  Problem statement  |  5 / 8</a:t>
            </a:r>
          </a:p>
        </p:txBody>
      </p:sp>
      <p:sp>
        <p:nvSpPr>
          <p:cNvPr id="6" name="TextBox 5"/>
          <p:cNvSpPr txBox="1"/>
          <p:nvPr/>
        </p:nvSpPr>
        <p:spPr>
          <a:xfrm>
            <a:off x="457200" y="6492240"/>
            <a:ext cx="6400800" cy="274320"/>
          </a:xfrm>
          <a:prstGeom prst="rect">
            <a:avLst/>
          </a:prstGeom>
          <a:noFill/>
        </p:spPr>
        <p:txBody>
          <a:bodyPr wrap="square" lIns="45720" tIns="27432" rIns="45720" bIns="27432" anchor="t">
            <a:spAutoFit/>
          </a:bodyPr>
          <a:lstStyle/>
          <a:p>
            <a:pPr algn="l">
              <a:spcAft>
                <a:spcPts val="0"/>
              </a:spcAft>
            </a:pPr>
            <a:r>
              <a:rPr sz="1000" b="0" i="0">
                <a:solidFill>
                  <a:srgbClr val="5B6770"/>
                </a:solidFill>
                <a:latin typeface="Aptos"/>
              </a:rPr>
              <a:t>Research exercise: results are not a building-services design.</a:t>
            </a:r>
          </a:p>
        </p:txBody>
      </p:sp>
      <p:sp>
        <p:nvSpPr>
          <p:cNvPr id="7" name="Rectangle 6"/>
          <p:cNvSpPr/>
          <p:nvPr/>
        </p:nvSpPr>
        <p:spPr>
          <a:xfrm>
            <a:off x="502920" y="1508760"/>
            <a:ext cx="2121408" cy="2121408"/>
          </a:xfrm>
          <a:prstGeom prst="rect">
            <a:avLst/>
          </a:prstGeom>
          <a:solidFill>
            <a:srgbClr val="DCE8F8"/>
          </a:solidFill>
          <a:ln>
            <a:noFill/>
          </a:ln>
        </p:spPr>
        <p:txBody>
          <a:bodyPr rtlCol="0" anchor="ctr"/>
          <a:lstStyle/>
          <a:p>
            <a:pPr algn="ctr"/>
            <a:endParaRPr/>
          </a:p>
        </p:txBody>
      </p:sp>
      <p:sp>
        <p:nvSpPr>
          <p:cNvPr id="8" name="Rectangle 7"/>
          <p:cNvSpPr/>
          <p:nvPr/>
        </p:nvSpPr>
        <p:spPr>
          <a:xfrm>
            <a:off x="2624328" y="1508760"/>
            <a:ext cx="2121408" cy="2121408"/>
          </a:xfrm>
          <a:prstGeom prst="rect">
            <a:avLst/>
          </a:prstGeom>
          <a:solidFill>
            <a:srgbClr val="FBE5CF"/>
          </a:solidFill>
          <a:ln>
            <a:noFill/>
          </a:ln>
        </p:spPr>
        <p:txBody>
          <a:bodyPr rtlCol="0" anchor="ctr"/>
          <a:lstStyle/>
          <a:p>
            <a:pPr algn="ctr"/>
            <a:endParaRPr/>
          </a:p>
        </p:txBody>
      </p:sp>
      <p:sp>
        <p:nvSpPr>
          <p:cNvPr id="9" name="Rectangle 8"/>
          <p:cNvSpPr/>
          <p:nvPr/>
        </p:nvSpPr>
        <p:spPr>
          <a:xfrm>
            <a:off x="4745736" y="1508760"/>
            <a:ext cx="2121408" cy="2121408"/>
          </a:xfrm>
          <a:prstGeom prst="rect">
            <a:avLst/>
          </a:prstGeom>
          <a:solidFill>
            <a:srgbClr val="FBE5CF"/>
          </a:solidFill>
          <a:ln>
            <a:noFill/>
          </a:ln>
        </p:spPr>
        <p:txBody>
          <a:bodyPr rtlCol="0" anchor="ctr"/>
          <a:lstStyle/>
          <a:p>
            <a:pPr algn="ctr"/>
            <a:endParaRPr/>
          </a:p>
        </p:txBody>
      </p:sp>
      <p:sp>
        <p:nvSpPr>
          <p:cNvPr id="10" name="Rectangle 9"/>
          <p:cNvSpPr/>
          <p:nvPr/>
        </p:nvSpPr>
        <p:spPr>
          <a:xfrm>
            <a:off x="6867143" y="1508760"/>
            <a:ext cx="1060704" cy="2121408"/>
          </a:xfrm>
          <a:prstGeom prst="rect">
            <a:avLst/>
          </a:prstGeom>
          <a:solidFill>
            <a:srgbClr val="E3E5E8"/>
          </a:solidFill>
          <a:ln>
            <a:noFill/>
          </a:ln>
        </p:spPr>
        <p:txBody>
          <a:bodyPr rtlCol="0" anchor="ctr"/>
          <a:lstStyle/>
          <a:p>
            <a:pPr algn="ctr"/>
            <a:endParaRPr/>
          </a:p>
        </p:txBody>
      </p:sp>
      <p:sp>
        <p:nvSpPr>
          <p:cNvPr id="11" name="Rectangle 10"/>
          <p:cNvSpPr/>
          <p:nvPr/>
        </p:nvSpPr>
        <p:spPr>
          <a:xfrm>
            <a:off x="502920" y="3630168"/>
            <a:ext cx="1591055" cy="2651760"/>
          </a:xfrm>
          <a:prstGeom prst="rect">
            <a:avLst/>
          </a:prstGeom>
          <a:solidFill>
            <a:srgbClr val="DCE8F8"/>
          </a:solidFill>
          <a:ln>
            <a:noFill/>
          </a:ln>
        </p:spPr>
        <p:txBody>
          <a:bodyPr rtlCol="0" anchor="ctr"/>
          <a:lstStyle/>
          <a:p>
            <a:pPr algn="ctr"/>
            <a:endParaRPr/>
          </a:p>
        </p:txBody>
      </p:sp>
      <p:sp>
        <p:nvSpPr>
          <p:cNvPr id="12" name="Rectangle 11"/>
          <p:cNvSpPr/>
          <p:nvPr/>
        </p:nvSpPr>
        <p:spPr>
          <a:xfrm>
            <a:off x="2093976" y="3630168"/>
            <a:ext cx="4242816" cy="2651760"/>
          </a:xfrm>
          <a:prstGeom prst="rect">
            <a:avLst/>
          </a:prstGeom>
          <a:solidFill>
            <a:srgbClr val="DCE8F8"/>
          </a:solidFill>
          <a:ln>
            <a:noFill/>
          </a:ln>
        </p:spPr>
        <p:txBody>
          <a:bodyPr rtlCol="0" anchor="ctr"/>
          <a:lstStyle/>
          <a:p>
            <a:pPr algn="ctr"/>
            <a:endParaRPr/>
          </a:p>
        </p:txBody>
      </p:sp>
      <p:sp>
        <p:nvSpPr>
          <p:cNvPr id="13" name="Rectangle 12"/>
          <p:cNvSpPr/>
          <p:nvPr/>
        </p:nvSpPr>
        <p:spPr>
          <a:xfrm>
            <a:off x="6336792" y="3630168"/>
            <a:ext cx="1591055" cy="2651760"/>
          </a:xfrm>
          <a:prstGeom prst="rect">
            <a:avLst/>
          </a:prstGeom>
          <a:solidFill>
            <a:srgbClr val="FBE5CF"/>
          </a:solidFill>
          <a:ln>
            <a:noFill/>
          </a:ln>
        </p:spPr>
        <p:txBody>
          <a:bodyPr rtlCol="0" anchor="ctr"/>
          <a:lstStyle/>
          <a:p>
            <a:pPr algn="ctr"/>
            <a:endParaRPr/>
          </a:p>
        </p:txBody>
      </p:sp>
      <p:sp>
        <p:nvSpPr>
          <p:cNvPr id="14" name="TextBox 13"/>
          <p:cNvSpPr txBox="1"/>
          <p:nvPr/>
        </p:nvSpPr>
        <p:spPr>
          <a:xfrm>
            <a:off x="555955" y="1561795"/>
            <a:ext cx="1188720" cy="365760"/>
          </a:xfrm>
          <a:prstGeom prst="rect">
            <a:avLst/>
          </a:prstGeom>
          <a:noFill/>
        </p:spPr>
        <p:txBody>
          <a:bodyPr wrap="square" lIns="18288" tIns="0" rIns="0" bIns="0" anchor="t">
            <a:spAutoFit/>
          </a:bodyPr>
          <a:lstStyle/>
          <a:p>
            <a:pPr algn="l">
              <a:spcAft>
                <a:spcPts val="0"/>
              </a:spcAft>
            </a:pPr>
            <a:r>
              <a:rPr sz="950" b="1" i="0">
                <a:solidFill>
                  <a:srgbClr val="1F2933"/>
                </a:solidFill>
                <a:latin typeface="Aptos"/>
              </a:rPr>
              <a:t>Bedroom 1</a:t>
            </a:r>
          </a:p>
          <a:p>
            <a:pPr algn="l">
              <a:spcAft>
                <a:spcPts val="0"/>
              </a:spcAft>
            </a:pPr>
            <a:r>
              <a:rPr sz="900" b="0" i="0">
                <a:solidFill>
                  <a:srgbClr val="5B6770"/>
                </a:solidFill>
                <a:latin typeface="Aptos"/>
              </a:rPr>
              <a:t>16 m²</a:t>
            </a:r>
          </a:p>
        </p:txBody>
      </p:sp>
      <p:sp>
        <p:nvSpPr>
          <p:cNvPr id="15" name="TextBox 14"/>
          <p:cNvSpPr txBox="1"/>
          <p:nvPr/>
        </p:nvSpPr>
        <p:spPr>
          <a:xfrm>
            <a:off x="2677363" y="1561795"/>
            <a:ext cx="1188720" cy="365760"/>
          </a:xfrm>
          <a:prstGeom prst="rect">
            <a:avLst/>
          </a:prstGeom>
          <a:noFill/>
        </p:spPr>
        <p:txBody>
          <a:bodyPr wrap="square" lIns="18288" tIns="0" rIns="0" bIns="0" anchor="t">
            <a:spAutoFit/>
          </a:bodyPr>
          <a:lstStyle/>
          <a:p>
            <a:pPr algn="l">
              <a:spcAft>
                <a:spcPts val="0"/>
              </a:spcAft>
            </a:pPr>
            <a:r>
              <a:rPr sz="950" b="1" i="0">
                <a:solidFill>
                  <a:srgbClr val="1F2933"/>
                </a:solidFill>
                <a:latin typeface="Aptos"/>
              </a:rPr>
              <a:t>Bedroom 2</a:t>
            </a:r>
          </a:p>
          <a:p>
            <a:pPr algn="l">
              <a:spcAft>
                <a:spcPts val="0"/>
              </a:spcAft>
            </a:pPr>
            <a:r>
              <a:rPr sz="900" b="0" i="0">
                <a:solidFill>
                  <a:srgbClr val="5B6770"/>
                </a:solidFill>
                <a:latin typeface="Aptos"/>
              </a:rPr>
              <a:t>16 m²</a:t>
            </a:r>
          </a:p>
        </p:txBody>
      </p:sp>
      <p:sp>
        <p:nvSpPr>
          <p:cNvPr id="16" name="TextBox 15"/>
          <p:cNvSpPr txBox="1"/>
          <p:nvPr/>
        </p:nvSpPr>
        <p:spPr>
          <a:xfrm>
            <a:off x="4798771" y="1561795"/>
            <a:ext cx="1188720" cy="365760"/>
          </a:xfrm>
          <a:prstGeom prst="rect">
            <a:avLst/>
          </a:prstGeom>
          <a:noFill/>
        </p:spPr>
        <p:txBody>
          <a:bodyPr wrap="square" lIns="18288" tIns="0" rIns="0" bIns="0" anchor="t">
            <a:spAutoFit/>
          </a:bodyPr>
          <a:lstStyle/>
          <a:p>
            <a:pPr algn="l">
              <a:spcAft>
                <a:spcPts val="0"/>
              </a:spcAft>
            </a:pPr>
            <a:r>
              <a:rPr sz="950" b="1" i="0">
                <a:solidFill>
                  <a:srgbClr val="1F2933"/>
                </a:solidFill>
                <a:latin typeface="Aptos"/>
              </a:rPr>
              <a:t>Kitchen</a:t>
            </a:r>
          </a:p>
          <a:p>
            <a:pPr algn="l">
              <a:spcAft>
                <a:spcPts val="0"/>
              </a:spcAft>
            </a:pPr>
            <a:r>
              <a:rPr sz="900" b="0" i="0">
                <a:solidFill>
                  <a:srgbClr val="5B6770"/>
                </a:solidFill>
                <a:latin typeface="Aptos"/>
              </a:rPr>
              <a:t>16 m²</a:t>
            </a:r>
          </a:p>
        </p:txBody>
      </p:sp>
      <p:sp>
        <p:nvSpPr>
          <p:cNvPr id="17" name="TextBox 16"/>
          <p:cNvSpPr txBox="1"/>
          <p:nvPr/>
        </p:nvSpPr>
        <p:spPr>
          <a:xfrm>
            <a:off x="6893661" y="1880006"/>
            <a:ext cx="1188720" cy="365760"/>
          </a:xfrm>
          <a:prstGeom prst="rect">
            <a:avLst/>
          </a:prstGeom>
          <a:noFill/>
        </p:spPr>
        <p:txBody>
          <a:bodyPr wrap="square" lIns="18288" tIns="0" rIns="0" bIns="0" anchor="t">
            <a:spAutoFit/>
          </a:bodyPr>
          <a:lstStyle/>
          <a:p>
            <a:pPr algn="l">
              <a:spcAft>
                <a:spcPts val="0"/>
              </a:spcAft>
            </a:pPr>
            <a:r>
              <a:rPr sz="950" b="1" i="0">
                <a:solidFill>
                  <a:srgbClr val="1F2933"/>
                </a:solidFill>
                <a:latin typeface="Aptos"/>
              </a:rPr>
              <a:t>Bathroom</a:t>
            </a:r>
          </a:p>
          <a:p>
            <a:pPr algn="l">
              <a:spcAft>
                <a:spcPts val="0"/>
              </a:spcAft>
            </a:pPr>
            <a:r>
              <a:rPr sz="900" b="0" i="0">
                <a:solidFill>
                  <a:srgbClr val="5B6770"/>
                </a:solidFill>
                <a:latin typeface="Aptos"/>
              </a:rPr>
              <a:t>no node</a:t>
            </a:r>
          </a:p>
        </p:txBody>
      </p:sp>
      <p:sp>
        <p:nvSpPr>
          <p:cNvPr id="18" name="TextBox 17"/>
          <p:cNvSpPr txBox="1"/>
          <p:nvPr/>
        </p:nvSpPr>
        <p:spPr>
          <a:xfrm>
            <a:off x="555955" y="5751575"/>
            <a:ext cx="1188720" cy="365760"/>
          </a:xfrm>
          <a:prstGeom prst="rect">
            <a:avLst/>
          </a:prstGeom>
          <a:noFill/>
        </p:spPr>
        <p:txBody>
          <a:bodyPr wrap="square" lIns="18288" tIns="0" rIns="0" bIns="0" anchor="t">
            <a:spAutoFit/>
          </a:bodyPr>
          <a:lstStyle/>
          <a:p>
            <a:pPr algn="l">
              <a:spcAft>
                <a:spcPts val="0"/>
              </a:spcAft>
            </a:pPr>
            <a:r>
              <a:rPr sz="950" b="1" i="0">
                <a:solidFill>
                  <a:srgbClr val="1F2933"/>
                </a:solidFill>
                <a:latin typeface="Aptos"/>
              </a:rPr>
              <a:t>Bedroom 3</a:t>
            </a:r>
          </a:p>
          <a:p>
            <a:pPr algn="l">
              <a:spcAft>
                <a:spcPts val="0"/>
              </a:spcAft>
            </a:pPr>
            <a:r>
              <a:rPr sz="900" b="0" i="0">
                <a:solidFill>
                  <a:srgbClr val="5B6770"/>
                </a:solidFill>
                <a:latin typeface="Aptos"/>
              </a:rPr>
              <a:t>15 m²</a:t>
            </a:r>
          </a:p>
        </p:txBody>
      </p:sp>
      <p:sp>
        <p:nvSpPr>
          <p:cNvPr id="19" name="TextBox 18"/>
          <p:cNvSpPr txBox="1"/>
          <p:nvPr/>
        </p:nvSpPr>
        <p:spPr>
          <a:xfrm>
            <a:off x="4957876" y="5751575"/>
            <a:ext cx="1188720" cy="365760"/>
          </a:xfrm>
          <a:prstGeom prst="rect">
            <a:avLst/>
          </a:prstGeom>
          <a:noFill/>
        </p:spPr>
        <p:txBody>
          <a:bodyPr wrap="square" lIns="18288" tIns="0" rIns="0" bIns="0" anchor="t">
            <a:spAutoFit/>
          </a:bodyPr>
          <a:lstStyle/>
          <a:p>
            <a:pPr algn="l">
              <a:spcAft>
                <a:spcPts val="0"/>
              </a:spcAft>
            </a:pPr>
            <a:r>
              <a:rPr sz="950" b="1" i="0">
                <a:solidFill>
                  <a:srgbClr val="1F2933"/>
                </a:solidFill>
                <a:latin typeface="Aptos"/>
              </a:rPr>
              <a:t>Living</a:t>
            </a:r>
          </a:p>
          <a:p>
            <a:pPr algn="l">
              <a:spcAft>
                <a:spcPts val="0"/>
              </a:spcAft>
            </a:pPr>
            <a:r>
              <a:rPr sz="900" b="0" i="0">
                <a:solidFill>
                  <a:srgbClr val="5B6770"/>
                </a:solidFill>
                <a:latin typeface="Aptos"/>
              </a:rPr>
              <a:t>40 m²</a:t>
            </a:r>
          </a:p>
        </p:txBody>
      </p:sp>
      <p:sp>
        <p:nvSpPr>
          <p:cNvPr id="20" name="TextBox 19"/>
          <p:cNvSpPr txBox="1"/>
          <p:nvPr/>
        </p:nvSpPr>
        <p:spPr>
          <a:xfrm>
            <a:off x="6867143" y="3736238"/>
            <a:ext cx="1188720" cy="365760"/>
          </a:xfrm>
          <a:prstGeom prst="rect">
            <a:avLst/>
          </a:prstGeom>
          <a:noFill/>
        </p:spPr>
        <p:txBody>
          <a:bodyPr wrap="square" lIns="18288" tIns="0" rIns="0" bIns="0" anchor="t">
            <a:spAutoFit/>
          </a:bodyPr>
          <a:lstStyle/>
          <a:p>
            <a:pPr algn="l">
              <a:spcAft>
                <a:spcPts val="0"/>
              </a:spcAft>
            </a:pPr>
            <a:r>
              <a:rPr sz="950" b="1" i="0">
                <a:solidFill>
                  <a:srgbClr val="1F2933"/>
                </a:solidFill>
                <a:latin typeface="Aptos"/>
              </a:rPr>
              <a:t>Storage</a:t>
            </a:r>
          </a:p>
          <a:p>
            <a:pPr algn="l">
              <a:spcAft>
                <a:spcPts val="0"/>
              </a:spcAft>
            </a:pPr>
            <a:r>
              <a:rPr sz="900" b="0" i="0">
                <a:solidFill>
                  <a:srgbClr val="5B6770"/>
                </a:solidFill>
                <a:latin typeface="Aptos"/>
              </a:rPr>
              <a:t>15 m²</a:t>
            </a:r>
          </a:p>
        </p:txBody>
      </p:sp>
      <p:cxnSp>
        <p:nvCxnSpPr>
          <p:cNvPr id="21" name="Connector 20"/>
          <p:cNvCxnSpPr/>
          <p:nvPr/>
        </p:nvCxnSpPr>
        <p:spPr>
          <a:xfrm>
            <a:off x="502920" y="6281927"/>
            <a:ext cx="2227478" cy="0"/>
          </a:xfrm>
          <a:prstGeom prst="line">
            <a:avLst/>
          </a:prstGeom>
          <a:ln w="57150">
            <a:solidFill>
              <a:srgbClr val="3A3F45"/>
            </a:solidFill>
          </a:ln>
        </p:spPr>
      </p:cxnSp>
      <p:cxnSp>
        <p:nvCxnSpPr>
          <p:cNvPr id="22" name="Connector 21"/>
          <p:cNvCxnSpPr/>
          <p:nvPr/>
        </p:nvCxnSpPr>
        <p:spPr>
          <a:xfrm>
            <a:off x="3154680" y="6281927"/>
            <a:ext cx="4773168" cy="0"/>
          </a:xfrm>
          <a:prstGeom prst="line">
            <a:avLst/>
          </a:prstGeom>
          <a:ln w="57150">
            <a:solidFill>
              <a:srgbClr val="3A3F45"/>
            </a:solidFill>
          </a:ln>
        </p:spPr>
      </p:cxnSp>
      <p:cxnSp>
        <p:nvCxnSpPr>
          <p:cNvPr id="23" name="Connector 22"/>
          <p:cNvCxnSpPr/>
          <p:nvPr/>
        </p:nvCxnSpPr>
        <p:spPr>
          <a:xfrm>
            <a:off x="502920" y="1508760"/>
            <a:ext cx="7424928" cy="0"/>
          </a:xfrm>
          <a:prstGeom prst="line">
            <a:avLst/>
          </a:prstGeom>
          <a:ln w="57150">
            <a:solidFill>
              <a:srgbClr val="3A3F45"/>
            </a:solidFill>
          </a:ln>
        </p:spPr>
      </p:cxnSp>
      <p:cxnSp>
        <p:nvCxnSpPr>
          <p:cNvPr id="24" name="Connector 23"/>
          <p:cNvCxnSpPr/>
          <p:nvPr/>
        </p:nvCxnSpPr>
        <p:spPr>
          <a:xfrm flipV="1">
            <a:off x="502920" y="1508760"/>
            <a:ext cx="0" cy="4773167"/>
          </a:xfrm>
          <a:prstGeom prst="line">
            <a:avLst/>
          </a:prstGeom>
          <a:ln w="57150">
            <a:solidFill>
              <a:srgbClr val="3A3F45"/>
            </a:solidFill>
          </a:ln>
        </p:spPr>
      </p:cxnSp>
      <p:cxnSp>
        <p:nvCxnSpPr>
          <p:cNvPr id="25" name="Connector 24"/>
          <p:cNvCxnSpPr/>
          <p:nvPr/>
        </p:nvCxnSpPr>
        <p:spPr>
          <a:xfrm flipV="1">
            <a:off x="7927848" y="1508760"/>
            <a:ext cx="0" cy="4773167"/>
          </a:xfrm>
          <a:prstGeom prst="line">
            <a:avLst/>
          </a:prstGeom>
          <a:ln w="57150">
            <a:solidFill>
              <a:srgbClr val="3A3F45"/>
            </a:solidFill>
          </a:ln>
        </p:spPr>
      </p:cxnSp>
      <p:cxnSp>
        <p:nvCxnSpPr>
          <p:cNvPr id="26" name="Connector 25"/>
          <p:cNvCxnSpPr/>
          <p:nvPr/>
        </p:nvCxnSpPr>
        <p:spPr>
          <a:xfrm>
            <a:off x="502920" y="3630168"/>
            <a:ext cx="530351" cy="0"/>
          </a:xfrm>
          <a:prstGeom prst="line">
            <a:avLst/>
          </a:prstGeom>
          <a:ln w="57150">
            <a:solidFill>
              <a:srgbClr val="3A3F45"/>
            </a:solidFill>
          </a:ln>
        </p:spPr>
      </p:cxnSp>
      <p:cxnSp>
        <p:nvCxnSpPr>
          <p:cNvPr id="27" name="Connector 26"/>
          <p:cNvCxnSpPr/>
          <p:nvPr/>
        </p:nvCxnSpPr>
        <p:spPr>
          <a:xfrm>
            <a:off x="1457553" y="3630168"/>
            <a:ext cx="742493" cy="0"/>
          </a:xfrm>
          <a:prstGeom prst="line">
            <a:avLst/>
          </a:prstGeom>
          <a:ln w="57150">
            <a:solidFill>
              <a:srgbClr val="3A3F45"/>
            </a:solidFill>
          </a:ln>
        </p:spPr>
      </p:cxnSp>
      <p:cxnSp>
        <p:nvCxnSpPr>
          <p:cNvPr id="28" name="Connector 27"/>
          <p:cNvCxnSpPr/>
          <p:nvPr/>
        </p:nvCxnSpPr>
        <p:spPr>
          <a:xfrm>
            <a:off x="2518257" y="3630168"/>
            <a:ext cx="3924605" cy="0"/>
          </a:xfrm>
          <a:prstGeom prst="line">
            <a:avLst/>
          </a:prstGeom>
          <a:ln w="57150">
            <a:solidFill>
              <a:srgbClr val="3A3F45"/>
            </a:solidFill>
          </a:ln>
        </p:spPr>
      </p:cxnSp>
      <p:cxnSp>
        <p:nvCxnSpPr>
          <p:cNvPr id="29" name="Connector 28"/>
          <p:cNvCxnSpPr/>
          <p:nvPr/>
        </p:nvCxnSpPr>
        <p:spPr>
          <a:xfrm>
            <a:off x="6761073" y="3630168"/>
            <a:ext cx="477317" cy="0"/>
          </a:xfrm>
          <a:prstGeom prst="line">
            <a:avLst/>
          </a:prstGeom>
          <a:ln w="57150">
            <a:solidFill>
              <a:srgbClr val="3A3F45"/>
            </a:solidFill>
          </a:ln>
        </p:spPr>
      </p:cxnSp>
      <p:cxnSp>
        <p:nvCxnSpPr>
          <p:cNvPr id="30" name="Connector 29"/>
          <p:cNvCxnSpPr/>
          <p:nvPr/>
        </p:nvCxnSpPr>
        <p:spPr>
          <a:xfrm>
            <a:off x="7556601" y="3630168"/>
            <a:ext cx="371247" cy="0"/>
          </a:xfrm>
          <a:prstGeom prst="line">
            <a:avLst/>
          </a:prstGeom>
          <a:ln w="57150">
            <a:solidFill>
              <a:srgbClr val="3A3F45"/>
            </a:solidFill>
          </a:ln>
        </p:spPr>
      </p:cxnSp>
      <p:cxnSp>
        <p:nvCxnSpPr>
          <p:cNvPr id="31" name="Connector 30"/>
          <p:cNvCxnSpPr/>
          <p:nvPr/>
        </p:nvCxnSpPr>
        <p:spPr>
          <a:xfrm flipV="1">
            <a:off x="2093976" y="5327294"/>
            <a:ext cx="0" cy="954633"/>
          </a:xfrm>
          <a:prstGeom prst="line">
            <a:avLst/>
          </a:prstGeom>
          <a:ln w="57150">
            <a:solidFill>
              <a:srgbClr val="3A3F45"/>
            </a:solidFill>
          </a:ln>
        </p:spPr>
      </p:cxnSp>
      <p:cxnSp>
        <p:nvCxnSpPr>
          <p:cNvPr id="32" name="Connector 31"/>
          <p:cNvCxnSpPr/>
          <p:nvPr/>
        </p:nvCxnSpPr>
        <p:spPr>
          <a:xfrm flipV="1">
            <a:off x="2093976" y="3630168"/>
            <a:ext cx="0" cy="1272844"/>
          </a:xfrm>
          <a:prstGeom prst="line">
            <a:avLst/>
          </a:prstGeom>
          <a:ln w="57150">
            <a:solidFill>
              <a:srgbClr val="3A3F45"/>
            </a:solidFill>
          </a:ln>
        </p:spPr>
      </p:cxnSp>
      <p:cxnSp>
        <p:nvCxnSpPr>
          <p:cNvPr id="33" name="Connector 32"/>
          <p:cNvCxnSpPr/>
          <p:nvPr/>
        </p:nvCxnSpPr>
        <p:spPr>
          <a:xfrm flipV="1">
            <a:off x="6336792" y="5327294"/>
            <a:ext cx="0" cy="954633"/>
          </a:xfrm>
          <a:prstGeom prst="line">
            <a:avLst/>
          </a:prstGeom>
          <a:ln w="57150">
            <a:solidFill>
              <a:srgbClr val="3A3F45"/>
            </a:solidFill>
          </a:ln>
        </p:spPr>
      </p:cxnSp>
      <p:cxnSp>
        <p:nvCxnSpPr>
          <p:cNvPr id="34" name="Connector 33"/>
          <p:cNvCxnSpPr/>
          <p:nvPr/>
        </p:nvCxnSpPr>
        <p:spPr>
          <a:xfrm flipV="1">
            <a:off x="6336792" y="3630168"/>
            <a:ext cx="0" cy="1272844"/>
          </a:xfrm>
          <a:prstGeom prst="line">
            <a:avLst/>
          </a:prstGeom>
          <a:ln w="57150">
            <a:solidFill>
              <a:srgbClr val="3A3F45"/>
            </a:solidFill>
          </a:ln>
        </p:spPr>
      </p:cxnSp>
      <p:cxnSp>
        <p:nvCxnSpPr>
          <p:cNvPr id="35" name="Connector 34"/>
          <p:cNvCxnSpPr/>
          <p:nvPr/>
        </p:nvCxnSpPr>
        <p:spPr>
          <a:xfrm flipV="1">
            <a:off x="2624328" y="1508760"/>
            <a:ext cx="0" cy="2121408"/>
          </a:xfrm>
          <a:prstGeom prst="line">
            <a:avLst/>
          </a:prstGeom>
          <a:ln w="57150">
            <a:solidFill>
              <a:srgbClr val="3A3F45"/>
            </a:solidFill>
          </a:ln>
        </p:spPr>
      </p:cxnSp>
      <p:cxnSp>
        <p:nvCxnSpPr>
          <p:cNvPr id="36" name="Connector 35"/>
          <p:cNvCxnSpPr/>
          <p:nvPr/>
        </p:nvCxnSpPr>
        <p:spPr>
          <a:xfrm flipV="1">
            <a:off x="4745736" y="2675534"/>
            <a:ext cx="0" cy="954634"/>
          </a:xfrm>
          <a:prstGeom prst="line">
            <a:avLst/>
          </a:prstGeom>
          <a:ln w="57150">
            <a:solidFill>
              <a:srgbClr val="3A3F45"/>
            </a:solidFill>
          </a:ln>
        </p:spPr>
      </p:cxnSp>
      <p:cxnSp>
        <p:nvCxnSpPr>
          <p:cNvPr id="37" name="Connector 36"/>
          <p:cNvCxnSpPr/>
          <p:nvPr/>
        </p:nvCxnSpPr>
        <p:spPr>
          <a:xfrm flipV="1">
            <a:off x="4745736" y="1508760"/>
            <a:ext cx="0" cy="742492"/>
          </a:xfrm>
          <a:prstGeom prst="line">
            <a:avLst/>
          </a:prstGeom>
          <a:ln w="57150">
            <a:solidFill>
              <a:srgbClr val="3A3F45"/>
            </a:solidFill>
          </a:ln>
        </p:spPr>
      </p:cxnSp>
      <p:cxnSp>
        <p:nvCxnSpPr>
          <p:cNvPr id="38" name="Connector 37"/>
          <p:cNvCxnSpPr/>
          <p:nvPr/>
        </p:nvCxnSpPr>
        <p:spPr>
          <a:xfrm flipV="1">
            <a:off x="6867143" y="1508760"/>
            <a:ext cx="0" cy="2121408"/>
          </a:xfrm>
          <a:prstGeom prst="line">
            <a:avLst/>
          </a:prstGeom>
          <a:ln w="57150">
            <a:solidFill>
              <a:srgbClr val="3A3F45"/>
            </a:solidFill>
          </a:ln>
        </p:spPr>
      </p:cxnSp>
      <p:cxnSp>
        <p:nvCxnSpPr>
          <p:cNvPr id="39" name="Connector 38"/>
          <p:cNvCxnSpPr/>
          <p:nvPr/>
        </p:nvCxnSpPr>
        <p:spPr>
          <a:xfrm>
            <a:off x="2730398" y="6281927"/>
            <a:ext cx="424282" cy="0"/>
          </a:xfrm>
          <a:prstGeom prst="line">
            <a:avLst/>
          </a:prstGeom>
          <a:ln w="76200">
            <a:solidFill>
              <a:srgbClr val="8A5A00"/>
            </a:solidFill>
          </a:ln>
        </p:spPr>
      </p:cxnSp>
      <p:sp>
        <p:nvSpPr>
          <p:cNvPr id="40" name="TextBox 39"/>
          <p:cNvSpPr txBox="1"/>
          <p:nvPr/>
        </p:nvSpPr>
        <p:spPr>
          <a:xfrm>
            <a:off x="2412187" y="5884163"/>
            <a:ext cx="1280160" cy="201168"/>
          </a:xfrm>
          <a:prstGeom prst="rect">
            <a:avLst/>
          </a:prstGeom>
          <a:noFill/>
        </p:spPr>
        <p:txBody>
          <a:bodyPr wrap="square" lIns="0" tIns="0" rIns="0" bIns="0" anchor="t">
            <a:spAutoFit/>
          </a:bodyPr>
          <a:lstStyle/>
          <a:p>
            <a:pPr algn="ctr">
              <a:spcAft>
                <a:spcPts val="0"/>
              </a:spcAft>
            </a:pPr>
            <a:r>
              <a:rPr sz="900" b="1" i="0">
                <a:solidFill>
                  <a:srgbClr val="8A5A00"/>
                </a:solidFill>
                <a:latin typeface="Aptos"/>
              </a:rPr>
              <a:t>Entrance</a:t>
            </a:r>
          </a:p>
        </p:txBody>
      </p:sp>
      <p:sp>
        <p:nvSpPr>
          <p:cNvPr id="41" name="TextBox 40"/>
          <p:cNvSpPr txBox="1"/>
          <p:nvPr/>
        </p:nvSpPr>
        <p:spPr>
          <a:xfrm>
            <a:off x="2677363" y="2914192"/>
            <a:ext cx="2011680" cy="365760"/>
          </a:xfrm>
          <a:prstGeom prst="rect">
            <a:avLst/>
          </a:prstGeom>
          <a:noFill/>
        </p:spPr>
        <p:txBody>
          <a:bodyPr wrap="square" lIns="0" tIns="0" rIns="0" bIns="0" anchor="t">
            <a:spAutoFit/>
          </a:bodyPr>
          <a:lstStyle/>
          <a:p>
            <a:pPr algn="l">
              <a:spcAft>
                <a:spcPts val="0"/>
              </a:spcAft>
            </a:pPr>
            <a:r>
              <a:rPr sz="850" b="0" i="1">
                <a:solidFill>
                  <a:srgbClr val="5B6770"/>
                </a:solidFill>
                <a:latin typeface="Aptos"/>
              </a:rPr>
              <a:t>Single-door room: cable goes in and back out through the same door (two parallel runs)</a:t>
            </a:r>
          </a:p>
        </p:txBody>
      </p:sp>
      <p:sp>
        <p:nvSpPr>
          <p:cNvPr id="42" name="Freeform 41"/>
          <p:cNvSpPr/>
          <p:nvPr/>
        </p:nvSpPr>
        <p:spPr>
          <a:xfrm>
            <a:off x="3260750" y="4372660"/>
            <a:ext cx="1272845" cy="1103132"/>
          </a:xfrm>
          <a:custGeom>
            <a:avLst/>
            <a:gdLst/>
            <a:ahLst/>
            <a:cxnLst/>
            <a:rect l="l" t="t" r="r" b="b"/>
            <a:pathLst>
              <a:path w="1272845" h="1103132">
                <a:moveTo>
                  <a:pt x="0" y="0"/>
                </a:moveTo>
                <a:lnTo>
                  <a:pt x="1272845" y="0"/>
                </a:lnTo>
                <a:lnTo>
                  <a:pt x="1272845" y="1103132"/>
                </a:lnTo>
              </a:path>
            </a:pathLst>
          </a:custGeom>
          <a:noFill/>
          <a:ln w="28575">
            <a:solidFill>
              <a:srgbClr val="1F5FBF"/>
            </a:solidFill>
            <a:round/>
            <a:tailEnd type="triangle" w="med" len="med"/>
          </a:ln>
        </p:spPr>
        <p:txBody>
          <a:bodyPr rtlCol="0" anchor="ctr"/>
          <a:lstStyle/>
          <a:p>
            <a:pPr algn="ctr"/>
            <a:endParaRPr/>
          </a:p>
        </p:txBody>
      </p:sp>
      <p:sp>
        <p:nvSpPr>
          <p:cNvPr id="43" name="Freeform 42"/>
          <p:cNvSpPr/>
          <p:nvPr/>
        </p:nvSpPr>
        <p:spPr>
          <a:xfrm>
            <a:off x="1468160" y="5115153"/>
            <a:ext cx="3065435" cy="530352"/>
          </a:xfrm>
          <a:custGeom>
            <a:avLst/>
            <a:gdLst/>
            <a:ahLst/>
            <a:cxnLst/>
            <a:rect l="l" t="t" r="r" b="b"/>
            <a:pathLst>
              <a:path w="3065435" h="530352">
                <a:moveTo>
                  <a:pt x="3065435" y="530352"/>
                </a:moveTo>
                <a:lnTo>
                  <a:pt x="2535083" y="530352"/>
                </a:lnTo>
                <a:lnTo>
                  <a:pt x="2535083" y="0"/>
                </a:lnTo>
                <a:lnTo>
                  <a:pt x="0" y="0"/>
                </a:lnTo>
              </a:path>
            </a:pathLst>
          </a:custGeom>
          <a:noFill/>
          <a:ln w="28575">
            <a:solidFill>
              <a:srgbClr val="1F5FBF"/>
            </a:solidFill>
            <a:round/>
            <a:tailEnd type="triangle" w="med" len="med"/>
          </a:ln>
        </p:spPr>
        <p:txBody>
          <a:bodyPr rtlCol="0" anchor="ctr"/>
          <a:lstStyle/>
          <a:p>
            <a:pPr algn="ctr"/>
            <a:endParaRPr/>
          </a:p>
        </p:txBody>
      </p:sp>
      <p:sp>
        <p:nvSpPr>
          <p:cNvPr id="44" name="Freeform 43"/>
          <p:cNvSpPr/>
          <p:nvPr/>
        </p:nvSpPr>
        <p:spPr>
          <a:xfrm>
            <a:off x="1298448" y="2573079"/>
            <a:ext cx="331878" cy="2542074"/>
          </a:xfrm>
          <a:custGeom>
            <a:avLst/>
            <a:gdLst/>
            <a:ahLst/>
            <a:cxnLst/>
            <a:rect l="l" t="t" r="r" b="b"/>
            <a:pathLst>
              <a:path w="95463" h="2545690">
                <a:moveTo>
                  <a:pt x="0" y="2545690"/>
                </a:moveTo>
                <a:lnTo>
                  <a:pt x="0" y="0"/>
                </a:lnTo>
                <a:lnTo>
                  <a:pt x="95463" y="0"/>
                </a:lnTo>
              </a:path>
            </a:pathLst>
          </a:custGeom>
          <a:noFill/>
          <a:ln w="28575">
            <a:solidFill>
              <a:srgbClr val="1F5FBF"/>
            </a:solidFill>
            <a:round/>
            <a:tailEnd type="triangle" w="med" len="med"/>
          </a:ln>
        </p:spPr>
        <p:txBody>
          <a:bodyPr rtlCol="0" anchor="ctr"/>
          <a:lstStyle/>
          <a:p>
            <a:pPr algn="ctr"/>
            <a:endParaRPr/>
          </a:p>
        </p:txBody>
      </p:sp>
      <p:sp>
        <p:nvSpPr>
          <p:cNvPr id="45" name="Freeform 44"/>
          <p:cNvSpPr/>
          <p:nvPr/>
        </p:nvSpPr>
        <p:spPr>
          <a:xfrm>
            <a:off x="1563624" y="2569463"/>
            <a:ext cx="1431950" cy="1803197"/>
          </a:xfrm>
          <a:custGeom>
            <a:avLst/>
            <a:gdLst/>
            <a:ahLst/>
            <a:cxnLst/>
            <a:rect l="l" t="t" r="r" b="b"/>
            <a:pathLst>
              <a:path w="1431950" h="1803197">
                <a:moveTo>
                  <a:pt x="0" y="0"/>
                </a:moveTo>
                <a:lnTo>
                  <a:pt x="795528" y="0"/>
                </a:lnTo>
                <a:lnTo>
                  <a:pt x="795528" y="1803197"/>
                </a:lnTo>
                <a:lnTo>
                  <a:pt x="1431950" y="1803197"/>
                </a:lnTo>
              </a:path>
            </a:pathLst>
          </a:custGeom>
          <a:noFill/>
          <a:ln w="28575">
            <a:solidFill>
              <a:srgbClr val="1F5FBF"/>
            </a:solidFill>
            <a:round/>
            <a:tailEnd type="triangle" w="med" len="med"/>
          </a:ln>
        </p:spPr>
        <p:txBody>
          <a:bodyPr rtlCol="0" anchor="ctr"/>
          <a:lstStyle/>
          <a:p>
            <a:pPr algn="ctr"/>
            <a:endParaRPr/>
          </a:p>
        </p:txBody>
      </p:sp>
      <p:sp>
        <p:nvSpPr>
          <p:cNvPr id="46" name="Freeform 45"/>
          <p:cNvSpPr/>
          <p:nvPr/>
        </p:nvSpPr>
        <p:spPr>
          <a:xfrm>
            <a:off x="3854744" y="2595981"/>
            <a:ext cx="1739555" cy="397764"/>
          </a:xfrm>
          <a:custGeom>
            <a:avLst/>
            <a:gdLst/>
            <a:ahLst/>
            <a:cxnLst/>
            <a:rect l="l" t="t" r="r" b="b"/>
            <a:pathLst>
              <a:path w="1739555" h="397764">
                <a:moveTo>
                  <a:pt x="1739555" y="397764"/>
                </a:moveTo>
                <a:lnTo>
                  <a:pt x="1739555" y="0"/>
                </a:lnTo>
                <a:lnTo>
                  <a:pt x="0" y="0"/>
                </a:lnTo>
              </a:path>
            </a:pathLst>
          </a:custGeom>
          <a:noFill/>
          <a:ln w="28575">
            <a:solidFill>
              <a:srgbClr val="D9731A"/>
            </a:solidFill>
            <a:round/>
            <a:tailEnd type="triangle" w="med" len="med"/>
          </a:ln>
        </p:spPr>
        <p:txBody>
          <a:bodyPr rtlCol="0" anchor="ctr"/>
          <a:lstStyle/>
          <a:p>
            <a:pPr algn="ctr"/>
            <a:endParaRPr/>
          </a:p>
        </p:txBody>
      </p:sp>
      <p:sp>
        <p:nvSpPr>
          <p:cNvPr id="47" name="Freeform 46"/>
          <p:cNvSpPr/>
          <p:nvPr/>
        </p:nvSpPr>
        <p:spPr>
          <a:xfrm>
            <a:off x="3685031" y="2039112"/>
            <a:ext cx="2482048" cy="556869"/>
          </a:xfrm>
          <a:custGeom>
            <a:avLst/>
            <a:gdLst/>
            <a:ahLst/>
            <a:cxnLst/>
            <a:rect l="l" t="t" r="r" b="b"/>
            <a:pathLst>
              <a:path w="2482048" h="556869">
                <a:moveTo>
                  <a:pt x="0" y="556869"/>
                </a:moveTo>
                <a:lnTo>
                  <a:pt x="0" y="318211"/>
                </a:lnTo>
                <a:lnTo>
                  <a:pt x="2227479" y="318211"/>
                </a:lnTo>
                <a:lnTo>
                  <a:pt x="2227479" y="0"/>
                </a:lnTo>
                <a:lnTo>
                  <a:pt x="2482048" y="0"/>
                </a:lnTo>
              </a:path>
            </a:pathLst>
          </a:custGeom>
          <a:noFill/>
          <a:ln w="28575">
            <a:solidFill>
              <a:srgbClr val="D9731A"/>
            </a:solidFill>
            <a:round/>
            <a:tailEnd type="triangle" w="med" len="med"/>
          </a:ln>
        </p:spPr>
        <p:txBody>
          <a:bodyPr rtlCol="0" anchor="ctr"/>
          <a:lstStyle/>
          <a:p>
            <a:pPr algn="ctr"/>
            <a:endParaRPr/>
          </a:p>
        </p:txBody>
      </p:sp>
      <p:sp>
        <p:nvSpPr>
          <p:cNvPr id="48" name="Freeform 47"/>
          <p:cNvSpPr/>
          <p:nvPr/>
        </p:nvSpPr>
        <p:spPr>
          <a:xfrm>
            <a:off x="6336792" y="2039112"/>
            <a:ext cx="678850" cy="2969971"/>
          </a:xfrm>
          <a:custGeom>
            <a:avLst/>
            <a:gdLst/>
            <a:ahLst/>
            <a:cxnLst/>
            <a:rect l="l" t="t" r="r" b="b"/>
            <a:pathLst>
              <a:path w="678850" h="2969971">
                <a:moveTo>
                  <a:pt x="0" y="0"/>
                </a:moveTo>
                <a:lnTo>
                  <a:pt x="344728" y="0"/>
                </a:lnTo>
                <a:lnTo>
                  <a:pt x="344728" y="2969971"/>
                </a:lnTo>
                <a:lnTo>
                  <a:pt x="678850" y="2969971"/>
                </a:lnTo>
              </a:path>
            </a:pathLst>
          </a:custGeom>
          <a:noFill/>
          <a:ln w="28575">
            <a:solidFill>
              <a:srgbClr val="D9731A"/>
            </a:solidFill>
            <a:round/>
            <a:tailEnd type="triangle" w="med" len="med"/>
          </a:ln>
        </p:spPr>
        <p:txBody>
          <a:bodyPr rtlCol="0" anchor="ctr"/>
          <a:lstStyle/>
          <a:p>
            <a:pPr algn="ctr"/>
            <a:endParaRPr/>
          </a:p>
        </p:txBody>
      </p:sp>
      <p:sp>
        <p:nvSpPr>
          <p:cNvPr id="49" name="Freeform 48"/>
          <p:cNvSpPr/>
          <p:nvPr/>
        </p:nvSpPr>
        <p:spPr>
          <a:xfrm>
            <a:off x="5859475" y="2993745"/>
            <a:ext cx="1325880" cy="2227478"/>
          </a:xfrm>
          <a:custGeom>
            <a:avLst/>
            <a:gdLst/>
            <a:ahLst/>
            <a:cxnLst/>
            <a:rect l="l" t="t" r="r" b="b"/>
            <a:pathLst>
              <a:path w="1325880" h="2227478">
                <a:moveTo>
                  <a:pt x="1325880" y="2015338"/>
                </a:moveTo>
                <a:lnTo>
                  <a:pt x="1325880" y="2227478"/>
                </a:lnTo>
                <a:lnTo>
                  <a:pt x="662940" y="2227478"/>
                </a:lnTo>
                <a:lnTo>
                  <a:pt x="662940" y="0"/>
                </a:lnTo>
                <a:lnTo>
                  <a:pt x="0" y="0"/>
                </a:lnTo>
              </a:path>
            </a:pathLst>
          </a:custGeom>
          <a:noFill/>
          <a:ln w="28575">
            <a:solidFill>
              <a:srgbClr val="D9731A"/>
            </a:solidFill>
            <a:round/>
            <a:tailEnd type="triangle" w="med" len="med"/>
          </a:ln>
        </p:spPr>
        <p:txBody>
          <a:bodyPr rtlCol="0" anchor="ctr"/>
          <a:lstStyle/>
          <a:p>
            <a:pPr algn="ctr"/>
            <a:endParaRPr/>
          </a:p>
        </p:txBody>
      </p:sp>
      <p:sp>
        <p:nvSpPr>
          <p:cNvPr id="50" name="Oval 49"/>
          <p:cNvSpPr/>
          <p:nvPr/>
        </p:nvSpPr>
        <p:spPr>
          <a:xfrm>
            <a:off x="3805732" y="4281220"/>
            <a:ext cx="182880" cy="182880"/>
          </a:xfrm>
          <a:prstGeom prst="ellipse">
            <a:avLst/>
          </a:prstGeom>
          <a:solidFill>
            <a:srgbClr val="FFFFFF"/>
          </a:solidFill>
          <a:ln w="15875">
            <a:solidFill>
              <a:srgbClr val="1F5FBF"/>
            </a:solidFill>
          </a:ln>
        </p:spPr>
        <p:txBody>
          <a:bodyPr wrap="square" lIns="0" tIns="0" rIns="0" bIns="0" rtlCol="0" anchor="ctr"/>
          <a:lstStyle/>
          <a:p>
            <a:pPr algn="ctr">
              <a:spcAft>
                <a:spcPts val="0"/>
              </a:spcAft>
            </a:pPr>
            <a:r>
              <a:rPr sz="850" b="1" i="0">
                <a:solidFill>
                  <a:srgbClr val="1F5FBF"/>
                </a:solidFill>
                <a:latin typeface="Aptos"/>
              </a:rPr>
              <a:t>1</a:t>
            </a:r>
          </a:p>
        </p:txBody>
      </p:sp>
      <p:sp>
        <p:nvSpPr>
          <p:cNvPr id="51" name="Oval 50"/>
          <p:cNvSpPr/>
          <p:nvPr/>
        </p:nvSpPr>
        <p:spPr>
          <a:xfrm>
            <a:off x="2691993" y="5023713"/>
            <a:ext cx="182880" cy="182880"/>
          </a:xfrm>
          <a:prstGeom prst="ellipse">
            <a:avLst/>
          </a:prstGeom>
          <a:solidFill>
            <a:srgbClr val="FFFFFF"/>
          </a:solidFill>
          <a:ln w="15875">
            <a:solidFill>
              <a:srgbClr val="1F5FBF"/>
            </a:solidFill>
          </a:ln>
        </p:spPr>
        <p:txBody>
          <a:bodyPr wrap="square" lIns="0" tIns="0" rIns="0" bIns="0" rtlCol="0" anchor="ctr"/>
          <a:lstStyle/>
          <a:p>
            <a:pPr algn="ctr">
              <a:spcAft>
                <a:spcPts val="0"/>
              </a:spcAft>
            </a:pPr>
            <a:r>
              <a:rPr sz="850" b="1" i="0">
                <a:solidFill>
                  <a:srgbClr val="1F5FBF"/>
                </a:solidFill>
                <a:latin typeface="Aptos"/>
              </a:rPr>
              <a:t>2</a:t>
            </a:r>
          </a:p>
        </p:txBody>
      </p:sp>
      <p:sp>
        <p:nvSpPr>
          <p:cNvPr id="52" name="Oval 51"/>
          <p:cNvSpPr/>
          <p:nvPr/>
        </p:nvSpPr>
        <p:spPr>
          <a:xfrm>
            <a:off x="1207007" y="4175150"/>
            <a:ext cx="182880" cy="182880"/>
          </a:xfrm>
          <a:prstGeom prst="ellipse">
            <a:avLst/>
          </a:prstGeom>
          <a:solidFill>
            <a:srgbClr val="FFFFFF"/>
          </a:solidFill>
          <a:ln w="15875">
            <a:solidFill>
              <a:srgbClr val="1F5FBF"/>
            </a:solidFill>
          </a:ln>
        </p:spPr>
        <p:txBody>
          <a:bodyPr wrap="square" lIns="0" tIns="0" rIns="0" bIns="0" rtlCol="0" anchor="ctr"/>
          <a:lstStyle/>
          <a:p>
            <a:pPr algn="ctr">
              <a:spcAft>
                <a:spcPts val="0"/>
              </a:spcAft>
            </a:pPr>
            <a:r>
              <a:rPr sz="850" b="1" i="0">
                <a:solidFill>
                  <a:srgbClr val="1F5FBF"/>
                </a:solidFill>
                <a:latin typeface="Aptos"/>
              </a:rPr>
              <a:t>3</a:t>
            </a:r>
          </a:p>
        </p:txBody>
      </p:sp>
      <p:sp>
        <p:nvSpPr>
          <p:cNvPr id="53" name="Oval 52"/>
          <p:cNvSpPr/>
          <p:nvPr/>
        </p:nvSpPr>
        <p:spPr>
          <a:xfrm>
            <a:off x="2267712" y="3008375"/>
            <a:ext cx="182880" cy="182880"/>
          </a:xfrm>
          <a:prstGeom prst="ellipse">
            <a:avLst/>
          </a:prstGeom>
          <a:solidFill>
            <a:srgbClr val="FFFFFF"/>
          </a:solidFill>
          <a:ln w="15875">
            <a:solidFill>
              <a:srgbClr val="1F5FBF"/>
            </a:solidFill>
          </a:ln>
        </p:spPr>
        <p:txBody>
          <a:bodyPr wrap="square" lIns="0" tIns="0" rIns="0" bIns="0" rtlCol="0" anchor="ctr"/>
          <a:lstStyle/>
          <a:p>
            <a:pPr algn="ctr">
              <a:spcAft>
                <a:spcPts val="0"/>
              </a:spcAft>
            </a:pPr>
            <a:r>
              <a:rPr sz="850" b="1" i="0">
                <a:solidFill>
                  <a:srgbClr val="1F5FBF"/>
                </a:solidFill>
                <a:latin typeface="Aptos"/>
              </a:rPr>
              <a:t>4</a:t>
            </a:r>
          </a:p>
        </p:txBody>
      </p:sp>
      <p:sp>
        <p:nvSpPr>
          <p:cNvPr id="54" name="Oval 53"/>
          <p:cNvSpPr/>
          <p:nvPr/>
        </p:nvSpPr>
        <p:spPr>
          <a:xfrm>
            <a:off x="4230014" y="2504541"/>
            <a:ext cx="182880" cy="182880"/>
          </a:xfrm>
          <a:prstGeom prst="ellipse">
            <a:avLst/>
          </a:prstGeom>
          <a:solidFill>
            <a:srgbClr val="FFFFFF"/>
          </a:solidFill>
          <a:ln w="15875">
            <a:solidFill>
              <a:srgbClr val="D9731A"/>
            </a:solidFill>
          </a:ln>
        </p:spPr>
        <p:txBody>
          <a:bodyPr wrap="square" lIns="0" tIns="0" rIns="0" bIns="0" rtlCol="0" anchor="ctr"/>
          <a:lstStyle/>
          <a:p>
            <a:pPr algn="ctr">
              <a:spcAft>
                <a:spcPts val="0"/>
              </a:spcAft>
            </a:pPr>
            <a:r>
              <a:rPr sz="850" b="1" i="0">
                <a:solidFill>
                  <a:srgbClr val="D9731A"/>
                </a:solidFill>
                <a:latin typeface="Aptos"/>
              </a:rPr>
              <a:t>1</a:t>
            </a:r>
          </a:p>
        </p:txBody>
      </p:sp>
      <p:sp>
        <p:nvSpPr>
          <p:cNvPr id="55" name="Oval 54"/>
          <p:cNvSpPr/>
          <p:nvPr/>
        </p:nvSpPr>
        <p:spPr>
          <a:xfrm>
            <a:off x="5184648" y="2265883"/>
            <a:ext cx="182880" cy="182880"/>
          </a:xfrm>
          <a:prstGeom prst="ellipse">
            <a:avLst/>
          </a:prstGeom>
          <a:solidFill>
            <a:srgbClr val="FFFFFF"/>
          </a:solidFill>
          <a:ln w="15875">
            <a:solidFill>
              <a:srgbClr val="D9731A"/>
            </a:solidFill>
          </a:ln>
        </p:spPr>
        <p:txBody>
          <a:bodyPr wrap="square" lIns="0" tIns="0" rIns="0" bIns="0" rtlCol="0" anchor="ctr"/>
          <a:lstStyle/>
          <a:p>
            <a:pPr algn="ctr">
              <a:spcAft>
                <a:spcPts val="0"/>
              </a:spcAft>
            </a:pPr>
            <a:r>
              <a:rPr sz="850" b="1" i="0">
                <a:solidFill>
                  <a:srgbClr val="D9731A"/>
                </a:solidFill>
                <a:latin typeface="Aptos"/>
              </a:rPr>
              <a:t>2</a:t>
            </a:r>
          </a:p>
        </p:txBody>
      </p:sp>
      <p:sp>
        <p:nvSpPr>
          <p:cNvPr id="56" name="Oval 55"/>
          <p:cNvSpPr/>
          <p:nvPr/>
        </p:nvSpPr>
        <p:spPr>
          <a:xfrm>
            <a:off x="6590080" y="2743199"/>
            <a:ext cx="182880" cy="182880"/>
          </a:xfrm>
          <a:prstGeom prst="ellipse">
            <a:avLst/>
          </a:prstGeom>
          <a:solidFill>
            <a:srgbClr val="FFFFFF"/>
          </a:solidFill>
          <a:ln w="15875">
            <a:solidFill>
              <a:srgbClr val="D9731A"/>
            </a:solidFill>
          </a:ln>
        </p:spPr>
        <p:txBody>
          <a:bodyPr wrap="square" lIns="0" tIns="0" rIns="0" bIns="0" rtlCol="0" anchor="ctr"/>
          <a:lstStyle/>
          <a:p>
            <a:pPr algn="ctr">
              <a:spcAft>
                <a:spcPts val="0"/>
              </a:spcAft>
            </a:pPr>
            <a:r>
              <a:rPr sz="850" b="1" i="0">
                <a:solidFill>
                  <a:srgbClr val="D9731A"/>
                </a:solidFill>
                <a:latin typeface="Aptos"/>
              </a:rPr>
              <a:t>3</a:t>
            </a:r>
          </a:p>
        </p:txBody>
      </p:sp>
      <p:sp>
        <p:nvSpPr>
          <p:cNvPr id="57" name="Oval 56"/>
          <p:cNvSpPr/>
          <p:nvPr/>
        </p:nvSpPr>
        <p:spPr>
          <a:xfrm>
            <a:off x="6430975" y="4175150"/>
            <a:ext cx="182880" cy="182880"/>
          </a:xfrm>
          <a:prstGeom prst="ellipse">
            <a:avLst/>
          </a:prstGeom>
          <a:solidFill>
            <a:srgbClr val="FFFFFF"/>
          </a:solidFill>
          <a:ln w="15875">
            <a:solidFill>
              <a:srgbClr val="D9731A"/>
            </a:solidFill>
          </a:ln>
        </p:spPr>
        <p:txBody>
          <a:bodyPr wrap="square" lIns="0" tIns="0" rIns="0" bIns="0" rtlCol="0" anchor="ctr"/>
          <a:lstStyle/>
          <a:p>
            <a:pPr algn="ctr">
              <a:spcAft>
                <a:spcPts val="0"/>
              </a:spcAft>
            </a:pPr>
            <a:r>
              <a:rPr sz="850" b="1" i="0">
                <a:solidFill>
                  <a:srgbClr val="D9731A"/>
                </a:solidFill>
                <a:latin typeface="Aptos"/>
              </a:rPr>
              <a:t>4</a:t>
            </a:r>
          </a:p>
        </p:txBody>
      </p:sp>
      <p:sp>
        <p:nvSpPr>
          <p:cNvPr id="58" name="Oval 57"/>
          <p:cNvSpPr/>
          <p:nvPr/>
        </p:nvSpPr>
        <p:spPr>
          <a:xfrm>
            <a:off x="4405579" y="5517489"/>
            <a:ext cx="256032" cy="256032"/>
          </a:xfrm>
          <a:prstGeom prst="ellipse">
            <a:avLst/>
          </a:prstGeom>
          <a:solidFill>
            <a:srgbClr val="1F5FBF"/>
          </a:solidFill>
          <a:ln w="15875">
            <a:solidFill>
              <a:srgbClr val="FFFFFF"/>
            </a:solidFill>
          </a:ln>
        </p:spPr>
        <p:txBody>
          <a:bodyPr wrap="square" lIns="0" tIns="0" rIns="0" bIns="0" rtlCol="0" anchor="ctr"/>
          <a:lstStyle/>
          <a:p>
            <a:pPr algn="ctr">
              <a:spcAft>
                <a:spcPts val="0"/>
              </a:spcAft>
            </a:pPr>
            <a:r>
              <a:rPr sz="850" b="1" i="0">
                <a:solidFill>
                  <a:srgbClr val="FFFFFF"/>
                </a:solidFill>
                <a:latin typeface="Aptos"/>
              </a:rPr>
              <a:t>N1</a:t>
            </a:r>
          </a:p>
        </p:txBody>
      </p:sp>
      <p:sp>
        <p:nvSpPr>
          <p:cNvPr id="59" name="Oval 58"/>
          <p:cNvSpPr/>
          <p:nvPr/>
        </p:nvSpPr>
        <p:spPr>
          <a:xfrm>
            <a:off x="1626992" y="2452079"/>
            <a:ext cx="256032" cy="256032"/>
          </a:xfrm>
          <a:prstGeom prst="ellipse">
            <a:avLst/>
          </a:prstGeom>
          <a:solidFill>
            <a:srgbClr val="1F5FBF"/>
          </a:solidFill>
          <a:ln w="15875">
            <a:solidFill>
              <a:srgbClr val="FFFFFF"/>
            </a:solidFill>
          </a:ln>
        </p:spPr>
        <p:txBody>
          <a:bodyPr wrap="square" lIns="0" tIns="0" rIns="0" bIns="0" rtlCol="0" anchor="ctr"/>
          <a:lstStyle/>
          <a:p>
            <a:pPr algn="ctr">
              <a:spcAft>
                <a:spcPts val="0"/>
              </a:spcAft>
            </a:pPr>
            <a:r>
              <a:rPr sz="850" b="1" i="0" dirty="0">
                <a:solidFill>
                  <a:srgbClr val="FFFFFF"/>
                </a:solidFill>
                <a:latin typeface="Aptos"/>
              </a:rPr>
              <a:t>N2</a:t>
            </a:r>
          </a:p>
        </p:txBody>
      </p:sp>
      <p:sp>
        <p:nvSpPr>
          <p:cNvPr id="60" name="Oval 59"/>
          <p:cNvSpPr/>
          <p:nvPr/>
        </p:nvSpPr>
        <p:spPr>
          <a:xfrm>
            <a:off x="1170431" y="4987137"/>
            <a:ext cx="256032" cy="256032"/>
          </a:xfrm>
          <a:prstGeom prst="ellipse">
            <a:avLst/>
          </a:prstGeom>
          <a:solidFill>
            <a:srgbClr val="1F5FBF"/>
          </a:solidFill>
          <a:ln w="15875">
            <a:solidFill>
              <a:srgbClr val="FFFFFF"/>
            </a:solidFill>
          </a:ln>
        </p:spPr>
        <p:txBody>
          <a:bodyPr wrap="square" lIns="0" tIns="0" rIns="0" bIns="0" rtlCol="0" anchor="ctr"/>
          <a:lstStyle/>
          <a:p>
            <a:pPr algn="ctr">
              <a:spcAft>
                <a:spcPts val="0"/>
              </a:spcAft>
            </a:pPr>
            <a:r>
              <a:rPr sz="850" b="1" i="0">
                <a:solidFill>
                  <a:srgbClr val="FFFFFF"/>
                </a:solidFill>
                <a:latin typeface="Aptos"/>
              </a:rPr>
              <a:t>N3</a:t>
            </a:r>
          </a:p>
        </p:txBody>
      </p:sp>
      <p:sp>
        <p:nvSpPr>
          <p:cNvPr id="61" name="Oval 60"/>
          <p:cNvSpPr/>
          <p:nvPr/>
        </p:nvSpPr>
        <p:spPr>
          <a:xfrm>
            <a:off x="3557015" y="2467965"/>
            <a:ext cx="256032" cy="256032"/>
          </a:xfrm>
          <a:prstGeom prst="ellipse">
            <a:avLst/>
          </a:prstGeom>
          <a:solidFill>
            <a:srgbClr val="D9731A"/>
          </a:solidFill>
          <a:ln w="15875">
            <a:solidFill>
              <a:srgbClr val="FFFFFF"/>
            </a:solidFill>
          </a:ln>
        </p:spPr>
        <p:txBody>
          <a:bodyPr wrap="square" lIns="0" tIns="0" rIns="0" bIns="0" rtlCol="0" anchor="ctr"/>
          <a:lstStyle/>
          <a:p>
            <a:pPr algn="ctr">
              <a:spcAft>
                <a:spcPts val="0"/>
              </a:spcAft>
            </a:pPr>
            <a:r>
              <a:rPr sz="850" b="1" i="0">
                <a:solidFill>
                  <a:srgbClr val="FFFFFF"/>
                </a:solidFill>
                <a:latin typeface="Aptos"/>
              </a:rPr>
              <a:t>N4</a:t>
            </a:r>
          </a:p>
        </p:txBody>
      </p:sp>
      <p:sp>
        <p:nvSpPr>
          <p:cNvPr id="62" name="Oval 61"/>
          <p:cNvSpPr/>
          <p:nvPr/>
        </p:nvSpPr>
        <p:spPr>
          <a:xfrm>
            <a:off x="6208776" y="1911095"/>
            <a:ext cx="256032" cy="256032"/>
          </a:xfrm>
          <a:prstGeom prst="ellipse">
            <a:avLst/>
          </a:prstGeom>
          <a:solidFill>
            <a:srgbClr val="D9731A"/>
          </a:solidFill>
          <a:ln w="15875">
            <a:solidFill>
              <a:srgbClr val="FFFFFF"/>
            </a:solidFill>
          </a:ln>
        </p:spPr>
        <p:txBody>
          <a:bodyPr wrap="square" lIns="0" tIns="0" rIns="0" bIns="0" rtlCol="0" anchor="ctr"/>
          <a:lstStyle/>
          <a:p>
            <a:pPr algn="ctr">
              <a:spcAft>
                <a:spcPts val="0"/>
              </a:spcAft>
            </a:pPr>
            <a:r>
              <a:rPr sz="850" b="1" i="0">
                <a:solidFill>
                  <a:srgbClr val="FFFFFF"/>
                </a:solidFill>
                <a:latin typeface="Aptos"/>
              </a:rPr>
              <a:t>N5</a:t>
            </a:r>
          </a:p>
        </p:txBody>
      </p:sp>
      <p:sp>
        <p:nvSpPr>
          <p:cNvPr id="63" name="Oval 62"/>
          <p:cNvSpPr/>
          <p:nvPr/>
        </p:nvSpPr>
        <p:spPr>
          <a:xfrm>
            <a:off x="7057339" y="4881067"/>
            <a:ext cx="256032" cy="256032"/>
          </a:xfrm>
          <a:prstGeom prst="ellipse">
            <a:avLst/>
          </a:prstGeom>
          <a:solidFill>
            <a:srgbClr val="D9731A"/>
          </a:solidFill>
          <a:ln w="15875">
            <a:solidFill>
              <a:srgbClr val="FFFFFF"/>
            </a:solidFill>
          </a:ln>
        </p:spPr>
        <p:txBody>
          <a:bodyPr wrap="square" lIns="0" tIns="0" rIns="0" bIns="0" rtlCol="0" anchor="ctr"/>
          <a:lstStyle/>
          <a:p>
            <a:pPr algn="ctr">
              <a:spcAft>
                <a:spcPts val="0"/>
              </a:spcAft>
            </a:pPr>
            <a:r>
              <a:rPr sz="850" b="1" i="0">
                <a:solidFill>
                  <a:srgbClr val="FFFFFF"/>
                </a:solidFill>
                <a:latin typeface="Aptos"/>
              </a:rPr>
              <a:t>N6</a:t>
            </a:r>
          </a:p>
        </p:txBody>
      </p:sp>
      <p:sp>
        <p:nvSpPr>
          <p:cNvPr id="64" name="Rectangle 63"/>
          <p:cNvSpPr/>
          <p:nvPr/>
        </p:nvSpPr>
        <p:spPr>
          <a:xfrm>
            <a:off x="3087014" y="4198924"/>
            <a:ext cx="347472" cy="347472"/>
          </a:xfrm>
          <a:prstGeom prst="rect">
            <a:avLst/>
          </a:prstGeom>
          <a:solidFill>
            <a:srgbClr val="1F5FBF"/>
          </a:solidFill>
          <a:ln w="25400">
            <a:solidFill>
              <a:srgbClr val="1F2933"/>
            </a:solidFill>
          </a:ln>
        </p:spPr>
        <p:txBody>
          <a:bodyPr wrap="square" lIns="0" tIns="0" rIns="0" bIns="0" rtlCol="0" anchor="ctr"/>
          <a:lstStyle/>
          <a:p>
            <a:pPr algn="ctr">
              <a:spcAft>
                <a:spcPts val="0"/>
              </a:spcAft>
            </a:pPr>
            <a:r>
              <a:rPr sz="1050" b="1" i="0">
                <a:solidFill>
                  <a:srgbClr val="FFFFFF"/>
                </a:solidFill>
                <a:latin typeface="Aptos"/>
              </a:rPr>
              <a:t>H1</a:t>
            </a:r>
          </a:p>
        </p:txBody>
      </p:sp>
      <p:sp>
        <p:nvSpPr>
          <p:cNvPr id="65" name="Rectangle 64"/>
          <p:cNvSpPr/>
          <p:nvPr/>
        </p:nvSpPr>
        <p:spPr>
          <a:xfrm>
            <a:off x="5420563" y="2820009"/>
            <a:ext cx="347472" cy="347472"/>
          </a:xfrm>
          <a:prstGeom prst="rect">
            <a:avLst/>
          </a:prstGeom>
          <a:solidFill>
            <a:srgbClr val="D9731A"/>
          </a:solidFill>
          <a:ln w="25400">
            <a:solidFill>
              <a:srgbClr val="1F2933"/>
            </a:solidFill>
          </a:ln>
        </p:spPr>
        <p:txBody>
          <a:bodyPr wrap="square" lIns="0" tIns="0" rIns="0" bIns="0" rtlCol="0" anchor="ctr"/>
          <a:lstStyle/>
          <a:p>
            <a:pPr algn="ctr">
              <a:spcAft>
                <a:spcPts val="0"/>
              </a:spcAft>
            </a:pPr>
            <a:r>
              <a:rPr sz="1050" b="1" i="0">
                <a:solidFill>
                  <a:srgbClr val="FFFFFF"/>
                </a:solidFill>
                <a:latin typeface="Aptos"/>
              </a:rPr>
              <a:t>H2</a:t>
            </a:r>
          </a:p>
        </p:txBody>
      </p:sp>
      <p:sp>
        <p:nvSpPr>
          <p:cNvPr id="66" name="Rounded Rectangle 65"/>
          <p:cNvSpPr/>
          <p:nvPr/>
        </p:nvSpPr>
        <p:spPr>
          <a:xfrm>
            <a:off x="8229600" y="1508760"/>
            <a:ext cx="3502152" cy="182880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67" name="TextBox 66"/>
          <p:cNvSpPr txBox="1"/>
          <p:nvPr/>
        </p:nvSpPr>
        <p:spPr>
          <a:xfrm>
            <a:off x="8366760" y="1581912"/>
            <a:ext cx="3227832"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How to read</a:t>
            </a:r>
          </a:p>
        </p:txBody>
      </p:sp>
      <p:sp>
        <p:nvSpPr>
          <p:cNvPr id="68" name="Rectangle 67"/>
          <p:cNvSpPr/>
          <p:nvPr/>
        </p:nvSpPr>
        <p:spPr>
          <a:xfrm>
            <a:off x="8412480" y="1920240"/>
            <a:ext cx="457200" cy="32004"/>
          </a:xfrm>
          <a:prstGeom prst="rect">
            <a:avLst/>
          </a:prstGeom>
          <a:solidFill>
            <a:srgbClr val="C8102E"/>
          </a:solidFill>
          <a:ln>
            <a:noFill/>
          </a:ln>
        </p:spPr>
        <p:txBody>
          <a:bodyPr rtlCol="0" anchor="ctr"/>
          <a:lstStyle/>
          <a:p>
            <a:pPr algn="ctr"/>
            <a:endParaRPr/>
          </a:p>
        </p:txBody>
      </p:sp>
      <p:sp>
        <p:nvSpPr>
          <p:cNvPr id="69" name="Rectangle 68"/>
          <p:cNvSpPr/>
          <p:nvPr/>
        </p:nvSpPr>
        <p:spPr>
          <a:xfrm>
            <a:off x="8412480" y="2029968"/>
            <a:ext cx="219456" cy="219456"/>
          </a:xfrm>
          <a:prstGeom prst="rect">
            <a:avLst/>
          </a:prstGeom>
          <a:solidFill>
            <a:srgbClr val="1F5FBF"/>
          </a:solidFill>
          <a:ln w="19050">
            <a:solidFill>
              <a:srgbClr val="1F2933"/>
            </a:solidFill>
          </a:ln>
        </p:spPr>
        <p:txBody>
          <a:bodyPr rtlCol="0" anchor="ctr"/>
          <a:lstStyle/>
          <a:p>
            <a:pPr algn="ctr"/>
            <a:endParaRPr/>
          </a:p>
        </p:txBody>
      </p:sp>
      <p:sp>
        <p:nvSpPr>
          <p:cNvPr id="70" name="TextBox 69"/>
          <p:cNvSpPr txBox="1"/>
          <p:nvPr/>
        </p:nvSpPr>
        <p:spPr>
          <a:xfrm>
            <a:off x="8732520" y="2011680"/>
            <a:ext cx="2926080" cy="256032"/>
          </a:xfrm>
          <a:prstGeom prst="rect">
            <a:avLst/>
          </a:prstGeom>
          <a:noFill/>
        </p:spPr>
        <p:txBody>
          <a:bodyPr wrap="square" lIns="45720" tIns="27432" rIns="45720" bIns="27432" anchor="ctr">
            <a:spAutoFit/>
          </a:bodyPr>
          <a:lstStyle/>
          <a:p>
            <a:pPr algn="l">
              <a:spcAft>
                <a:spcPts val="0"/>
              </a:spcAft>
            </a:pPr>
            <a:r>
              <a:rPr sz="1100" b="0" i="0">
                <a:solidFill>
                  <a:srgbClr val="1F2933"/>
                </a:solidFill>
                <a:latin typeface="Aptos"/>
              </a:rPr>
              <a:t>Hub (one colour per zone)</a:t>
            </a:r>
          </a:p>
        </p:txBody>
      </p:sp>
      <p:sp>
        <p:nvSpPr>
          <p:cNvPr id="71" name="Oval 70"/>
          <p:cNvSpPr/>
          <p:nvPr/>
        </p:nvSpPr>
        <p:spPr>
          <a:xfrm>
            <a:off x="8430768" y="2304288"/>
            <a:ext cx="182880" cy="182880"/>
          </a:xfrm>
          <a:prstGeom prst="ellipse">
            <a:avLst/>
          </a:prstGeom>
          <a:solidFill>
            <a:srgbClr val="1F5FBF"/>
          </a:solidFill>
          <a:ln w="9525">
            <a:solidFill>
              <a:srgbClr val="FFFFFF"/>
            </a:solidFill>
          </a:ln>
        </p:spPr>
        <p:txBody>
          <a:bodyPr rtlCol="0" anchor="ctr"/>
          <a:lstStyle/>
          <a:p>
            <a:pPr algn="ctr"/>
            <a:endParaRPr/>
          </a:p>
        </p:txBody>
      </p:sp>
      <p:sp>
        <p:nvSpPr>
          <p:cNvPr id="72" name="TextBox 71"/>
          <p:cNvSpPr txBox="1"/>
          <p:nvPr/>
        </p:nvSpPr>
        <p:spPr>
          <a:xfrm>
            <a:off x="8732520" y="2276856"/>
            <a:ext cx="2926080" cy="256032"/>
          </a:xfrm>
          <a:prstGeom prst="rect">
            <a:avLst/>
          </a:prstGeom>
          <a:noFill/>
        </p:spPr>
        <p:txBody>
          <a:bodyPr wrap="square" lIns="45720" tIns="27432" rIns="45720" bIns="27432" anchor="ctr">
            <a:spAutoFit/>
          </a:bodyPr>
          <a:lstStyle/>
          <a:p>
            <a:pPr algn="l">
              <a:spcAft>
                <a:spcPts val="0"/>
              </a:spcAft>
            </a:pPr>
            <a:r>
              <a:rPr sz="1100" b="0" i="0">
                <a:solidFill>
                  <a:srgbClr val="1F2933"/>
                </a:solidFill>
                <a:latin typeface="Aptos"/>
              </a:rPr>
              <a:t>Node (fixed point in each eligible room)</a:t>
            </a:r>
          </a:p>
        </p:txBody>
      </p:sp>
      <p:cxnSp>
        <p:nvCxnSpPr>
          <p:cNvPr id="73" name="Connector 72"/>
          <p:cNvCxnSpPr/>
          <p:nvPr/>
        </p:nvCxnSpPr>
        <p:spPr>
          <a:xfrm>
            <a:off x="8394192" y="2670048"/>
            <a:ext cx="292608" cy="0"/>
          </a:xfrm>
          <a:prstGeom prst="line">
            <a:avLst/>
          </a:prstGeom>
          <a:ln w="28575">
            <a:solidFill>
              <a:srgbClr val="1F5FBF"/>
            </a:solidFill>
            <a:tailEnd type="triangle"/>
          </a:ln>
        </p:spPr>
      </p:cxnSp>
      <p:sp>
        <p:nvSpPr>
          <p:cNvPr id="74" name="TextBox 73"/>
          <p:cNvSpPr txBox="1"/>
          <p:nvPr/>
        </p:nvSpPr>
        <p:spPr>
          <a:xfrm>
            <a:off x="8732520" y="2542032"/>
            <a:ext cx="2926080" cy="256032"/>
          </a:xfrm>
          <a:prstGeom prst="rect">
            <a:avLst/>
          </a:prstGeom>
          <a:noFill/>
        </p:spPr>
        <p:txBody>
          <a:bodyPr wrap="square" lIns="45720" tIns="27432" rIns="45720" bIns="27432" anchor="ctr">
            <a:spAutoFit/>
          </a:bodyPr>
          <a:lstStyle/>
          <a:p>
            <a:pPr algn="l">
              <a:spcAft>
                <a:spcPts val="0"/>
              </a:spcAft>
            </a:pPr>
            <a:r>
              <a:rPr sz="1100" b="0" i="0">
                <a:solidFill>
                  <a:srgbClr val="1F2933"/>
                </a:solidFill>
                <a:latin typeface="Aptos"/>
              </a:rPr>
              <a:t>Cable; numbers give visiting order</a:t>
            </a:r>
          </a:p>
        </p:txBody>
      </p:sp>
      <p:sp>
        <p:nvSpPr>
          <p:cNvPr id="75" name="TextBox 74"/>
          <p:cNvSpPr txBox="1"/>
          <p:nvPr/>
        </p:nvSpPr>
        <p:spPr>
          <a:xfrm>
            <a:off x="8732520" y="2807208"/>
            <a:ext cx="2926080" cy="256032"/>
          </a:xfrm>
          <a:prstGeom prst="rect">
            <a:avLst/>
          </a:prstGeom>
          <a:noFill/>
        </p:spPr>
        <p:txBody>
          <a:bodyPr wrap="square" lIns="45720" tIns="27432" rIns="45720" bIns="27432" anchor="ctr">
            <a:spAutoFit/>
          </a:bodyPr>
          <a:lstStyle/>
          <a:p>
            <a:pPr algn="l">
              <a:spcAft>
                <a:spcPts val="0"/>
              </a:spcAft>
            </a:pPr>
            <a:r>
              <a:rPr sz="1100" b="0" i="0">
                <a:solidFill>
                  <a:srgbClr val="1F2933"/>
                </a:solidFill>
                <a:latin typeface="Aptos"/>
              </a:rPr>
              <a:t>Last number is the return to the hub</a:t>
            </a:r>
          </a:p>
        </p:txBody>
      </p:sp>
      <p:sp>
        <p:nvSpPr>
          <p:cNvPr id="76" name="Oval 75"/>
          <p:cNvSpPr/>
          <p:nvPr/>
        </p:nvSpPr>
        <p:spPr>
          <a:xfrm>
            <a:off x="8412480" y="2834640"/>
            <a:ext cx="219456" cy="219456"/>
          </a:xfrm>
          <a:prstGeom prst="ellipse">
            <a:avLst/>
          </a:prstGeom>
          <a:solidFill>
            <a:srgbClr val="FFFFFF"/>
          </a:solidFill>
          <a:ln w="15875">
            <a:solidFill>
              <a:srgbClr val="1F5FBF"/>
            </a:solidFill>
          </a:ln>
        </p:spPr>
        <p:txBody>
          <a:bodyPr rtlCol="0" anchor="ctr"/>
          <a:lstStyle/>
          <a:p>
            <a:pPr algn="ctr"/>
            <a:endParaRPr/>
          </a:p>
        </p:txBody>
      </p:sp>
      <p:sp>
        <p:nvSpPr>
          <p:cNvPr id="77" name="Rectangle 76"/>
          <p:cNvSpPr/>
          <p:nvPr/>
        </p:nvSpPr>
        <p:spPr>
          <a:xfrm>
            <a:off x="8412480" y="3118104"/>
            <a:ext cx="219456" cy="164592"/>
          </a:xfrm>
          <a:prstGeom prst="rect">
            <a:avLst/>
          </a:prstGeom>
          <a:solidFill>
            <a:srgbClr val="E3E5E8"/>
          </a:solidFill>
          <a:ln>
            <a:noFill/>
          </a:ln>
        </p:spPr>
        <p:txBody>
          <a:bodyPr rtlCol="0" anchor="ctr"/>
          <a:lstStyle/>
          <a:p>
            <a:pPr algn="ctr"/>
            <a:endParaRPr/>
          </a:p>
        </p:txBody>
      </p:sp>
      <p:sp>
        <p:nvSpPr>
          <p:cNvPr id="78" name="TextBox 77"/>
          <p:cNvSpPr txBox="1"/>
          <p:nvPr/>
        </p:nvSpPr>
        <p:spPr>
          <a:xfrm>
            <a:off x="8732520" y="3072384"/>
            <a:ext cx="2926080" cy="256032"/>
          </a:xfrm>
          <a:prstGeom prst="rect">
            <a:avLst/>
          </a:prstGeom>
          <a:noFill/>
        </p:spPr>
        <p:txBody>
          <a:bodyPr wrap="square" lIns="45720" tIns="27432" rIns="45720" bIns="27432" anchor="ctr">
            <a:spAutoFit/>
          </a:bodyPr>
          <a:lstStyle/>
          <a:p>
            <a:pPr algn="l">
              <a:spcAft>
                <a:spcPts val="0"/>
              </a:spcAft>
            </a:pPr>
            <a:r>
              <a:rPr sz="1100" b="0" i="0">
                <a:solidFill>
                  <a:srgbClr val="1F2933"/>
                </a:solidFill>
                <a:latin typeface="Aptos"/>
              </a:rPr>
              <a:t>Excluded room; gaps in walls are doors</a:t>
            </a:r>
          </a:p>
        </p:txBody>
      </p:sp>
      <p:sp>
        <p:nvSpPr>
          <p:cNvPr id="79" name="Rounded Rectangle 78"/>
          <p:cNvSpPr/>
          <p:nvPr/>
        </p:nvSpPr>
        <p:spPr>
          <a:xfrm>
            <a:off x="8229600" y="3456432"/>
            <a:ext cx="3502152" cy="1261872"/>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80" name="TextBox 79"/>
          <p:cNvSpPr txBox="1"/>
          <p:nvPr/>
        </p:nvSpPr>
        <p:spPr>
          <a:xfrm>
            <a:off x="8366760" y="3529584"/>
            <a:ext cx="3227832"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Per-hub summary</a:t>
            </a:r>
          </a:p>
        </p:txBody>
      </p:sp>
      <p:sp>
        <p:nvSpPr>
          <p:cNvPr id="81" name="Rectangle 80"/>
          <p:cNvSpPr/>
          <p:nvPr/>
        </p:nvSpPr>
        <p:spPr>
          <a:xfrm>
            <a:off x="8412480" y="3867911"/>
            <a:ext cx="457200" cy="32004"/>
          </a:xfrm>
          <a:prstGeom prst="rect">
            <a:avLst/>
          </a:prstGeom>
          <a:solidFill>
            <a:srgbClr val="C8102E"/>
          </a:solidFill>
          <a:ln>
            <a:noFill/>
          </a:ln>
        </p:spPr>
        <p:txBody>
          <a:bodyPr rtlCol="0" anchor="ctr"/>
          <a:lstStyle/>
          <a:p>
            <a:pPr algn="ctr"/>
            <a:endParaRPr/>
          </a:p>
        </p:txBody>
      </p:sp>
      <p:sp>
        <p:nvSpPr>
          <p:cNvPr id="82" name="Rectangle 81"/>
          <p:cNvSpPr/>
          <p:nvPr/>
        </p:nvSpPr>
        <p:spPr>
          <a:xfrm>
            <a:off x="8412480" y="3959352"/>
            <a:ext cx="329184" cy="274320"/>
          </a:xfrm>
          <a:prstGeom prst="rect">
            <a:avLst/>
          </a:prstGeom>
          <a:solidFill>
            <a:srgbClr val="1F5FBF"/>
          </a:solidFill>
          <a:ln w="15875">
            <a:solidFill>
              <a:srgbClr val="1F2933"/>
            </a:solidFill>
          </a:ln>
        </p:spPr>
        <p:txBody>
          <a:bodyPr rtlCol="0" anchor="ctr"/>
          <a:lstStyle/>
          <a:p>
            <a:pPr algn="ctr"/>
            <a:endParaRPr/>
          </a:p>
        </p:txBody>
      </p:sp>
      <p:sp>
        <p:nvSpPr>
          <p:cNvPr id="83" name="TextBox 82"/>
          <p:cNvSpPr txBox="1"/>
          <p:nvPr/>
        </p:nvSpPr>
        <p:spPr>
          <a:xfrm>
            <a:off x="8412480" y="3959352"/>
            <a:ext cx="329184" cy="274320"/>
          </a:xfrm>
          <a:prstGeom prst="rect">
            <a:avLst/>
          </a:prstGeom>
          <a:noFill/>
        </p:spPr>
        <p:txBody>
          <a:bodyPr wrap="square" lIns="0" tIns="0" rIns="0" bIns="0" anchor="ctr">
            <a:spAutoFit/>
          </a:bodyPr>
          <a:lstStyle/>
          <a:p>
            <a:pPr algn="ctr">
              <a:spcAft>
                <a:spcPts val="0"/>
              </a:spcAft>
            </a:pPr>
            <a:r>
              <a:rPr sz="1000" b="1" i="0">
                <a:solidFill>
                  <a:srgbClr val="FFFFFF"/>
                </a:solidFill>
                <a:latin typeface="Aptos"/>
              </a:rPr>
              <a:t>H1</a:t>
            </a:r>
          </a:p>
        </p:txBody>
      </p:sp>
      <p:sp>
        <p:nvSpPr>
          <p:cNvPr id="84" name="TextBox 83"/>
          <p:cNvSpPr txBox="1"/>
          <p:nvPr/>
        </p:nvSpPr>
        <p:spPr>
          <a:xfrm>
            <a:off x="8796528" y="3913632"/>
            <a:ext cx="2880360" cy="411480"/>
          </a:xfrm>
          <a:prstGeom prst="rect">
            <a:avLst/>
          </a:prstGeom>
          <a:noFill/>
        </p:spPr>
        <p:txBody>
          <a:bodyPr wrap="square" lIns="18288" tIns="0" rIns="0" bIns="0" anchor="t">
            <a:spAutoFit/>
          </a:bodyPr>
          <a:lstStyle/>
          <a:p>
            <a:pPr algn="l">
              <a:spcAft>
                <a:spcPts val="0"/>
              </a:spcAft>
            </a:pPr>
            <a:r>
              <a:rPr sz="1050" b="1" i="0">
                <a:solidFill>
                  <a:srgbClr val="1F2933"/>
                </a:solidFill>
                <a:latin typeface="Aptos"/>
              </a:rPr>
              <a:t>Living, Bedrooms 1 and 3</a:t>
            </a:r>
          </a:p>
          <a:p>
            <a:pPr algn="l">
              <a:spcAft>
                <a:spcPts val="0"/>
              </a:spcAft>
            </a:pPr>
            <a:r>
              <a:rPr sz="1050" b="0" i="0">
                <a:solidFill>
                  <a:srgbClr val="5B6770"/>
                </a:solidFill>
                <a:latin typeface="Aptos"/>
              </a:rPr>
              <a:t>71 m²  |  3 nodes  |  23.8 m, 8 bends</a:t>
            </a:r>
          </a:p>
        </p:txBody>
      </p:sp>
      <p:sp>
        <p:nvSpPr>
          <p:cNvPr id="85" name="Rectangle 84"/>
          <p:cNvSpPr/>
          <p:nvPr/>
        </p:nvSpPr>
        <p:spPr>
          <a:xfrm>
            <a:off x="8412480" y="4343400"/>
            <a:ext cx="329184" cy="274320"/>
          </a:xfrm>
          <a:prstGeom prst="rect">
            <a:avLst/>
          </a:prstGeom>
          <a:solidFill>
            <a:srgbClr val="D9731A"/>
          </a:solidFill>
          <a:ln w="15875">
            <a:solidFill>
              <a:srgbClr val="1F2933"/>
            </a:solidFill>
          </a:ln>
        </p:spPr>
        <p:txBody>
          <a:bodyPr rtlCol="0" anchor="ctr"/>
          <a:lstStyle/>
          <a:p>
            <a:pPr algn="ctr"/>
            <a:endParaRPr/>
          </a:p>
        </p:txBody>
      </p:sp>
      <p:sp>
        <p:nvSpPr>
          <p:cNvPr id="86" name="TextBox 85"/>
          <p:cNvSpPr txBox="1"/>
          <p:nvPr/>
        </p:nvSpPr>
        <p:spPr>
          <a:xfrm>
            <a:off x="8412480" y="4343400"/>
            <a:ext cx="329184" cy="274320"/>
          </a:xfrm>
          <a:prstGeom prst="rect">
            <a:avLst/>
          </a:prstGeom>
          <a:noFill/>
        </p:spPr>
        <p:txBody>
          <a:bodyPr wrap="square" lIns="0" tIns="0" rIns="0" bIns="0" anchor="ctr">
            <a:spAutoFit/>
          </a:bodyPr>
          <a:lstStyle/>
          <a:p>
            <a:pPr algn="ctr">
              <a:spcAft>
                <a:spcPts val="0"/>
              </a:spcAft>
            </a:pPr>
            <a:r>
              <a:rPr sz="1000" b="1" i="0">
                <a:solidFill>
                  <a:srgbClr val="FFFFFF"/>
                </a:solidFill>
                <a:latin typeface="Aptos"/>
              </a:rPr>
              <a:t>H2</a:t>
            </a:r>
          </a:p>
        </p:txBody>
      </p:sp>
      <p:sp>
        <p:nvSpPr>
          <p:cNvPr id="87" name="TextBox 86"/>
          <p:cNvSpPr txBox="1"/>
          <p:nvPr/>
        </p:nvSpPr>
        <p:spPr>
          <a:xfrm>
            <a:off x="8796528" y="4297680"/>
            <a:ext cx="2880360" cy="411480"/>
          </a:xfrm>
          <a:prstGeom prst="rect">
            <a:avLst/>
          </a:prstGeom>
          <a:noFill/>
        </p:spPr>
        <p:txBody>
          <a:bodyPr wrap="square" lIns="18288" tIns="0" rIns="0" bIns="0" anchor="t">
            <a:spAutoFit/>
          </a:bodyPr>
          <a:lstStyle/>
          <a:p>
            <a:pPr algn="l">
              <a:spcAft>
                <a:spcPts val="0"/>
              </a:spcAft>
            </a:pPr>
            <a:r>
              <a:rPr sz="1050" b="1" i="0">
                <a:solidFill>
                  <a:srgbClr val="1F2933"/>
                </a:solidFill>
                <a:latin typeface="Aptos"/>
              </a:rPr>
              <a:t>Bedroom 2, Kitchen, Storage</a:t>
            </a:r>
          </a:p>
          <a:p>
            <a:pPr algn="l">
              <a:spcAft>
                <a:spcPts val="0"/>
              </a:spcAft>
            </a:pPr>
            <a:r>
              <a:rPr sz="1050" b="0" i="0">
                <a:solidFill>
                  <a:srgbClr val="5B6770"/>
                </a:solidFill>
                <a:latin typeface="Aptos"/>
              </a:rPr>
              <a:t>47 m²  |  3 nodes  |  25.2 m, 12 bends</a:t>
            </a:r>
          </a:p>
        </p:txBody>
      </p:sp>
      <p:sp>
        <p:nvSpPr>
          <p:cNvPr id="88" name="Rounded Rectangle 87"/>
          <p:cNvSpPr/>
          <p:nvPr/>
        </p:nvSpPr>
        <p:spPr>
          <a:xfrm>
            <a:off x="8229600" y="4837176"/>
            <a:ext cx="3502152" cy="155448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89" name="TextBox 88"/>
          <p:cNvSpPr txBox="1"/>
          <p:nvPr/>
        </p:nvSpPr>
        <p:spPr>
          <a:xfrm>
            <a:off x="8366760" y="4910328"/>
            <a:ext cx="3227832"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What a reviewer confirms</a:t>
            </a:r>
          </a:p>
        </p:txBody>
      </p:sp>
      <p:sp>
        <p:nvSpPr>
          <p:cNvPr id="90" name="Rectangle 89"/>
          <p:cNvSpPr/>
          <p:nvPr/>
        </p:nvSpPr>
        <p:spPr>
          <a:xfrm>
            <a:off x="8412480" y="5248656"/>
            <a:ext cx="457200" cy="32004"/>
          </a:xfrm>
          <a:prstGeom prst="rect">
            <a:avLst/>
          </a:prstGeom>
          <a:solidFill>
            <a:srgbClr val="C8102E"/>
          </a:solidFill>
          <a:ln>
            <a:noFill/>
          </a:ln>
        </p:spPr>
        <p:txBody>
          <a:bodyPr rtlCol="0" anchor="ctr"/>
          <a:lstStyle/>
          <a:p>
            <a:pPr algn="ctr"/>
            <a:endParaRPr/>
          </a:p>
        </p:txBody>
      </p:sp>
      <p:sp>
        <p:nvSpPr>
          <p:cNvPr id="91" name="TextBox 90"/>
          <p:cNvSpPr txBox="1"/>
          <p:nvPr/>
        </p:nvSpPr>
        <p:spPr>
          <a:xfrm>
            <a:off x="8339327" y="5276088"/>
            <a:ext cx="3319272" cy="1097280"/>
          </a:xfrm>
          <a:prstGeom prst="rect">
            <a:avLst/>
          </a:prstGeom>
          <a:noFill/>
        </p:spPr>
        <p:txBody>
          <a:bodyPr wrap="square" lIns="45720" tIns="27432" rIns="45720" bIns="27432" anchor="t">
            <a:spAutoFit/>
          </a:bodyPr>
          <a:lstStyle/>
          <a:p>
            <a:pPr algn="l">
              <a:spcAft>
                <a:spcPts val="200"/>
              </a:spcAft>
            </a:pPr>
            <a:r>
              <a:rPr sz="1050" b="1" i="0">
                <a:solidFill>
                  <a:srgbClr val="2E7D32"/>
                </a:solidFill>
                <a:latin typeface="Aptos"/>
              </a:rPr>
              <a:t>✓  </a:t>
            </a:r>
            <a:r>
              <a:rPr sz="1050" b="0" i="0">
                <a:solidFill>
                  <a:srgbClr val="1F2933"/>
                </a:solidFill>
                <a:latin typeface="Aptos"/>
              </a:rPr>
              <a:t>Each node once; ring ends at its own hub</a:t>
            </a:r>
          </a:p>
          <a:p>
            <a:pPr algn="l">
              <a:spcAft>
                <a:spcPts val="200"/>
              </a:spcAft>
            </a:pPr>
            <a:r>
              <a:rPr sz="1050" b="1" i="0">
                <a:solidFill>
                  <a:srgbClr val="2E7D32"/>
                </a:solidFill>
                <a:latin typeface="Aptos"/>
              </a:rPr>
              <a:t>✓  </a:t>
            </a:r>
            <a:r>
              <a:rPr sz="1050" b="0" i="0">
                <a:solidFill>
                  <a:srgbClr val="1F2933"/>
                </a:solidFill>
                <a:latin typeface="Aptos"/>
              </a:rPr>
              <a:t>≤ 100 m² and ≤ 5 nodes per hub</a:t>
            </a:r>
          </a:p>
          <a:p>
            <a:pPr algn="l">
              <a:spcAft>
                <a:spcPts val="200"/>
              </a:spcAft>
            </a:pPr>
            <a:r>
              <a:rPr sz="1050" b="1" i="0">
                <a:solidFill>
                  <a:srgbClr val="2E7D32"/>
                </a:solidFill>
                <a:latin typeface="Aptos"/>
              </a:rPr>
              <a:t>✓  </a:t>
            </a:r>
            <a:r>
              <a:rPr sz="1050" b="0" i="0">
                <a:solidFill>
                  <a:srgbClr val="1F2933"/>
                </a:solidFill>
                <a:latin typeface="Aptos"/>
              </a:rPr>
              <a:t>Each zone connected through doors only</a:t>
            </a:r>
          </a:p>
          <a:p>
            <a:pPr algn="l">
              <a:spcAft>
                <a:spcPts val="200"/>
              </a:spcAft>
            </a:pPr>
            <a:r>
              <a:rPr sz="1050" b="1" i="0">
                <a:solidFill>
                  <a:srgbClr val="2E7D32"/>
                </a:solidFill>
                <a:latin typeface="Aptos"/>
              </a:rPr>
              <a:t>✓  </a:t>
            </a:r>
            <a:r>
              <a:rPr sz="1050" b="0" i="0">
                <a:solidFill>
                  <a:srgbClr val="1F2933"/>
                </a:solidFill>
                <a:latin typeface="Aptos"/>
              </a:rPr>
              <a:t>Axis-aligned; no wall or window crossed</a:t>
            </a:r>
          </a:p>
          <a:p>
            <a:pPr algn="l">
              <a:spcAft>
                <a:spcPts val="200"/>
              </a:spcAft>
            </a:pPr>
            <a:r>
              <a:rPr sz="1050" b="1" i="0">
                <a:solidFill>
                  <a:srgbClr val="2E7D32"/>
                </a:solidFill>
                <a:latin typeface="Aptos"/>
              </a:rPr>
              <a:t>✓  </a:t>
            </a:r>
            <a:r>
              <a:rPr sz="1050" b="0" i="0">
                <a:solidFill>
                  <a:srgbClr val="1F2933"/>
                </a:solidFill>
                <a:latin typeface="Aptos"/>
              </a:rPr>
              <a:t>2 hubs = lower bound (118 m², 6 nodes)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6032"/>
            <a:ext cx="11274552" cy="566928"/>
          </a:xfrm>
        </p:spPr>
        <p:txBody>
          <a:bodyPr wrap="square" lIns="45720" anchor="ctr"/>
          <a:lstStyle/>
          <a:p>
            <a:pPr algn="l"/>
            <a:r>
              <a:rPr sz="2800" b="1">
                <a:solidFill>
                  <a:srgbClr val="1F2933"/>
                </a:solidFill>
                <a:latin typeface="Aptos"/>
              </a:rPr>
              <a:t>Evaluation: objective and metric definitions</a:t>
            </a:r>
          </a:p>
        </p:txBody>
      </p:sp>
      <p:sp>
        <p:nvSpPr>
          <p:cNvPr id="3" name="TextBox 2"/>
          <p:cNvSpPr txBox="1"/>
          <p:nvPr/>
        </p:nvSpPr>
        <p:spPr>
          <a:xfrm>
            <a:off x="457200" y="822960"/>
            <a:ext cx="11274552" cy="365760"/>
          </a:xfrm>
          <a:prstGeom prst="rect">
            <a:avLst/>
          </a:prstGeom>
          <a:noFill/>
        </p:spPr>
        <p:txBody>
          <a:bodyPr wrap="square" lIns="45720" tIns="27432" rIns="45720" bIns="27432" anchor="t">
            <a:spAutoFit/>
          </a:bodyPr>
          <a:lstStyle/>
          <a:p>
            <a:pPr algn="l">
              <a:spcAft>
                <a:spcPts val="0"/>
              </a:spcAft>
            </a:pPr>
            <a:r>
              <a:rPr sz="1400" b="0" i="0">
                <a:solidFill>
                  <a:srgbClr val="5B6770"/>
                </a:solidFill>
                <a:latin typeface="Aptos"/>
              </a:rPr>
              <a:t>The checker recomputes every metric from the submitted polylines; teams choose how to optimise</a:t>
            </a:r>
          </a:p>
        </p:txBody>
      </p:sp>
      <p:sp>
        <p:nvSpPr>
          <p:cNvPr id="4" name="Rectangle 3"/>
          <p:cNvSpPr/>
          <p:nvPr/>
        </p:nvSpPr>
        <p:spPr>
          <a:xfrm>
            <a:off x="502920" y="1243584"/>
            <a:ext cx="1097280" cy="45720"/>
          </a:xfrm>
          <a:prstGeom prst="rect">
            <a:avLst/>
          </a:prstGeom>
          <a:solidFill>
            <a:srgbClr val="C8102E"/>
          </a:solidFill>
          <a:ln>
            <a:noFill/>
          </a:ln>
        </p:spPr>
        <p:txBody>
          <a:bodyPr rtlCol="0" anchor="ctr"/>
          <a:lstStyle/>
          <a:p>
            <a:pPr algn="ctr"/>
            <a:endParaRPr/>
          </a:p>
        </p:txBody>
      </p:sp>
      <p:sp>
        <p:nvSpPr>
          <p:cNvPr id="5" name="TextBox 4"/>
          <p:cNvSpPr txBox="1"/>
          <p:nvPr/>
        </p:nvSpPr>
        <p:spPr>
          <a:xfrm>
            <a:off x="6675120" y="6492240"/>
            <a:ext cx="5056632" cy="274320"/>
          </a:xfrm>
          <a:prstGeom prst="rect">
            <a:avLst/>
          </a:prstGeom>
          <a:noFill/>
        </p:spPr>
        <p:txBody>
          <a:bodyPr wrap="square" lIns="45720" tIns="27432" rIns="45720" bIns="27432" anchor="t">
            <a:spAutoFit/>
          </a:bodyPr>
          <a:lstStyle/>
          <a:p>
            <a:pPr algn="r">
              <a:spcAft>
                <a:spcPts val="0"/>
              </a:spcAft>
            </a:pPr>
            <a:r>
              <a:rPr sz="1000" b="0" i="0">
                <a:solidFill>
                  <a:srgbClr val="5B6770"/>
                </a:solidFill>
                <a:latin typeface="Aptos"/>
              </a:rPr>
              <a:t>UR Hackathon 2026H2  |  Problem statement  |  6 / 8</a:t>
            </a:r>
          </a:p>
        </p:txBody>
      </p:sp>
      <p:sp>
        <p:nvSpPr>
          <p:cNvPr id="6" name="TextBox 5"/>
          <p:cNvSpPr txBox="1"/>
          <p:nvPr/>
        </p:nvSpPr>
        <p:spPr>
          <a:xfrm>
            <a:off x="457200" y="6492240"/>
            <a:ext cx="6400800" cy="274320"/>
          </a:xfrm>
          <a:prstGeom prst="rect">
            <a:avLst/>
          </a:prstGeom>
          <a:noFill/>
        </p:spPr>
        <p:txBody>
          <a:bodyPr wrap="square" lIns="45720" tIns="27432" rIns="45720" bIns="27432" anchor="t">
            <a:spAutoFit/>
          </a:bodyPr>
          <a:lstStyle/>
          <a:p>
            <a:pPr algn="l">
              <a:spcAft>
                <a:spcPts val="0"/>
              </a:spcAft>
            </a:pPr>
            <a:r>
              <a:rPr sz="1000" b="0" i="0">
                <a:solidFill>
                  <a:srgbClr val="5B6770"/>
                </a:solidFill>
                <a:latin typeface="Aptos"/>
              </a:rPr>
              <a:t>Research exercise: results are not a building-services design.</a:t>
            </a:r>
          </a:p>
        </p:txBody>
      </p:sp>
      <p:sp>
        <p:nvSpPr>
          <p:cNvPr id="7" name="Rounded Rectangle 6"/>
          <p:cNvSpPr/>
          <p:nvPr/>
        </p:nvSpPr>
        <p:spPr>
          <a:xfrm>
            <a:off x="457200" y="1481328"/>
            <a:ext cx="11274552" cy="868680"/>
          </a:xfrm>
          <a:prstGeom prst="roundRect">
            <a:avLst>
              <a:gd name="adj" fmla="val 8000"/>
            </a:avLst>
          </a:prstGeom>
          <a:solidFill>
            <a:srgbClr val="2B3A4A"/>
          </a:solidFill>
          <a:ln>
            <a:noFill/>
          </a:ln>
        </p:spPr>
        <p:txBody>
          <a:bodyPr rtlCol="0" anchor="ctr"/>
          <a:lstStyle/>
          <a:p>
            <a:pPr algn="ctr"/>
            <a:endParaRPr/>
          </a:p>
        </p:txBody>
      </p:sp>
      <p:sp>
        <p:nvSpPr>
          <p:cNvPr id="8" name="TextBox 7"/>
          <p:cNvSpPr txBox="1"/>
          <p:nvPr/>
        </p:nvSpPr>
        <p:spPr>
          <a:xfrm>
            <a:off x="640080" y="1517904"/>
            <a:ext cx="10881360" cy="502920"/>
          </a:xfrm>
          <a:prstGeom prst="rect">
            <a:avLst/>
          </a:prstGeom>
          <a:noFill/>
        </p:spPr>
        <p:txBody>
          <a:bodyPr wrap="square" lIns="45720" tIns="27432" rIns="45720" bIns="27432" anchor="ctr">
            <a:spAutoFit/>
          </a:bodyPr>
          <a:lstStyle/>
          <a:p>
            <a:pPr algn="l">
              <a:spcAft>
                <a:spcPts val="0"/>
              </a:spcAft>
            </a:pPr>
            <a:r>
              <a:rPr sz="2400" b="1" i="0">
                <a:solidFill>
                  <a:srgbClr val="FFFFFF"/>
                </a:solidFill>
                <a:latin typeface="Aptos"/>
              </a:rPr>
              <a:t>Fewest hubs wins. Ties go to the lowest cost J.</a:t>
            </a:r>
          </a:p>
        </p:txBody>
      </p:sp>
      <p:sp>
        <p:nvSpPr>
          <p:cNvPr id="9" name="TextBox 8"/>
          <p:cNvSpPr txBox="1"/>
          <p:nvPr/>
        </p:nvSpPr>
        <p:spPr>
          <a:xfrm>
            <a:off x="640080" y="2011680"/>
            <a:ext cx="10881360" cy="310896"/>
          </a:xfrm>
          <a:prstGeom prst="rect">
            <a:avLst/>
          </a:prstGeom>
          <a:noFill/>
        </p:spPr>
        <p:txBody>
          <a:bodyPr wrap="square" lIns="45720" tIns="27432" rIns="45720" bIns="27432" anchor="ctr">
            <a:spAutoFit/>
          </a:bodyPr>
          <a:lstStyle/>
          <a:p>
            <a:pPr algn="l">
              <a:spcAft>
                <a:spcPts val="0"/>
              </a:spcAft>
            </a:pPr>
            <a:r>
              <a:rPr sz="1200" b="0" i="0">
                <a:solidFill>
                  <a:srgbClr val="E4E9EE"/>
                </a:solidFill>
                <a:latin typeface="Aptos"/>
              </a:rPr>
              <a:t>J = L + 5X + O + 0.5B, in metres: cable length, plus 5 per crossing, 1 per metre of overlap, 0.5 per bend. Hard rules on slide 3 apply first.</a:t>
            </a:r>
          </a:p>
        </p:txBody>
      </p:sp>
      <p:sp>
        <p:nvSpPr>
          <p:cNvPr id="10" name="Rounded Rectangle 9"/>
          <p:cNvSpPr/>
          <p:nvPr/>
        </p:nvSpPr>
        <p:spPr>
          <a:xfrm>
            <a:off x="457200" y="2542032"/>
            <a:ext cx="7086600" cy="3447288"/>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11" name="TextBox 10"/>
          <p:cNvSpPr txBox="1"/>
          <p:nvPr/>
        </p:nvSpPr>
        <p:spPr>
          <a:xfrm>
            <a:off x="594360" y="2615184"/>
            <a:ext cx="6812280"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Metric definitions (per plan, computed by the checker)</a:t>
            </a:r>
          </a:p>
        </p:txBody>
      </p:sp>
      <p:sp>
        <p:nvSpPr>
          <p:cNvPr id="12" name="Rectangle 11"/>
          <p:cNvSpPr/>
          <p:nvPr/>
        </p:nvSpPr>
        <p:spPr>
          <a:xfrm>
            <a:off x="640080" y="2953512"/>
            <a:ext cx="457200" cy="32004"/>
          </a:xfrm>
          <a:prstGeom prst="rect">
            <a:avLst/>
          </a:prstGeom>
          <a:solidFill>
            <a:srgbClr val="C8102E"/>
          </a:solidFill>
          <a:ln>
            <a:noFill/>
          </a:ln>
        </p:spPr>
        <p:txBody>
          <a:bodyPr rtlCol="0" anchor="ctr"/>
          <a:lstStyle/>
          <a:p>
            <a:pPr algn="ctr"/>
            <a:endParaRPr/>
          </a:p>
        </p:txBody>
      </p:sp>
      <p:sp>
        <p:nvSpPr>
          <p:cNvPr id="13" name="Oval 12"/>
          <p:cNvSpPr/>
          <p:nvPr/>
        </p:nvSpPr>
        <p:spPr>
          <a:xfrm>
            <a:off x="621792" y="3090672"/>
            <a:ext cx="310896" cy="310896"/>
          </a:xfrm>
          <a:prstGeom prst="ellipse">
            <a:avLst/>
          </a:prstGeom>
          <a:solidFill>
            <a:srgbClr val="1F5FBF"/>
          </a:solidFill>
          <a:ln>
            <a:noFill/>
          </a:ln>
        </p:spPr>
        <p:txBody>
          <a:bodyPr wrap="square" lIns="0" tIns="0" rIns="0" bIns="0" rtlCol="0" anchor="ctr"/>
          <a:lstStyle/>
          <a:p>
            <a:pPr algn="ctr">
              <a:spcAft>
                <a:spcPts val="0"/>
              </a:spcAft>
            </a:pPr>
            <a:r>
              <a:rPr sz="1200" b="1" i="0">
                <a:solidFill>
                  <a:srgbClr val="FFFFFF"/>
                </a:solidFill>
                <a:latin typeface="Aptos"/>
              </a:rPr>
              <a:t>H</a:t>
            </a:r>
          </a:p>
        </p:txBody>
      </p:sp>
      <p:sp>
        <p:nvSpPr>
          <p:cNvPr id="14" name="TextBox 13"/>
          <p:cNvSpPr txBox="1"/>
          <p:nvPr/>
        </p:nvSpPr>
        <p:spPr>
          <a:xfrm>
            <a:off x="1024128" y="3063240"/>
            <a:ext cx="6400800" cy="502920"/>
          </a:xfrm>
          <a:prstGeom prst="rect">
            <a:avLst/>
          </a:prstGeom>
          <a:noFill/>
        </p:spPr>
        <p:txBody>
          <a:bodyPr wrap="square" lIns="45720" tIns="27432" rIns="45720" bIns="27432" anchor="t">
            <a:spAutoFit/>
          </a:bodyPr>
          <a:lstStyle/>
          <a:p>
            <a:pPr algn="l">
              <a:spcAft>
                <a:spcPts val="0"/>
              </a:spcAft>
            </a:pPr>
            <a:r>
              <a:rPr sz="1200" b="1" i="0">
                <a:solidFill>
                  <a:srgbClr val="1F2933"/>
                </a:solidFill>
                <a:latin typeface="Aptos"/>
              </a:rPr>
              <a:t>Hubs H: </a:t>
            </a:r>
            <a:r>
              <a:rPr sz="1200" b="0" i="0">
                <a:solidFill>
                  <a:srgbClr val="1F2933"/>
                </a:solidFill>
                <a:latin typeface="Aptos"/>
              </a:rPr>
              <a:t>number of selected hubs; always compared first.</a:t>
            </a:r>
          </a:p>
        </p:txBody>
      </p:sp>
      <p:sp>
        <p:nvSpPr>
          <p:cNvPr id="15" name="Oval 14"/>
          <p:cNvSpPr/>
          <p:nvPr/>
        </p:nvSpPr>
        <p:spPr>
          <a:xfrm>
            <a:off x="621792" y="3593592"/>
            <a:ext cx="310896" cy="310896"/>
          </a:xfrm>
          <a:prstGeom prst="ellipse">
            <a:avLst/>
          </a:prstGeom>
          <a:solidFill>
            <a:srgbClr val="1F5FBF"/>
          </a:solidFill>
          <a:ln>
            <a:noFill/>
          </a:ln>
        </p:spPr>
        <p:txBody>
          <a:bodyPr wrap="square" lIns="0" tIns="0" rIns="0" bIns="0" rtlCol="0" anchor="ctr"/>
          <a:lstStyle/>
          <a:p>
            <a:pPr algn="ctr">
              <a:spcAft>
                <a:spcPts val="0"/>
              </a:spcAft>
            </a:pPr>
            <a:r>
              <a:rPr sz="1200" b="1" i="0">
                <a:solidFill>
                  <a:srgbClr val="FFFFFF"/>
                </a:solidFill>
                <a:latin typeface="Aptos"/>
              </a:rPr>
              <a:t>L</a:t>
            </a:r>
          </a:p>
        </p:txBody>
      </p:sp>
      <p:sp>
        <p:nvSpPr>
          <p:cNvPr id="16" name="TextBox 15"/>
          <p:cNvSpPr txBox="1"/>
          <p:nvPr/>
        </p:nvSpPr>
        <p:spPr>
          <a:xfrm>
            <a:off x="1024128" y="3566160"/>
            <a:ext cx="6400800" cy="502920"/>
          </a:xfrm>
          <a:prstGeom prst="rect">
            <a:avLst/>
          </a:prstGeom>
          <a:noFill/>
        </p:spPr>
        <p:txBody>
          <a:bodyPr wrap="square" lIns="45720" tIns="27432" rIns="45720" bIns="27432" anchor="t">
            <a:spAutoFit/>
          </a:bodyPr>
          <a:lstStyle/>
          <a:p>
            <a:pPr algn="l">
              <a:spcAft>
                <a:spcPts val="0"/>
              </a:spcAft>
            </a:pPr>
            <a:r>
              <a:rPr sz="1200" b="1" i="0">
                <a:solidFill>
                  <a:srgbClr val="1F2933"/>
                </a:solidFill>
                <a:latin typeface="Aptos"/>
              </a:rPr>
              <a:t>Cable length L (1 per m): </a:t>
            </a:r>
            <a:r>
              <a:rPr sz="1200" b="0" i="0">
                <a:solidFill>
                  <a:srgbClr val="1F2933"/>
                </a:solidFill>
                <a:latin typeface="Aptos"/>
              </a:rPr>
              <a:t>sum of polyline lengths in metres over every leg of every ring, return legs included.</a:t>
            </a:r>
          </a:p>
        </p:txBody>
      </p:sp>
      <p:sp>
        <p:nvSpPr>
          <p:cNvPr id="17" name="Oval 16"/>
          <p:cNvSpPr/>
          <p:nvPr/>
        </p:nvSpPr>
        <p:spPr>
          <a:xfrm>
            <a:off x="621792" y="4096512"/>
            <a:ext cx="310896" cy="310896"/>
          </a:xfrm>
          <a:prstGeom prst="ellipse">
            <a:avLst/>
          </a:prstGeom>
          <a:solidFill>
            <a:srgbClr val="1F5FBF"/>
          </a:solidFill>
          <a:ln>
            <a:noFill/>
          </a:ln>
        </p:spPr>
        <p:txBody>
          <a:bodyPr wrap="square" lIns="0" tIns="0" rIns="0" bIns="0" rtlCol="0" anchor="ctr"/>
          <a:lstStyle/>
          <a:p>
            <a:pPr algn="ctr">
              <a:spcAft>
                <a:spcPts val="0"/>
              </a:spcAft>
            </a:pPr>
            <a:r>
              <a:rPr sz="1200" b="1" i="0">
                <a:solidFill>
                  <a:srgbClr val="FFFFFF"/>
                </a:solidFill>
                <a:latin typeface="Aptos"/>
              </a:rPr>
              <a:t>X</a:t>
            </a:r>
          </a:p>
        </p:txBody>
      </p:sp>
      <p:sp>
        <p:nvSpPr>
          <p:cNvPr id="18" name="TextBox 17"/>
          <p:cNvSpPr txBox="1"/>
          <p:nvPr/>
        </p:nvSpPr>
        <p:spPr>
          <a:xfrm>
            <a:off x="1024128" y="4069080"/>
            <a:ext cx="6400800" cy="502920"/>
          </a:xfrm>
          <a:prstGeom prst="rect">
            <a:avLst/>
          </a:prstGeom>
          <a:noFill/>
        </p:spPr>
        <p:txBody>
          <a:bodyPr wrap="square" lIns="45720" tIns="27432" rIns="45720" bIns="27432" anchor="t">
            <a:spAutoFit/>
          </a:bodyPr>
          <a:lstStyle/>
          <a:p>
            <a:pPr algn="l">
              <a:spcAft>
                <a:spcPts val="0"/>
              </a:spcAft>
            </a:pPr>
            <a:r>
              <a:rPr sz="1200" b="1" i="0">
                <a:solidFill>
                  <a:srgbClr val="1F2933"/>
                </a:solidFill>
                <a:latin typeface="Aptos"/>
              </a:rPr>
              <a:t>Crossings X (5 each): </a:t>
            </a:r>
            <a:r>
              <a:rPr sz="1200" b="0" i="0">
                <a:solidFill>
                  <a:srgbClr val="1F2933"/>
                </a:solidFill>
                <a:latin typeface="Aptos"/>
              </a:rPr>
              <a:t>points where two cables meet away from a node or hub, inside one ring or between rings.</a:t>
            </a:r>
          </a:p>
        </p:txBody>
      </p:sp>
      <p:sp>
        <p:nvSpPr>
          <p:cNvPr id="19" name="Oval 18"/>
          <p:cNvSpPr/>
          <p:nvPr/>
        </p:nvSpPr>
        <p:spPr>
          <a:xfrm>
            <a:off x="621792" y="4599432"/>
            <a:ext cx="310896" cy="310896"/>
          </a:xfrm>
          <a:prstGeom prst="ellipse">
            <a:avLst/>
          </a:prstGeom>
          <a:solidFill>
            <a:srgbClr val="1F5FBF"/>
          </a:solidFill>
          <a:ln>
            <a:noFill/>
          </a:ln>
        </p:spPr>
        <p:txBody>
          <a:bodyPr wrap="square" lIns="0" tIns="0" rIns="0" bIns="0" rtlCol="0" anchor="ctr"/>
          <a:lstStyle/>
          <a:p>
            <a:pPr algn="ctr">
              <a:spcAft>
                <a:spcPts val="0"/>
              </a:spcAft>
            </a:pPr>
            <a:r>
              <a:rPr sz="1200" b="1" i="0">
                <a:solidFill>
                  <a:srgbClr val="FFFFFF"/>
                </a:solidFill>
                <a:latin typeface="Aptos"/>
              </a:rPr>
              <a:t>O</a:t>
            </a:r>
          </a:p>
        </p:txBody>
      </p:sp>
      <p:sp>
        <p:nvSpPr>
          <p:cNvPr id="20" name="TextBox 19"/>
          <p:cNvSpPr txBox="1"/>
          <p:nvPr/>
        </p:nvSpPr>
        <p:spPr>
          <a:xfrm>
            <a:off x="1024128" y="4572000"/>
            <a:ext cx="6400800" cy="502920"/>
          </a:xfrm>
          <a:prstGeom prst="rect">
            <a:avLst/>
          </a:prstGeom>
          <a:noFill/>
        </p:spPr>
        <p:txBody>
          <a:bodyPr wrap="square" lIns="45720" tIns="27432" rIns="45720" bIns="27432" anchor="t">
            <a:spAutoFit/>
          </a:bodyPr>
          <a:lstStyle/>
          <a:p>
            <a:pPr algn="l">
              <a:spcAft>
                <a:spcPts val="0"/>
              </a:spcAft>
            </a:pPr>
            <a:r>
              <a:rPr sz="1200" b="1" i="0">
                <a:solidFill>
                  <a:srgbClr val="1F2933"/>
                </a:solidFill>
                <a:latin typeface="Aptos"/>
              </a:rPr>
              <a:t>Overlap O (1 per m): </a:t>
            </a:r>
            <a:r>
              <a:rPr sz="1200" b="0" i="0">
                <a:solidFill>
                  <a:srgbClr val="1F2933"/>
                </a:solidFill>
                <a:latin typeface="Aptos"/>
              </a:rPr>
              <a:t>total length in metres where two legs run along the same line. A retrace on the same line counts; parallel runs do not.</a:t>
            </a:r>
          </a:p>
        </p:txBody>
      </p:sp>
      <p:sp>
        <p:nvSpPr>
          <p:cNvPr id="21" name="Oval 20"/>
          <p:cNvSpPr/>
          <p:nvPr/>
        </p:nvSpPr>
        <p:spPr>
          <a:xfrm>
            <a:off x="621792" y="5102352"/>
            <a:ext cx="310896" cy="310896"/>
          </a:xfrm>
          <a:prstGeom prst="ellipse">
            <a:avLst/>
          </a:prstGeom>
          <a:solidFill>
            <a:srgbClr val="1F5FBF"/>
          </a:solidFill>
          <a:ln>
            <a:noFill/>
          </a:ln>
        </p:spPr>
        <p:txBody>
          <a:bodyPr wrap="square" lIns="0" tIns="0" rIns="0" bIns="0" rtlCol="0" anchor="ctr"/>
          <a:lstStyle/>
          <a:p>
            <a:pPr algn="ctr">
              <a:spcAft>
                <a:spcPts val="0"/>
              </a:spcAft>
            </a:pPr>
            <a:r>
              <a:rPr sz="1200" b="1" i="0">
                <a:solidFill>
                  <a:srgbClr val="FFFFFF"/>
                </a:solidFill>
                <a:latin typeface="Aptos"/>
              </a:rPr>
              <a:t>B</a:t>
            </a:r>
          </a:p>
        </p:txBody>
      </p:sp>
      <p:sp>
        <p:nvSpPr>
          <p:cNvPr id="22" name="TextBox 21"/>
          <p:cNvSpPr txBox="1"/>
          <p:nvPr/>
        </p:nvSpPr>
        <p:spPr>
          <a:xfrm>
            <a:off x="1024128" y="5074920"/>
            <a:ext cx="6400800" cy="502920"/>
          </a:xfrm>
          <a:prstGeom prst="rect">
            <a:avLst/>
          </a:prstGeom>
          <a:noFill/>
        </p:spPr>
        <p:txBody>
          <a:bodyPr wrap="square" lIns="45720" tIns="27432" rIns="45720" bIns="27432" anchor="t">
            <a:spAutoFit/>
          </a:bodyPr>
          <a:lstStyle/>
          <a:p>
            <a:pPr algn="l">
              <a:spcAft>
                <a:spcPts val="0"/>
              </a:spcAft>
            </a:pPr>
            <a:r>
              <a:rPr sz="1200" b="1" i="0">
                <a:solidFill>
                  <a:srgbClr val="1F2933"/>
                </a:solidFill>
                <a:latin typeface="Aptos"/>
              </a:rPr>
              <a:t>Bends B (0.5 each): </a:t>
            </a:r>
            <a:r>
              <a:rPr sz="1200" b="0" i="0">
                <a:solidFill>
                  <a:srgbClr val="1F2933"/>
                </a:solidFill>
                <a:latin typeface="Aptos"/>
              </a:rPr>
              <a:t>direction changes along each closed ring, nodes included. Cable is axis-aligned, so every turn is 90°; a reversal counts once.</a:t>
            </a:r>
          </a:p>
        </p:txBody>
      </p:sp>
      <p:sp>
        <p:nvSpPr>
          <p:cNvPr id="23" name="TextBox 22"/>
          <p:cNvSpPr txBox="1"/>
          <p:nvPr/>
        </p:nvSpPr>
        <p:spPr>
          <a:xfrm>
            <a:off x="621792" y="5577840"/>
            <a:ext cx="6766560" cy="365760"/>
          </a:xfrm>
          <a:prstGeom prst="rect">
            <a:avLst/>
          </a:prstGeom>
          <a:noFill/>
        </p:spPr>
        <p:txBody>
          <a:bodyPr wrap="square" lIns="45720" tIns="27432" rIns="45720" bIns="27432" anchor="t">
            <a:spAutoFit/>
          </a:bodyPr>
          <a:lstStyle/>
          <a:p>
            <a:pPr algn="l">
              <a:spcAft>
                <a:spcPts val="0"/>
              </a:spcAft>
            </a:pPr>
            <a:r>
              <a:rPr sz="1150" b="1" i="0">
                <a:solidFill>
                  <a:srgbClr val="1F2933"/>
                </a:solidFill>
                <a:latin typeface="Aptos"/>
              </a:rPr>
              <a:t>Tie-break: </a:t>
            </a:r>
            <a:r>
              <a:rPr sz="1150" b="0" i="0">
                <a:solidFill>
                  <a:srgbClr val="1F2933"/>
                </a:solidFill>
                <a:latin typeface="Aptos"/>
              </a:rPr>
              <a:t>equal J is broken by a smaller assigned-area gap between hubs.  </a:t>
            </a:r>
            <a:r>
              <a:rPr sz="1150" b="1" i="0">
                <a:solidFill>
                  <a:srgbClr val="1F2933"/>
                </a:solidFill>
                <a:latin typeface="Aptos"/>
              </a:rPr>
              <a:t>Tolerance: </a:t>
            </a:r>
            <a:r>
              <a:rPr sz="1150" b="0" i="0">
                <a:solidFill>
                  <a:srgbClr val="1F2933"/>
                </a:solidFill>
                <a:latin typeface="Aptos"/>
              </a:rPr>
              <a:t>1 mm. Weights are starting values, fixed after reference runs.</a:t>
            </a:r>
          </a:p>
        </p:txBody>
      </p:sp>
      <p:sp>
        <p:nvSpPr>
          <p:cNvPr id="24" name="Rounded Rectangle 23"/>
          <p:cNvSpPr/>
          <p:nvPr/>
        </p:nvSpPr>
        <p:spPr>
          <a:xfrm>
            <a:off x="7726679" y="2542032"/>
            <a:ext cx="4005072" cy="178308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25" name="TextBox 24"/>
          <p:cNvSpPr txBox="1"/>
          <p:nvPr/>
        </p:nvSpPr>
        <p:spPr>
          <a:xfrm>
            <a:off x="7863840" y="2615184"/>
            <a:ext cx="3730752"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Scoring across plans</a:t>
            </a:r>
          </a:p>
        </p:txBody>
      </p:sp>
      <p:sp>
        <p:nvSpPr>
          <p:cNvPr id="26" name="Rectangle 25"/>
          <p:cNvSpPr/>
          <p:nvPr/>
        </p:nvSpPr>
        <p:spPr>
          <a:xfrm>
            <a:off x="7909559" y="2953512"/>
            <a:ext cx="457200" cy="32004"/>
          </a:xfrm>
          <a:prstGeom prst="rect">
            <a:avLst/>
          </a:prstGeom>
          <a:solidFill>
            <a:srgbClr val="C8102E"/>
          </a:solidFill>
          <a:ln>
            <a:noFill/>
          </a:ln>
        </p:spPr>
        <p:txBody>
          <a:bodyPr rtlCol="0" anchor="ctr"/>
          <a:lstStyle/>
          <a:p>
            <a:pPr algn="ctr"/>
            <a:endParaRPr/>
          </a:p>
        </p:txBody>
      </p:sp>
      <p:sp>
        <p:nvSpPr>
          <p:cNvPr id="27" name="TextBox 26"/>
          <p:cNvSpPr txBox="1"/>
          <p:nvPr/>
        </p:nvSpPr>
        <p:spPr>
          <a:xfrm>
            <a:off x="7836408" y="3017520"/>
            <a:ext cx="3840480" cy="1280160"/>
          </a:xfrm>
          <a:prstGeom prst="rect">
            <a:avLst/>
          </a:prstGeom>
          <a:noFill/>
        </p:spPr>
        <p:txBody>
          <a:bodyPr wrap="square" lIns="45720" tIns="27432" rIns="45720" bIns="27432" anchor="t">
            <a:spAutoFit/>
          </a:bodyPr>
          <a:lstStyle/>
          <a:p>
            <a:pPr algn="l">
              <a:spcAft>
                <a:spcPts val="300"/>
              </a:spcAft>
            </a:pPr>
            <a:r>
              <a:rPr sz="1150" b="1" i="0">
                <a:solidFill>
                  <a:srgbClr val="C8102E"/>
                </a:solidFill>
                <a:latin typeface="Aptos"/>
              </a:rPr>
              <a:t>•  </a:t>
            </a:r>
            <a:r>
              <a:rPr sz="1150" b="0" i="0">
                <a:solidFill>
                  <a:srgbClr val="1F2933"/>
                </a:solidFill>
                <a:latin typeface="Aptos"/>
              </a:rPr>
              <a:t>Values reported in the JSON are ignored</a:t>
            </a:r>
          </a:p>
          <a:p>
            <a:pPr algn="l">
              <a:spcAft>
                <a:spcPts val="300"/>
              </a:spcAft>
            </a:pPr>
            <a:r>
              <a:rPr sz="1150" b="1" i="0">
                <a:solidFill>
                  <a:srgbClr val="C8102E"/>
                </a:solidFill>
                <a:latin typeface="Aptos"/>
              </a:rPr>
              <a:t>•  </a:t>
            </a:r>
            <a:r>
              <a:rPr sz="1150" b="0" i="0">
                <a:solidFill>
                  <a:srgbClr val="1F2933"/>
                </a:solidFill>
                <a:latin typeface="Aptos"/>
              </a:rPr>
              <a:t>Per plan, valid designs are ranked by hub count, then by cost J</a:t>
            </a:r>
          </a:p>
          <a:p>
            <a:pPr algn="l">
              <a:spcAft>
                <a:spcPts val="300"/>
              </a:spcAft>
            </a:pPr>
            <a:r>
              <a:rPr sz="1150" b="1" i="0">
                <a:solidFill>
                  <a:srgbClr val="C8102E"/>
                </a:solidFill>
                <a:latin typeface="Aptos"/>
              </a:rPr>
              <a:t>•  </a:t>
            </a:r>
            <a:r>
              <a:rPr sz="1150" b="0" i="0">
                <a:solidFill>
                  <a:srgbClr val="1F2933"/>
                </a:solidFill>
                <a:latin typeface="Aptos"/>
              </a:rPr>
              <a:t>Rank points add up over hidden, unseen plans</a:t>
            </a:r>
          </a:p>
          <a:p>
            <a:pPr algn="l">
              <a:spcAft>
                <a:spcPts val="300"/>
              </a:spcAft>
            </a:pPr>
            <a:r>
              <a:rPr sz="1150" b="1" i="0">
                <a:solidFill>
                  <a:srgbClr val="C8102E"/>
                </a:solidFill>
                <a:latin typeface="Aptos"/>
              </a:rPr>
              <a:t>•  </a:t>
            </a:r>
            <a:r>
              <a:rPr sz="1150" b="0" i="0">
                <a:solidFill>
                  <a:srgbClr val="1F2933"/>
                </a:solidFill>
                <a:latin typeface="Aptos"/>
              </a:rPr>
              <a:t>An invalid or missing plan scores zero</a:t>
            </a:r>
          </a:p>
        </p:txBody>
      </p:sp>
      <p:sp>
        <p:nvSpPr>
          <p:cNvPr id="28" name="Rounded Rectangle 27"/>
          <p:cNvSpPr/>
          <p:nvPr/>
        </p:nvSpPr>
        <p:spPr>
          <a:xfrm>
            <a:off x="7726679" y="4434840"/>
            <a:ext cx="4005072" cy="155448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29" name="TextBox 28"/>
          <p:cNvSpPr txBox="1"/>
          <p:nvPr/>
        </p:nvSpPr>
        <p:spPr>
          <a:xfrm>
            <a:off x="7863840" y="4507992"/>
            <a:ext cx="3730752"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Left for the teams</a:t>
            </a:r>
          </a:p>
        </p:txBody>
      </p:sp>
      <p:sp>
        <p:nvSpPr>
          <p:cNvPr id="30" name="Rectangle 29"/>
          <p:cNvSpPr/>
          <p:nvPr/>
        </p:nvSpPr>
        <p:spPr>
          <a:xfrm>
            <a:off x="7909559" y="4846320"/>
            <a:ext cx="457200" cy="32004"/>
          </a:xfrm>
          <a:prstGeom prst="rect">
            <a:avLst/>
          </a:prstGeom>
          <a:solidFill>
            <a:srgbClr val="C8102E"/>
          </a:solidFill>
          <a:ln>
            <a:noFill/>
          </a:ln>
        </p:spPr>
        <p:txBody>
          <a:bodyPr rtlCol="0" anchor="ctr"/>
          <a:lstStyle/>
          <a:p>
            <a:pPr algn="ctr"/>
            <a:endParaRPr/>
          </a:p>
        </p:txBody>
      </p:sp>
      <p:sp>
        <p:nvSpPr>
          <p:cNvPr id="31" name="TextBox 30"/>
          <p:cNvSpPr txBox="1"/>
          <p:nvPr/>
        </p:nvSpPr>
        <p:spPr>
          <a:xfrm>
            <a:off x="7836408" y="4910328"/>
            <a:ext cx="3840480" cy="1097280"/>
          </a:xfrm>
          <a:prstGeom prst="rect">
            <a:avLst/>
          </a:prstGeom>
          <a:noFill/>
        </p:spPr>
        <p:txBody>
          <a:bodyPr wrap="square" lIns="45720" tIns="27432" rIns="45720" bIns="27432" anchor="t">
            <a:spAutoFit/>
          </a:bodyPr>
          <a:lstStyle/>
          <a:p>
            <a:pPr algn="l">
              <a:spcAft>
                <a:spcPts val="300"/>
              </a:spcAft>
            </a:pPr>
            <a:r>
              <a:rPr sz="1150" b="1" i="0">
                <a:solidFill>
                  <a:srgbClr val="C8102E"/>
                </a:solidFill>
                <a:latin typeface="Aptos"/>
              </a:rPr>
              <a:t>•  </a:t>
            </a:r>
            <a:r>
              <a:rPr sz="1150" b="0" i="0">
                <a:solidFill>
                  <a:srgbClr val="1F2933"/>
                </a:solidFill>
                <a:latin typeface="Aptos"/>
              </a:rPr>
              <a:t>The optimisation model and algorithm</a:t>
            </a:r>
          </a:p>
          <a:p>
            <a:pPr algn="l">
              <a:spcAft>
                <a:spcPts val="300"/>
              </a:spcAft>
            </a:pPr>
            <a:r>
              <a:rPr sz="1150" b="1" i="0">
                <a:solidFill>
                  <a:srgbClr val="C8102E"/>
                </a:solidFill>
                <a:latin typeface="Aptos"/>
              </a:rPr>
              <a:t>•  </a:t>
            </a:r>
            <a:r>
              <a:rPr sz="1150" b="0" i="0">
                <a:solidFill>
                  <a:srgbClr val="1F2933"/>
                </a:solidFill>
                <a:latin typeface="Aptos"/>
              </a:rPr>
              <a:t>Any internal cost or weighting they like</a:t>
            </a:r>
          </a:p>
          <a:p>
            <a:pPr algn="l">
              <a:spcAft>
                <a:spcPts val="300"/>
              </a:spcAft>
            </a:pPr>
            <a:r>
              <a:rPr sz="1150" b="1" i="0">
                <a:solidFill>
                  <a:srgbClr val="C8102E"/>
                </a:solidFill>
                <a:latin typeface="Aptos"/>
              </a:rPr>
              <a:t>•  </a:t>
            </a:r>
            <a:r>
              <a:rPr sz="1150" b="0" i="0">
                <a:solidFill>
                  <a:srgbClr val="1F2933"/>
                </a:solidFill>
                <a:latin typeface="Aptos"/>
              </a:rPr>
              <a:t>Only the final hub count and cost J are scored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6032"/>
            <a:ext cx="11274552" cy="566928"/>
          </a:xfrm>
        </p:spPr>
        <p:txBody>
          <a:bodyPr wrap="square" lIns="45720" anchor="ctr"/>
          <a:lstStyle/>
          <a:p>
            <a:pPr algn="l"/>
            <a:r>
              <a:rPr sz="2800" b="1">
                <a:solidFill>
                  <a:srgbClr val="1F2933"/>
                </a:solidFill>
                <a:latin typeface="Aptos"/>
              </a:rPr>
              <a:t>Metric definitions with examples</a:t>
            </a:r>
          </a:p>
        </p:txBody>
      </p:sp>
      <p:sp>
        <p:nvSpPr>
          <p:cNvPr id="3" name="TextBox 2"/>
          <p:cNvSpPr txBox="1"/>
          <p:nvPr/>
        </p:nvSpPr>
        <p:spPr>
          <a:xfrm>
            <a:off x="457200" y="822960"/>
            <a:ext cx="11274552" cy="365760"/>
          </a:xfrm>
          <a:prstGeom prst="rect">
            <a:avLst/>
          </a:prstGeom>
          <a:noFill/>
        </p:spPr>
        <p:txBody>
          <a:bodyPr wrap="square" lIns="45720" tIns="27432" rIns="45720" bIns="27432" anchor="t">
            <a:spAutoFit/>
          </a:bodyPr>
          <a:lstStyle/>
          <a:p>
            <a:pPr algn="l">
              <a:spcAft>
                <a:spcPts val="0"/>
              </a:spcAft>
            </a:pPr>
            <a:r>
              <a:rPr sz="1400" b="0" i="0">
                <a:solidFill>
                  <a:srgbClr val="5B6770"/>
                </a:solidFill>
                <a:latin typeface="Aptos"/>
              </a:rPr>
              <a:t>The checker computes each metric from the submitted polylines. The drawings show what counts and what does not.</a:t>
            </a:r>
          </a:p>
        </p:txBody>
      </p:sp>
      <p:sp>
        <p:nvSpPr>
          <p:cNvPr id="4" name="Rectangle 3"/>
          <p:cNvSpPr/>
          <p:nvPr/>
        </p:nvSpPr>
        <p:spPr>
          <a:xfrm>
            <a:off x="502920" y="1243584"/>
            <a:ext cx="1097280" cy="45720"/>
          </a:xfrm>
          <a:prstGeom prst="rect">
            <a:avLst/>
          </a:prstGeom>
          <a:solidFill>
            <a:srgbClr val="C8102E"/>
          </a:solidFill>
          <a:ln>
            <a:noFill/>
          </a:ln>
        </p:spPr>
        <p:txBody>
          <a:bodyPr rtlCol="0" anchor="ctr"/>
          <a:lstStyle/>
          <a:p>
            <a:pPr algn="ctr"/>
            <a:endParaRPr/>
          </a:p>
        </p:txBody>
      </p:sp>
      <p:sp>
        <p:nvSpPr>
          <p:cNvPr id="5" name="TextBox 4"/>
          <p:cNvSpPr txBox="1"/>
          <p:nvPr/>
        </p:nvSpPr>
        <p:spPr>
          <a:xfrm>
            <a:off x="457200" y="6492240"/>
            <a:ext cx="6400800" cy="274320"/>
          </a:xfrm>
          <a:prstGeom prst="rect">
            <a:avLst/>
          </a:prstGeom>
          <a:noFill/>
        </p:spPr>
        <p:txBody>
          <a:bodyPr wrap="square" lIns="45720" tIns="27432" rIns="45720" bIns="27432" anchor="t">
            <a:spAutoFit/>
          </a:bodyPr>
          <a:lstStyle/>
          <a:p>
            <a:pPr algn="l">
              <a:spcAft>
                <a:spcPts val="0"/>
              </a:spcAft>
            </a:pPr>
            <a:r>
              <a:rPr sz="1000" b="0" i="0">
                <a:solidFill>
                  <a:srgbClr val="5B6770"/>
                </a:solidFill>
                <a:latin typeface="Aptos"/>
              </a:rPr>
              <a:t>Research exercise: results are not a building-services design.</a:t>
            </a:r>
          </a:p>
        </p:txBody>
      </p:sp>
      <p:sp>
        <p:nvSpPr>
          <p:cNvPr id="6" name="Rounded Rectangle 5"/>
          <p:cNvSpPr/>
          <p:nvPr/>
        </p:nvSpPr>
        <p:spPr>
          <a:xfrm>
            <a:off x="457200" y="1508760"/>
            <a:ext cx="2697480" cy="466344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7" name="TextBox 6"/>
          <p:cNvSpPr txBox="1"/>
          <p:nvPr/>
        </p:nvSpPr>
        <p:spPr>
          <a:xfrm>
            <a:off x="594360" y="1581912"/>
            <a:ext cx="2423160"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Cable length (L)</a:t>
            </a:r>
          </a:p>
        </p:txBody>
      </p:sp>
      <p:sp>
        <p:nvSpPr>
          <p:cNvPr id="8" name="Rectangle 7"/>
          <p:cNvSpPr/>
          <p:nvPr/>
        </p:nvSpPr>
        <p:spPr>
          <a:xfrm>
            <a:off x="640080" y="1920240"/>
            <a:ext cx="457200" cy="32004"/>
          </a:xfrm>
          <a:prstGeom prst="rect">
            <a:avLst/>
          </a:prstGeom>
          <a:solidFill>
            <a:srgbClr val="C8102E"/>
          </a:solidFill>
          <a:ln>
            <a:noFill/>
          </a:ln>
        </p:spPr>
        <p:txBody>
          <a:bodyPr rtlCol="0" anchor="ctr"/>
          <a:lstStyle/>
          <a:p>
            <a:pPr algn="ctr"/>
            <a:endParaRPr/>
          </a:p>
        </p:txBody>
      </p:sp>
      <p:sp>
        <p:nvSpPr>
          <p:cNvPr id="9" name="TextBox 8"/>
          <p:cNvSpPr txBox="1"/>
          <p:nvPr/>
        </p:nvSpPr>
        <p:spPr>
          <a:xfrm>
            <a:off x="566928" y="2011680"/>
            <a:ext cx="2478024" cy="914400"/>
          </a:xfrm>
          <a:prstGeom prst="rect">
            <a:avLst/>
          </a:prstGeom>
          <a:noFill/>
        </p:spPr>
        <p:txBody>
          <a:bodyPr wrap="square" lIns="45720" tIns="27432" rIns="45720" bIns="27432" anchor="t">
            <a:spAutoFit/>
          </a:bodyPr>
          <a:lstStyle/>
          <a:p>
            <a:pPr algn="l">
              <a:spcAft>
                <a:spcPts val="0"/>
              </a:spcAft>
            </a:pPr>
            <a:r>
              <a:rPr sz="1050" b="0" i="0">
                <a:solidFill>
                  <a:srgbClr val="1F2933"/>
                </a:solidFill>
                <a:latin typeface="Aptos"/>
              </a:rPr>
              <a:t>Total length of every leg of every ring, including the leg back to the hub, measured along the polyline in metres.</a:t>
            </a:r>
          </a:p>
        </p:txBody>
      </p:sp>
      <p:sp>
        <p:nvSpPr>
          <p:cNvPr id="10" name="Rounded Rectangle 9"/>
          <p:cNvSpPr/>
          <p:nvPr/>
        </p:nvSpPr>
        <p:spPr>
          <a:xfrm>
            <a:off x="566928" y="2990088"/>
            <a:ext cx="2478024" cy="1097280"/>
          </a:xfrm>
          <a:prstGeom prst="roundRect">
            <a:avLst>
              <a:gd name="adj" fmla="val 6000"/>
            </a:avLst>
          </a:prstGeom>
          <a:solidFill>
            <a:srgbClr val="FFFFFF"/>
          </a:solidFill>
          <a:ln w="9525">
            <a:solidFill>
              <a:srgbClr val="CBD2D9"/>
            </a:solidFill>
          </a:ln>
        </p:spPr>
        <p:txBody>
          <a:bodyPr rtlCol="0" anchor="ctr"/>
          <a:lstStyle/>
          <a:p>
            <a:pPr algn="ctr"/>
            <a:endParaRPr/>
          </a:p>
        </p:txBody>
      </p:sp>
      <p:sp>
        <p:nvSpPr>
          <p:cNvPr id="11" name="Freeform 10"/>
          <p:cNvSpPr/>
          <p:nvPr/>
        </p:nvSpPr>
        <p:spPr>
          <a:xfrm>
            <a:off x="1110995" y="3904487"/>
            <a:ext cx="1389889" cy="0"/>
          </a:xfrm>
          <a:custGeom>
            <a:avLst/>
            <a:gdLst/>
            <a:ahLst/>
            <a:cxnLst/>
            <a:rect l="l" t="t" r="r" b="b"/>
            <a:pathLst>
              <a:path w="1389889">
                <a:moveTo>
                  <a:pt x="0" y="0"/>
                </a:moveTo>
                <a:lnTo>
                  <a:pt x="1389889" y="0"/>
                </a:lnTo>
              </a:path>
            </a:pathLst>
          </a:custGeom>
          <a:noFill/>
          <a:ln w="28575">
            <a:solidFill>
              <a:srgbClr val="1F5FBF"/>
            </a:solidFill>
            <a:round/>
          </a:ln>
        </p:spPr>
        <p:txBody>
          <a:bodyPr rtlCol="0" anchor="ctr"/>
          <a:lstStyle/>
          <a:p>
            <a:pPr algn="ctr"/>
            <a:endParaRPr/>
          </a:p>
        </p:txBody>
      </p:sp>
      <p:sp>
        <p:nvSpPr>
          <p:cNvPr id="12" name="Freeform 11"/>
          <p:cNvSpPr/>
          <p:nvPr/>
        </p:nvSpPr>
        <p:spPr>
          <a:xfrm>
            <a:off x="2500884" y="3209544"/>
            <a:ext cx="0" cy="694943"/>
          </a:xfrm>
          <a:custGeom>
            <a:avLst/>
            <a:gdLst/>
            <a:ahLst/>
            <a:cxnLst/>
            <a:rect l="l" t="t" r="r" b="b"/>
            <a:pathLst>
              <a:path h="694943">
                <a:moveTo>
                  <a:pt x="0" y="694943"/>
                </a:moveTo>
                <a:lnTo>
                  <a:pt x="0" y="0"/>
                </a:lnTo>
              </a:path>
            </a:pathLst>
          </a:custGeom>
          <a:noFill/>
          <a:ln w="28575">
            <a:solidFill>
              <a:srgbClr val="D9731A"/>
            </a:solidFill>
            <a:round/>
          </a:ln>
        </p:spPr>
        <p:txBody>
          <a:bodyPr rtlCol="0" anchor="ctr"/>
          <a:lstStyle/>
          <a:p>
            <a:pPr algn="ctr"/>
            <a:endParaRPr/>
          </a:p>
        </p:txBody>
      </p:sp>
      <p:sp>
        <p:nvSpPr>
          <p:cNvPr id="13" name="Freeform 12"/>
          <p:cNvSpPr/>
          <p:nvPr/>
        </p:nvSpPr>
        <p:spPr>
          <a:xfrm>
            <a:off x="1110995" y="3209544"/>
            <a:ext cx="1389889" cy="694943"/>
          </a:xfrm>
          <a:custGeom>
            <a:avLst/>
            <a:gdLst/>
            <a:ahLst/>
            <a:cxnLst/>
            <a:rect l="l" t="t" r="r" b="b"/>
            <a:pathLst>
              <a:path w="1389889" h="694943">
                <a:moveTo>
                  <a:pt x="1389889" y="0"/>
                </a:moveTo>
                <a:lnTo>
                  <a:pt x="0" y="0"/>
                </a:lnTo>
                <a:lnTo>
                  <a:pt x="0" y="694943"/>
                </a:lnTo>
              </a:path>
            </a:pathLst>
          </a:custGeom>
          <a:noFill/>
          <a:ln w="28575">
            <a:solidFill>
              <a:srgbClr val="2E7D32"/>
            </a:solidFill>
            <a:round/>
          </a:ln>
        </p:spPr>
        <p:txBody>
          <a:bodyPr rtlCol="0" anchor="ctr"/>
          <a:lstStyle/>
          <a:p>
            <a:pPr algn="ctr"/>
            <a:endParaRPr/>
          </a:p>
        </p:txBody>
      </p:sp>
      <p:sp>
        <p:nvSpPr>
          <p:cNvPr id="14" name="Rectangle 13"/>
          <p:cNvSpPr/>
          <p:nvPr/>
        </p:nvSpPr>
        <p:spPr>
          <a:xfrm>
            <a:off x="1042415" y="3835907"/>
            <a:ext cx="137160" cy="137160"/>
          </a:xfrm>
          <a:prstGeom prst="rect">
            <a:avLst/>
          </a:prstGeom>
          <a:solidFill>
            <a:srgbClr val="1F2933"/>
          </a:solidFill>
          <a:ln w="12700">
            <a:solidFill>
              <a:srgbClr val="FFFFFF"/>
            </a:solidFill>
          </a:ln>
        </p:spPr>
        <p:txBody>
          <a:bodyPr rtlCol="0" anchor="ctr"/>
          <a:lstStyle/>
          <a:p>
            <a:pPr algn="ctr"/>
            <a:endParaRPr/>
          </a:p>
        </p:txBody>
      </p:sp>
      <p:sp>
        <p:nvSpPr>
          <p:cNvPr id="15" name="Oval 14"/>
          <p:cNvSpPr/>
          <p:nvPr/>
        </p:nvSpPr>
        <p:spPr>
          <a:xfrm>
            <a:off x="2441448" y="3845051"/>
            <a:ext cx="118872" cy="118872"/>
          </a:xfrm>
          <a:prstGeom prst="ellipse">
            <a:avLst/>
          </a:prstGeom>
          <a:solidFill>
            <a:srgbClr val="1F5FBF"/>
          </a:solidFill>
          <a:ln w="12700">
            <a:solidFill>
              <a:srgbClr val="FFFFFF"/>
            </a:solidFill>
          </a:ln>
        </p:spPr>
        <p:txBody>
          <a:bodyPr rtlCol="0" anchor="ctr"/>
          <a:lstStyle/>
          <a:p>
            <a:pPr algn="ctr"/>
            <a:endParaRPr/>
          </a:p>
        </p:txBody>
      </p:sp>
      <p:sp>
        <p:nvSpPr>
          <p:cNvPr id="16" name="Oval 15"/>
          <p:cNvSpPr/>
          <p:nvPr/>
        </p:nvSpPr>
        <p:spPr>
          <a:xfrm>
            <a:off x="2441448" y="3150108"/>
            <a:ext cx="118872" cy="118872"/>
          </a:xfrm>
          <a:prstGeom prst="ellipse">
            <a:avLst/>
          </a:prstGeom>
          <a:solidFill>
            <a:srgbClr val="D9731A"/>
          </a:solidFill>
          <a:ln w="12700">
            <a:solidFill>
              <a:srgbClr val="FFFFFF"/>
            </a:solidFill>
          </a:ln>
        </p:spPr>
        <p:txBody>
          <a:bodyPr rtlCol="0" anchor="ctr"/>
          <a:lstStyle/>
          <a:p>
            <a:pPr algn="ctr"/>
            <a:endParaRPr/>
          </a:p>
        </p:txBody>
      </p:sp>
      <p:sp>
        <p:nvSpPr>
          <p:cNvPr id="17" name="TextBox 16"/>
          <p:cNvSpPr txBox="1"/>
          <p:nvPr/>
        </p:nvSpPr>
        <p:spPr>
          <a:xfrm>
            <a:off x="1355979" y="3925950"/>
            <a:ext cx="914400" cy="182880"/>
          </a:xfrm>
          <a:prstGeom prst="rect">
            <a:avLst/>
          </a:prstGeom>
          <a:noFill/>
        </p:spPr>
        <p:txBody>
          <a:bodyPr wrap="square" lIns="0" tIns="0" rIns="0" bIns="0" anchor="t">
            <a:spAutoFit/>
          </a:bodyPr>
          <a:lstStyle/>
          <a:p>
            <a:pPr algn="ctr">
              <a:spcAft>
                <a:spcPts val="0"/>
              </a:spcAft>
            </a:pPr>
            <a:r>
              <a:rPr sz="900" b="1" i="0" dirty="0">
                <a:solidFill>
                  <a:srgbClr val="1F5FBF"/>
                </a:solidFill>
                <a:latin typeface="Aptos"/>
              </a:rPr>
              <a:t>4 m</a:t>
            </a:r>
          </a:p>
        </p:txBody>
      </p:sp>
      <p:sp>
        <p:nvSpPr>
          <p:cNvPr id="18" name="TextBox 17"/>
          <p:cNvSpPr txBox="1"/>
          <p:nvPr/>
        </p:nvSpPr>
        <p:spPr>
          <a:xfrm>
            <a:off x="2555748" y="3474720"/>
            <a:ext cx="365760" cy="182880"/>
          </a:xfrm>
          <a:prstGeom prst="rect">
            <a:avLst/>
          </a:prstGeom>
          <a:noFill/>
        </p:spPr>
        <p:txBody>
          <a:bodyPr wrap="square" lIns="0" tIns="0" rIns="0" bIns="0" anchor="t">
            <a:spAutoFit/>
          </a:bodyPr>
          <a:lstStyle/>
          <a:p>
            <a:pPr algn="l">
              <a:spcAft>
                <a:spcPts val="0"/>
              </a:spcAft>
            </a:pPr>
            <a:r>
              <a:rPr sz="900" b="1" i="0" dirty="0">
                <a:solidFill>
                  <a:srgbClr val="D9731A"/>
                </a:solidFill>
                <a:latin typeface="Aptos"/>
              </a:rPr>
              <a:t>2 m</a:t>
            </a:r>
          </a:p>
        </p:txBody>
      </p:sp>
      <p:sp>
        <p:nvSpPr>
          <p:cNvPr id="19" name="TextBox 18"/>
          <p:cNvSpPr txBox="1"/>
          <p:nvPr/>
        </p:nvSpPr>
        <p:spPr>
          <a:xfrm>
            <a:off x="1340104" y="3056000"/>
            <a:ext cx="914400" cy="138499"/>
          </a:xfrm>
          <a:prstGeom prst="rect">
            <a:avLst/>
          </a:prstGeom>
          <a:noFill/>
        </p:spPr>
        <p:txBody>
          <a:bodyPr wrap="square" lIns="0" tIns="0" rIns="0" bIns="0" anchor="t">
            <a:spAutoFit/>
          </a:bodyPr>
          <a:lstStyle/>
          <a:p>
            <a:pPr algn="ctr">
              <a:spcAft>
                <a:spcPts val="0"/>
              </a:spcAft>
            </a:pPr>
            <a:r>
              <a:rPr lang="en-IN" sz="900" b="1" i="0" dirty="0">
                <a:solidFill>
                  <a:srgbClr val="2E7D32"/>
                </a:solidFill>
                <a:latin typeface="Aptos"/>
              </a:rPr>
              <a:t>3</a:t>
            </a:r>
            <a:r>
              <a:rPr sz="900" b="1" i="0" dirty="0">
                <a:solidFill>
                  <a:srgbClr val="2E7D32"/>
                </a:solidFill>
                <a:latin typeface="Aptos"/>
              </a:rPr>
              <a:t> m</a:t>
            </a:r>
          </a:p>
        </p:txBody>
      </p:sp>
      <p:sp>
        <p:nvSpPr>
          <p:cNvPr id="20" name="TextBox 19"/>
          <p:cNvSpPr txBox="1"/>
          <p:nvPr/>
        </p:nvSpPr>
        <p:spPr>
          <a:xfrm>
            <a:off x="566928" y="4123944"/>
            <a:ext cx="2487422" cy="344710"/>
          </a:xfrm>
          <a:prstGeom prst="rect">
            <a:avLst/>
          </a:prstGeom>
          <a:noFill/>
        </p:spPr>
        <p:txBody>
          <a:bodyPr wrap="square" lIns="27432" tIns="18288" rIns="27432" bIns="18288" anchor="t">
            <a:spAutoFit/>
          </a:bodyPr>
          <a:lstStyle/>
          <a:p>
            <a:pPr algn="l">
              <a:spcAft>
                <a:spcPts val="0"/>
              </a:spcAft>
            </a:pPr>
            <a:r>
              <a:rPr sz="1000" b="0" i="0" dirty="0">
                <a:solidFill>
                  <a:srgbClr val="5B6770"/>
                </a:solidFill>
                <a:latin typeface="Aptos"/>
              </a:rPr>
              <a:t>Counts: 4 + 2 + </a:t>
            </a:r>
            <a:r>
              <a:rPr lang="en-IN" sz="1000" b="0" i="0" dirty="0">
                <a:solidFill>
                  <a:srgbClr val="5B6770"/>
                </a:solidFill>
                <a:latin typeface="Aptos"/>
              </a:rPr>
              <a:t>3 + 3</a:t>
            </a:r>
            <a:r>
              <a:rPr sz="1000" b="0" i="0" dirty="0">
                <a:solidFill>
                  <a:srgbClr val="5B6770"/>
                </a:solidFill>
                <a:latin typeface="Aptos"/>
              </a:rPr>
              <a:t> = 12 m, return leg included</a:t>
            </a:r>
          </a:p>
        </p:txBody>
      </p:sp>
      <p:sp>
        <p:nvSpPr>
          <p:cNvPr id="21" name="Rounded Rectangle 20"/>
          <p:cNvSpPr/>
          <p:nvPr/>
        </p:nvSpPr>
        <p:spPr>
          <a:xfrm>
            <a:off x="566928" y="4590288"/>
            <a:ext cx="2478024" cy="1097280"/>
          </a:xfrm>
          <a:prstGeom prst="roundRect">
            <a:avLst>
              <a:gd name="adj" fmla="val 6000"/>
            </a:avLst>
          </a:prstGeom>
          <a:solidFill>
            <a:srgbClr val="FFFFFF"/>
          </a:solidFill>
          <a:ln w="9525">
            <a:solidFill>
              <a:srgbClr val="CBD2D9"/>
            </a:solidFill>
          </a:ln>
        </p:spPr>
        <p:txBody>
          <a:bodyPr rtlCol="0" anchor="ctr"/>
          <a:lstStyle/>
          <a:p>
            <a:pPr algn="ctr"/>
            <a:endParaRPr/>
          </a:p>
        </p:txBody>
      </p:sp>
      <p:sp>
        <p:nvSpPr>
          <p:cNvPr id="22" name="Freeform 21"/>
          <p:cNvSpPr/>
          <p:nvPr/>
        </p:nvSpPr>
        <p:spPr>
          <a:xfrm>
            <a:off x="1110995" y="5087721"/>
            <a:ext cx="1042417" cy="0"/>
          </a:xfrm>
          <a:custGeom>
            <a:avLst/>
            <a:gdLst/>
            <a:ahLst/>
            <a:cxnLst/>
            <a:rect l="l" t="t" r="r" b="b"/>
            <a:pathLst>
              <a:path w="1042417">
                <a:moveTo>
                  <a:pt x="0" y="0"/>
                </a:moveTo>
                <a:lnTo>
                  <a:pt x="1042417" y="0"/>
                </a:lnTo>
              </a:path>
            </a:pathLst>
          </a:custGeom>
          <a:noFill/>
          <a:ln w="28575">
            <a:solidFill>
              <a:srgbClr val="1F5FBF"/>
            </a:solidFill>
            <a:round/>
          </a:ln>
        </p:spPr>
        <p:txBody>
          <a:bodyPr rtlCol="0" anchor="ctr"/>
          <a:lstStyle/>
          <a:p>
            <a:pPr algn="ctr"/>
            <a:endParaRPr/>
          </a:p>
        </p:txBody>
      </p:sp>
      <p:sp>
        <p:nvSpPr>
          <p:cNvPr id="23" name="Freeform 22"/>
          <p:cNvSpPr/>
          <p:nvPr/>
        </p:nvSpPr>
        <p:spPr>
          <a:xfrm>
            <a:off x="1110995" y="5226710"/>
            <a:ext cx="1042417" cy="0"/>
          </a:xfrm>
          <a:custGeom>
            <a:avLst/>
            <a:gdLst/>
            <a:ahLst/>
            <a:cxnLst/>
            <a:rect l="l" t="t" r="r" b="b"/>
            <a:pathLst>
              <a:path w="1042417">
                <a:moveTo>
                  <a:pt x="1042417" y="0"/>
                </a:moveTo>
                <a:lnTo>
                  <a:pt x="0" y="0"/>
                </a:lnTo>
              </a:path>
            </a:pathLst>
          </a:custGeom>
          <a:noFill/>
          <a:ln w="28575">
            <a:solidFill>
              <a:srgbClr val="1F5FBF"/>
            </a:solidFill>
            <a:round/>
          </a:ln>
        </p:spPr>
        <p:txBody>
          <a:bodyPr rtlCol="0" anchor="ctr"/>
          <a:lstStyle/>
          <a:p>
            <a:pPr algn="ctr"/>
            <a:endParaRPr/>
          </a:p>
        </p:txBody>
      </p:sp>
      <p:sp>
        <p:nvSpPr>
          <p:cNvPr id="24" name="Rectangle 23"/>
          <p:cNvSpPr/>
          <p:nvPr/>
        </p:nvSpPr>
        <p:spPr>
          <a:xfrm>
            <a:off x="1042415" y="5088636"/>
            <a:ext cx="137160" cy="137160"/>
          </a:xfrm>
          <a:prstGeom prst="rect">
            <a:avLst/>
          </a:prstGeom>
          <a:solidFill>
            <a:srgbClr val="1F2933"/>
          </a:solidFill>
          <a:ln w="12700">
            <a:solidFill>
              <a:srgbClr val="FFFFFF"/>
            </a:solidFill>
          </a:ln>
        </p:spPr>
        <p:txBody>
          <a:bodyPr rtlCol="0" anchor="ctr"/>
          <a:lstStyle/>
          <a:p>
            <a:pPr algn="ctr"/>
            <a:endParaRPr/>
          </a:p>
        </p:txBody>
      </p:sp>
      <p:sp>
        <p:nvSpPr>
          <p:cNvPr id="25" name="Oval 24"/>
          <p:cNvSpPr/>
          <p:nvPr/>
        </p:nvSpPr>
        <p:spPr>
          <a:xfrm>
            <a:off x="2093976" y="5097779"/>
            <a:ext cx="118872" cy="118872"/>
          </a:xfrm>
          <a:prstGeom prst="ellipse">
            <a:avLst/>
          </a:prstGeom>
          <a:solidFill>
            <a:srgbClr val="1F5FBF"/>
          </a:solidFill>
          <a:ln w="12700">
            <a:solidFill>
              <a:srgbClr val="FFFFFF"/>
            </a:solidFill>
          </a:ln>
        </p:spPr>
        <p:txBody>
          <a:bodyPr rtlCol="0" anchor="ctr"/>
          <a:lstStyle/>
          <a:p>
            <a:pPr algn="ctr"/>
            <a:endParaRPr/>
          </a:p>
        </p:txBody>
      </p:sp>
      <p:sp>
        <p:nvSpPr>
          <p:cNvPr id="26" name="TextBox 25"/>
          <p:cNvSpPr txBox="1"/>
          <p:nvPr/>
        </p:nvSpPr>
        <p:spPr>
          <a:xfrm>
            <a:off x="1019556" y="5522975"/>
            <a:ext cx="1371600" cy="182880"/>
          </a:xfrm>
          <a:prstGeom prst="rect">
            <a:avLst/>
          </a:prstGeom>
          <a:noFill/>
        </p:spPr>
        <p:txBody>
          <a:bodyPr wrap="square" lIns="0" tIns="0" rIns="0" bIns="0" anchor="t">
            <a:spAutoFit/>
          </a:bodyPr>
          <a:lstStyle/>
          <a:p>
            <a:pPr algn="ctr">
              <a:spcAft>
                <a:spcPts val="0"/>
              </a:spcAft>
            </a:pPr>
            <a:r>
              <a:rPr sz="900" b="1" i="0">
                <a:solidFill>
                  <a:srgbClr val="1F5FBF"/>
                </a:solidFill>
                <a:latin typeface="Aptos"/>
              </a:rPr>
              <a:t>3 m out + 3 m back</a:t>
            </a:r>
          </a:p>
        </p:txBody>
      </p:sp>
      <p:sp>
        <p:nvSpPr>
          <p:cNvPr id="27" name="TextBox 26"/>
          <p:cNvSpPr txBox="1"/>
          <p:nvPr/>
        </p:nvSpPr>
        <p:spPr>
          <a:xfrm>
            <a:off x="566928" y="5724144"/>
            <a:ext cx="2478024" cy="365760"/>
          </a:xfrm>
          <a:prstGeom prst="rect">
            <a:avLst/>
          </a:prstGeom>
          <a:noFill/>
        </p:spPr>
        <p:txBody>
          <a:bodyPr wrap="square" lIns="27432" tIns="18288" rIns="27432" bIns="18288" anchor="t">
            <a:spAutoFit/>
          </a:bodyPr>
          <a:lstStyle/>
          <a:p>
            <a:pPr algn="l">
              <a:spcAft>
                <a:spcPts val="0"/>
              </a:spcAft>
            </a:pPr>
            <a:r>
              <a:rPr sz="1000" b="0" i="0">
                <a:solidFill>
                  <a:srgbClr val="5B6770"/>
                </a:solidFill>
                <a:latin typeface="Aptos"/>
              </a:rPr>
              <a:t>A retraced stretch counts each time it is run: 6 m</a:t>
            </a:r>
          </a:p>
        </p:txBody>
      </p:sp>
      <p:sp>
        <p:nvSpPr>
          <p:cNvPr id="28" name="Rounded Rectangle 27"/>
          <p:cNvSpPr/>
          <p:nvPr/>
        </p:nvSpPr>
        <p:spPr>
          <a:xfrm>
            <a:off x="3316528" y="1508760"/>
            <a:ext cx="2697480" cy="466344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29" name="TextBox 28"/>
          <p:cNvSpPr txBox="1"/>
          <p:nvPr/>
        </p:nvSpPr>
        <p:spPr>
          <a:xfrm>
            <a:off x="3453688" y="1581912"/>
            <a:ext cx="2423160"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Crossings (X)</a:t>
            </a:r>
          </a:p>
        </p:txBody>
      </p:sp>
      <p:sp>
        <p:nvSpPr>
          <p:cNvPr id="30" name="Rectangle 29"/>
          <p:cNvSpPr/>
          <p:nvPr/>
        </p:nvSpPr>
        <p:spPr>
          <a:xfrm>
            <a:off x="3499408" y="1920240"/>
            <a:ext cx="457200" cy="32004"/>
          </a:xfrm>
          <a:prstGeom prst="rect">
            <a:avLst/>
          </a:prstGeom>
          <a:solidFill>
            <a:srgbClr val="C8102E"/>
          </a:solidFill>
          <a:ln>
            <a:noFill/>
          </a:ln>
        </p:spPr>
        <p:txBody>
          <a:bodyPr rtlCol="0" anchor="ctr"/>
          <a:lstStyle/>
          <a:p>
            <a:pPr algn="ctr"/>
            <a:endParaRPr/>
          </a:p>
        </p:txBody>
      </p:sp>
      <p:sp>
        <p:nvSpPr>
          <p:cNvPr id="31" name="TextBox 30"/>
          <p:cNvSpPr txBox="1"/>
          <p:nvPr/>
        </p:nvSpPr>
        <p:spPr>
          <a:xfrm>
            <a:off x="3426256" y="2011680"/>
            <a:ext cx="2478024" cy="914400"/>
          </a:xfrm>
          <a:prstGeom prst="rect">
            <a:avLst/>
          </a:prstGeom>
          <a:noFill/>
        </p:spPr>
        <p:txBody>
          <a:bodyPr wrap="square" lIns="45720" tIns="27432" rIns="45720" bIns="27432" anchor="t">
            <a:spAutoFit/>
          </a:bodyPr>
          <a:lstStyle/>
          <a:p>
            <a:pPr algn="l">
              <a:spcAft>
                <a:spcPts val="0"/>
              </a:spcAft>
            </a:pPr>
            <a:r>
              <a:rPr sz="1050" b="0" i="0">
                <a:solidFill>
                  <a:srgbClr val="1F2933"/>
                </a:solidFill>
                <a:latin typeface="Aptos"/>
              </a:rPr>
              <a:t>A point where two cables meet away from a node or hub. It counts inside one ring and between rings, once per point.</a:t>
            </a:r>
          </a:p>
        </p:txBody>
      </p:sp>
      <p:sp>
        <p:nvSpPr>
          <p:cNvPr id="32" name="Rounded Rectangle 31"/>
          <p:cNvSpPr/>
          <p:nvPr/>
        </p:nvSpPr>
        <p:spPr>
          <a:xfrm>
            <a:off x="3426256" y="2990088"/>
            <a:ext cx="2478024" cy="1097280"/>
          </a:xfrm>
          <a:prstGeom prst="roundRect">
            <a:avLst>
              <a:gd name="adj" fmla="val 6000"/>
            </a:avLst>
          </a:prstGeom>
          <a:solidFill>
            <a:srgbClr val="FFFFFF"/>
          </a:solidFill>
          <a:ln w="9525">
            <a:solidFill>
              <a:srgbClr val="CBD2D9"/>
            </a:solidFill>
          </a:ln>
        </p:spPr>
        <p:txBody>
          <a:bodyPr rtlCol="0" anchor="ctr"/>
          <a:lstStyle/>
          <a:p>
            <a:pPr algn="ctr"/>
            <a:endParaRPr/>
          </a:p>
        </p:txBody>
      </p:sp>
      <p:sp>
        <p:nvSpPr>
          <p:cNvPr id="33" name="Freeform 32"/>
          <p:cNvSpPr/>
          <p:nvPr/>
        </p:nvSpPr>
        <p:spPr>
          <a:xfrm>
            <a:off x="3970324" y="3557015"/>
            <a:ext cx="1389888" cy="0"/>
          </a:xfrm>
          <a:custGeom>
            <a:avLst/>
            <a:gdLst/>
            <a:ahLst/>
            <a:cxnLst/>
            <a:rect l="l" t="t" r="r" b="b"/>
            <a:pathLst>
              <a:path w="1389888">
                <a:moveTo>
                  <a:pt x="0" y="0"/>
                </a:moveTo>
                <a:lnTo>
                  <a:pt x="1389888" y="0"/>
                </a:lnTo>
              </a:path>
            </a:pathLst>
          </a:custGeom>
          <a:noFill/>
          <a:ln w="28575">
            <a:solidFill>
              <a:srgbClr val="1F5FBF"/>
            </a:solidFill>
            <a:round/>
          </a:ln>
        </p:spPr>
        <p:txBody>
          <a:bodyPr rtlCol="0" anchor="ctr"/>
          <a:lstStyle/>
          <a:p>
            <a:pPr algn="ctr"/>
            <a:endParaRPr/>
          </a:p>
        </p:txBody>
      </p:sp>
      <p:sp>
        <p:nvSpPr>
          <p:cNvPr id="34" name="Freeform 33"/>
          <p:cNvSpPr/>
          <p:nvPr/>
        </p:nvSpPr>
        <p:spPr>
          <a:xfrm>
            <a:off x="4665268" y="3209544"/>
            <a:ext cx="0" cy="694943"/>
          </a:xfrm>
          <a:custGeom>
            <a:avLst/>
            <a:gdLst/>
            <a:ahLst/>
            <a:cxnLst/>
            <a:rect l="l" t="t" r="r" b="b"/>
            <a:pathLst>
              <a:path h="694943">
                <a:moveTo>
                  <a:pt x="0" y="694943"/>
                </a:moveTo>
                <a:lnTo>
                  <a:pt x="0" y="0"/>
                </a:lnTo>
              </a:path>
            </a:pathLst>
          </a:custGeom>
          <a:noFill/>
          <a:ln w="28575">
            <a:solidFill>
              <a:srgbClr val="D9731A"/>
            </a:solidFill>
            <a:round/>
          </a:ln>
        </p:spPr>
        <p:txBody>
          <a:bodyPr rtlCol="0" anchor="ctr"/>
          <a:lstStyle/>
          <a:p>
            <a:pPr algn="ctr"/>
            <a:endParaRPr/>
          </a:p>
        </p:txBody>
      </p:sp>
      <p:sp>
        <p:nvSpPr>
          <p:cNvPr id="35" name="Oval 34"/>
          <p:cNvSpPr/>
          <p:nvPr/>
        </p:nvSpPr>
        <p:spPr>
          <a:xfrm>
            <a:off x="4564684" y="3456432"/>
            <a:ext cx="201168" cy="201168"/>
          </a:xfrm>
          <a:prstGeom prst="ellipse">
            <a:avLst/>
          </a:prstGeom>
          <a:noFill/>
          <a:ln w="22225">
            <a:solidFill>
              <a:srgbClr val="C8102E"/>
            </a:solidFill>
          </a:ln>
        </p:spPr>
        <p:txBody>
          <a:bodyPr rtlCol="0" anchor="ctr"/>
          <a:lstStyle/>
          <a:p>
            <a:pPr algn="ctr"/>
            <a:endParaRPr/>
          </a:p>
        </p:txBody>
      </p:sp>
      <p:sp>
        <p:nvSpPr>
          <p:cNvPr id="36" name="TextBox 35"/>
          <p:cNvSpPr txBox="1"/>
          <p:nvPr/>
        </p:nvSpPr>
        <p:spPr>
          <a:xfrm>
            <a:off x="3426256" y="4123944"/>
            <a:ext cx="2478024" cy="365760"/>
          </a:xfrm>
          <a:prstGeom prst="rect">
            <a:avLst/>
          </a:prstGeom>
          <a:noFill/>
        </p:spPr>
        <p:txBody>
          <a:bodyPr wrap="square" lIns="27432" tIns="18288" rIns="27432" bIns="18288" anchor="t">
            <a:spAutoFit/>
          </a:bodyPr>
          <a:lstStyle/>
          <a:p>
            <a:pPr algn="l">
              <a:spcAft>
                <a:spcPts val="0"/>
              </a:spcAft>
            </a:pPr>
            <a:r>
              <a:rPr sz="1000" b="0" i="0">
                <a:solidFill>
                  <a:srgbClr val="5B6770"/>
                </a:solidFill>
                <a:latin typeface="Aptos"/>
              </a:rPr>
              <a:t>Counts: cables meet in the open, X = 1</a:t>
            </a:r>
          </a:p>
        </p:txBody>
      </p:sp>
      <p:sp>
        <p:nvSpPr>
          <p:cNvPr id="37" name="Rounded Rectangle 36"/>
          <p:cNvSpPr/>
          <p:nvPr/>
        </p:nvSpPr>
        <p:spPr>
          <a:xfrm>
            <a:off x="3426256" y="4590288"/>
            <a:ext cx="2478024" cy="1097280"/>
          </a:xfrm>
          <a:prstGeom prst="roundRect">
            <a:avLst>
              <a:gd name="adj" fmla="val 6000"/>
            </a:avLst>
          </a:prstGeom>
          <a:solidFill>
            <a:srgbClr val="FFFFFF"/>
          </a:solidFill>
          <a:ln w="9525">
            <a:solidFill>
              <a:srgbClr val="CBD2D9"/>
            </a:solidFill>
          </a:ln>
        </p:spPr>
        <p:txBody>
          <a:bodyPr rtlCol="0" anchor="ctr"/>
          <a:lstStyle/>
          <a:p>
            <a:pPr algn="ctr"/>
            <a:endParaRPr/>
          </a:p>
        </p:txBody>
      </p:sp>
      <p:sp>
        <p:nvSpPr>
          <p:cNvPr id="38" name="Freeform 37"/>
          <p:cNvSpPr/>
          <p:nvPr/>
        </p:nvSpPr>
        <p:spPr>
          <a:xfrm>
            <a:off x="3970324" y="5330951"/>
            <a:ext cx="694944" cy="0"/>
          </a:xfrm>
          <a:custGeom>
            <a:avLst/>
            <a:gdLst/>
            <a:ahLst/>
            <a:cxnLst/>
            <a:rect l="l" t="t" r="r" b="b"/>
            <a:pathLst>
              <a:path w="694944">
                <a:moveTo>
                  <a:pt x="0" y="0"/>
                </a:moveTo>
                <a:lnTo>
                  <a:pt x="694944" y="0"/>
                </a:lnTo>
              </a:path>
            </a:pathLst>
          </a:custGeom>
          <a:noFill/>
          <a:ln w="28575">
            <a:solidFill>
              <a:srgbClr val="1F5FBF"/>
            </a:solidFill>
            <a:round/>
          </a:ln>
        </p:spPr>
        <p:txBody>
          <a:bodyPr rtlCol="0" anchor="ctr"/>
          <a:lstStyle/>
          <a:p>
            <a:pPr algn="ctr"/>
            <a:endParaRPr/>
          </a:p>
        </p:txBody>
      </p:sp>
      <p:sp>
        <p:nvSpPr>
          <p:cNvPr id="39" name="Freeform 38"/>
          <p:cNvSpPr/>
          <p:nvPr/>
        </p:nvSpPr>
        <p:spPr>
          <a:xfrm>
            <a:off x="4665268" y="4879238"/>
            <a:ext cx="694944" cy="451713"/>
          </a:xfrm>
          <a:custGeom>
            <a:avLst/>
            <a:gdLst/>
            <a:ahLst/>
            <a:cxnLst/>
            <a:rect l="l" t="t" r="r" b="b"/>
            <a:pathLst>
              <a:path w="694944" h="451713">
                <a:moveTo>
                  <a:pt x="0" y="451713"/>
                </a:moveTo>
                <a:lnTo>
                  <a:pt x="0" y="0"/>
                </a:lnTo>
                <a:lnTo>
                  <a:pt x="694944" y="0"/>
                </a:lnTo>
              </a:path>
            </a:pathLst>
          </a:custGeom>
          <a:noFill/>
          <a:ln w="28575">
            <a:solidFill>
              <a:srgbClr val="D9731A"/>
            </a:solidFill>
            <a:round/>
          </a:ln>
        </p:spPr>
        <p:txBody>
          <a:bodyPr rtlCol="0" anchor="ctr"/>
          <a:lstStyle/>
          <a:p>
            <a:pPr algn="ctr"/>
            <a:endParaRPr/>
          </a:p>
        </p:txBody>
      </p:sp>
      <p:sp>
        <p:nvSpPr>
          <p:cNvPr id="40" name="Oval 39"/>
          <p:cNvSpPr/>
          <p:nvPr/>
        </p:nvSpPr>
        <p:spPr>
          <a:xfrm>
            <a:off x="4596688" y="5262371"/>
            <a:ext cx="137160" cy="137160"/>
          </a:xfrm>
          <a:prstGeom prst="ellipse">
            <a:avLst/>
          </a:prstGeom>
          <a:solidFill>
            <a:srgbClr val="1F2933"/>
          </a:solidFill>
          <a:ln w="12700">
            <a:solidFill>
              <a:srgbClr val="FFFFFF"/>
            </a:solidFill>
          </a:ln>
        </p:spPr>
        <p:txBody>
          <a:bodyPr rtlCol="0" anchor="ctr"/>
          <a:lstStyle/>
          <a:p>
            <a:pPr algn="ctr"/>
            <a:endParaRPr/>
          </a:p>
        </p:txBody>
      </p:sp>
      <p:sp>
        <p:nvSpPr>
          <p:cNvPr id="41" name="TextBox 40"/>
          <p:cNvSpPr txBox="1"/>
          <p:nvPr/>
        </p:nvSpPr>
        <p:spPr>
          <a:xfrm>
            <a:off x="3426256" y="5724144"/>
            <a:ext cx="2478024" cy="365760"/>
          </a:xfrm>
          <a:prstGeom prst="rect">
            <a:avLst/>
          </a:prstGeom>
          <a:noFill/>
        </p:spPr>
        <p:txBody>
          <a:bodyPr wrap="square" lIns="27432" tIns="18288" rIns="27432" bIns="18288" anchor="t">
            <a:spAutoFit/>
          </a:bodyPr>
          <a:lstStyle/>
          <a:p>
            <a:pPr algn="l">
              <a:spcAft>
                <a:spcPts val="0"/>
              </a:spcAft>
            </a:pPr>
            <a:r>
              <a:rPr sz="1000" b="0" i="0">
                <a:solidFill>
                  <a:srgbClr val="5B6770"/>
                </a:solidFill>
                <a:latin typeface="Aptos"/>
              </a:rPr>
              <a:t>Does not count: legs meet at a node, X = 0</a:t>
            </a:r>
          </a:p>
        </p:txBody>
      </p:sp>
      <p:sp>
        <p:nvSpPr>
          <p:cNvPr id="42" name="Rounded Rectangle 41"/>
          <p:cNvSpPr/>
          <p:nvPr/>
        </p:nvSpPr>
        <p:spPr>
          <a:xfrm>
            <a:off x="6175857" y="1508760"/>
            <a:ext cx="2697480" cy="466344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43" name="TextBox 42"/>
          <p:cNvSpPr txBox="1"/>
          <p:nvPr/>
        </p:nvSpPr>
        <p:spPr>
          <a:xfrm>
            <a:off x="6313017" y="1581912"/>
            <a:ext cx="2423160"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Overlap (O)</a:t>
            </a:r>
          </a:p>
        </p:txBody>
      </p:sp>
      <p:sp>
        <p:nvSpPr>
          <p:cNvPr id="44" name="Rectangle 43"/>
          <p:cNvSpPr/>
          <p:nvPr/>
        </p:nvSpPr>
        <p:spPr>
          <a:xfrm>
            <a:off x="6358737" y="1920240"/>
            <a:ext cx="457200" cy="32004"/>
          </a:xfrm>
          <a:prstGeom prst="rect">
            <a:avLst/>
          </a:prstGeom>
          <a:solidFill>
            <a:srgbClr val="C8102E"/>
          </a:solidFill>
          <a:ln>
            <a:noFill/>
          </a:ln>
        </p:spPr>
        <p:txBody>
          <a:bodyPr rtlCol="0" anchor="ctr"/>
          <a:lstStyle/>
          <a:p>
            <a:pPr algn="ctr"/>
            <a:endParaRPr/>
          </a:p>
        </p:txBody>
      </p:sp>
      <p:sp>
        <p:nvSpPr>
          <p:cNvPr id="45" name="TextBox 44"/>
          <p:cNvSpPr txBox="1"/>
          <p:nvPr/>
        </p:nvSpPr>
        <p:spPr>
          <a:xfrm>
            <a:off x="6285585" y="2011680"/>
            <a:ext cx="2478024" cy="914400"/>
          </a:xfrm>
          <a:prstGeom prst="rect">
            <a:avLst/>
          </a:prstGeom>
          <a:noFill/>
        </p:spPr>
        <p:txBody>
          <a:bodyPr wrap="square" lIns="45720" tIns="27432" rIns="45720" bIns="27432" anchor="t">
            <a:spAutoFit/>
          </a:bodyPr>
          <a:lstStyle/>
          <a:p>
            <a:pPr algn="l">
              <a:spcAft>
                <a:spcPts val="0"/>
              </a:spcAft>
            </a:pPr>
            <a:r>
              <a:rPr sz="1050" b="0" i="0">
                <a:solidFill>
                  <a:srgbClr val="1F2933"/>
                </a:solidFill>
                <a:latin typeface="Aptos"/>
              </a:rPr>
              <a:t>Length where cable lies on top of other cable on the same line, such as a retrace. A stretch covered by k legs counts (k − 1) times its length.</a:t>
            </a:r>
          </a:p>
        </p:txBody>
      </p:sp>
      <p:sp>
        <p:nvSpPr>
          <p:cNvPr id="46" name="Rounded Rectangle 45"/>
          <p:cNvSpPr/>
          <p:nvPr/>
        </p:nvSpPr>
        <p:spPr>
          <a:xfrm>
            <a:off x="6285585" y="2990088"/>
            <a:ext cx="2478024" cy="1097280"/>
          </a:xfrm>
          <a:prstGeom prst="roundRect">
            <a:avLst>
              <a:gd name="adj" fmla="val 6000"/>
            </a:avLst>
          </a:prstGeom>
          <a:solidFill>
            <a:srgbClr val="FFFFFF"/>
          </a:solidFill>
          <a:ln w="9525">
            <a:solidFill>
              <a:srgbClr val="CBD2D9"/>
            </a:solidFill>
          </a:ln>
        </p:spPr>
        <p:txBody>
          <a:bodyPr rtlCol="0" anchor="ctr"/>
          <a:lstStyle/>
          <a:p>
            <a:pPr algn="ctr"/>
            <a:endParaRPr/>
          </a:p>
        </p:txBody>
      </p:sp>
      <p:sp>
        <p:nvSpPr>
          <p:cNvPr id="47" name="Freeform 46"/>
          <p:cNvSpPr/>
          <p:nvPr/>
        </p:nvSpPr>
        <p:spPr>
          <a:xfrm>
            <a:off x="6829653" y="3557015"/>
            <a:ext cx="1389888" cy="0"/>
          </a:xfrm>
          <a:custGeom>
            <a:avLst/>
            <a:gdLst/>
            <a:ahLst/>
            <a:cxnLst/>
            <a:rect l="l" t="t" r="r" b="b"/>
            <a:pathLst>
              <a:path w="1389888">
                <a:moveTo>
                  <a:pt x="0" y="0"/>
                </a:moveTo>
                <a:lnTo>
                  <a:pt x="1389888" y="0"/>
                </a:lnTo>
              </a:path>
            </a:pathLst>
          </a:custGeom>
          <a:noFill/>
          <a:ln w="57150">
            <a:solidFill>
              <a:srgbClr val="1F5FBF"/>
            </a:solidFill>
            <a:round/>
          </a:ln>
        </p:spPr>
        <p:txBody>
          <a:bodyPr rtlCol="0" anchor="ctr"/>
          <a:lstStyle/>
          <a:p>
            <a:pPr algn="ctr"/>
            <a:endParaRPr/>
          </a:p>
        </p:txBody>
      </p:sp>
      <p:sp>
        <p:nvSpPr>
          <p:cNvPr id="48" name="Freeform 47"/>
          <p:cNvSpPr/>
          <p:nvPr/>
        </p:nvSpPr>
        <p:spPr>
          <a:xfrm>
            <a:off x="7177125" y="3557015"/>
            <a:ext cx="694944" cy="0"/>
          </a:xfrm>
          <a:custGeom>
            <a:avLst/>
            <a:gdLst/>
            <a:ahLst/>
            <a:cxnLst/>
            <a:rect l="l" t="t" r="r" b="b"/>
            <a:pathLst>
              <a:path w="694944">
                <a:moveTo>
                  <a:pt x="0" y="0"/>
                </a:moveTo>
                <a:lnTo>
                  <a:pt x="694944" y="0"/>
                </a:lnTo>
              </a:path>
            </a:pathLst>
          </a:custGeom>
          <a:noFill/>
          <a:ln w="22225">
            <a:solidFill>
              <a:srgbClr val="D9731A"/>
            </a:solidFill>
            <a:round/>
          </a:ln>
        </p:spPr>
        <p:txBody>
          <a:bodyPr rtlCol="0" anchor="ctr"/>
          <a:lstStyle/>
          <a:p>
            <a:pPr algn="ctr"/>
            <a:endParaRPr/>
          </a:p>
        </p:txBody>
      </p:sp>
      <p:sp>
        <p:nvSpPr>
          <p:cNvPr id="49" name="Freeform 48"/>
          <p:cNvSpPr/>
          <p:nvPr/>
        </p:nvSpPr>
        <p:spPr>
          <a:xfrm>
            <a:off x="7177125" y="3748125"/>
            <a:ext cx="694944" cy="0"/>
          </a:xfrm>
          <a:custGeom>
            <a:avLst/>
            <a:gdLst/>
            <a:ahLst/>
            <a:cxnLst/>
            <a:rect l="l" t="t" r="r" b="b"/>
            <a:pathLst>
              <a:path w="694944">
                <a:moveTo>
                  <a:pt x="0" y="0"/>
                </a:moveTo>
                <a:lnTo>
                  <a:pt x="694944" y="0"/>
                </a:lnTo>
              </a:path>
            </a:pathLst>
          </a:custGeom>
          <a:noFill/>
          <a:ln w="19050">
            <a:solidFill>
              <a:srgbClr val="C8102E"/>
            </a:solidFill>
            <a:round/>
          </a:ln>
        </p:spPr>
        <p:txBody>
          <a:bodyPr rtlCol="0" anchor="ctr"/>
          <a:lstStyle/>
          <a:p>
            <a:pPr algn="ctr"/>
            <a:endParaRPr/>
          </a:p>
        </p:txBody>
      </p:sp>
      <p:sp>
        <p:nvSpPr>
          <p:cNvPr id="50" name="TextBox 49"/>
          <p:cNvSpPr txBox="1"/>
          <p:nvPr/>
        </p:nvSpPr>
        <p:spPr>
          <a:xfrm>
            <a:off x="7177125" y="3775557"/>
            <a:ext cx="694944" cy="182880"/>
          </a:xfrm>
          <a:prstGeom prst="rect">
            <a:avLst/>
          </a:prstGeom>
          <a:noFill/>
        </p:spPr>
        <p:txBody>
          <a:bodyPr wrap="square" lIns="0" tIns="0" rIns="0" bIns="0" anchor="t">
            <a:spAutoFit/>
          </a:bodyPr>
          <a:lstStyle/>
          <a:p>
            <a:pPr algn="ctr">
              <a:spcAft>
                <a:spcPts val="0"/>
              </a:spcAft>
            </a:pPr>
            <a:r>
              <a:rPr sz="900" b="1" i="0">
                <a:solidFill>
                  <a:srgbClr val="C8102E"/>
                </a:solidFill>
                <a:latin typeface="Aptos"/>
              </a:rPr>
              <a:t>2 m shared</a:t>
            </a:r>
          </a:p>
        </p:txBody>
      </p:sp>
      <p:sp>
        <p:nvSpPr>
          <p:cNvPr id="51" name="TextBox 50"/>
          <p:cNvSpPr txBox="1"/>
          <p:nvPr/>
        </p:nvSpPr>
        <p:spPr>
          <a:xfrm>
            <a:off x="6285585" y="4123944"/>
            <a:ext cx="2478024" cy="365760"/>
          </a:xfrm>
          <a:prstGeom prst="rect">
            <a:avLst/>
          </a:prstGeom>
          <a:noFill/>
        </p:spPr>
        <p:txBody>
          <a:bodyPr wrap="square" lIns="27432" tIns="18288" rIns="27432" bIns="18288" anchor="t">
            <a:spAutoFit/>
          </a:bodyPr>
          <a:lstStyle/>
          <a:p>
            <a:pPr algn="l">
              <a:spcAft>
                <a:spcPts val="0"/>
              </a:spcAft>
            </a:pPr>
            <a:r>
              <a:rPr sz="1000" b="0" i="0">
                <a:solidFill>
                  <a:srgbClr val="5B6770"/>
                </a:solidFill>
                <a:latin typeface="Aptos"/>
              </a:rPr>
              <a:t>Counts: 2 m on the same line, O = 2 m</a:t>
            </a:r>
          </a:p>
        </p:txBody>
      </p:sp>
      <p:sp>
        <p:nvSpPr>
          <p:cNvPr id="52" name="Rounded Rectangle 51"/>
          <p:cNvSpPr/>
          <p:nvPr/>
        </p:nvSpPr>
        <p:spPr>
          <a:xfrm>
            <a:off x="6285585" y="4590288"/>
            <a:ext cx="2478024" cy="1097280"/>
          </a:xfrm>
          <a:prstGeom prst="roundRect">
            <a:avLst>
              <a:gd name="adj" fmla="val 6000"/>
            </a:avLst>
          </a:prstGeom>
          <a:solidFill>
            <a:srgbClr val="FFFFFF"/>
          </a:solidFill>
          <a:ln w="9525">
            <a:solidFill>
              <a:srgbClr val="CBD2D9"/>
            </a:solidFill>
          </a:ln>
        </p:spPr>
        <p:txBody>
          <a:bodyPr rtlCol="0" anchor="ctr"/>
          <a:lstStyle/>
          <a:p>
            <a:pPr algn="ctr"/>
            <a:endParaRPr/>
          </a:p>
        </p:txBody>
      </p:sp>
      <p:sp>
        <p:nvSpPr>
          <p:cNvPr id="53" name="Freeform 52"/>
          <p:cNvSpPr/>
          <p:nvPr/>
        </p:nvSpPr>
        <p:spPr>
          <a:xfrm>
            <a:off x="6829653" y="5052974"/>
            <a:ext cx="1389888" cy="0"/>
          </a:xfrm>
          <a:custGeom>
            <a:avLst/>
            <a:gdLst/>
            <a:ahLst/>
            <a:cxnLst/>
            <a:rect l="l" t="t" r="r" b="b"/>
            <a:pathLst>
              <a:path w="1389888">
                <a:moveTo>
                  <a:pt x="0" y="0"/>
                </a:moveTo>
                <a:lnTo>
                  <a:pt x="1389888" y="0"/>
                </a:lnTo>
              </a:path>
            </a:pathLst>
          </a:custGeom>
          <a:noFill/>
          <a:ln w="28575">
            <a:solidFill>
              <a:srgbClr val="1F5FBF"/>
            </a:solidFill>
            <a:round/>
          </a:ln>
        </p:spPr>
        <p:txBody>
          <a:bodyPr rtlCol="0" anchor="ctr"/>
          <a:lstStyle/>
          <a:p>
            <a:pPr algn="ctr"/>
            <a:endParaRPr/>
          </a:p>
        </p:txBody>
      </p:sp>
      <p:sp>
        <p:nvSpPr>
          <p:cNvPr id="54" name="Freeform 53"/>
          <p:cNvSpPr/>
          <p:nvPr/>
        </p:nvSpPr>
        <p:spPr>
          <a:xfrm>
            <a:off x="6829653" y="5261457"/>
            <a:ext cx="1389888" cy="0"/>
          </a:xfrm>
          <a:custGeom>
            <a:avLst/>
            <a:gdLst/>
            <a:ahLst/>
            <a:cxnLst/>
            <a:rect l="l" t="t" r="r" b="b"/>
            <a:pathLst>
              <a:path w="1389888">
                <a:moveTo>
                  <a:pt x="0" y="0"/>
                </a:moveTo>
                <a:lnTo>
                  <a:pt x="1389888" y="0"/>
                </a:lnTo>
              </a:path>
            </a:pathLst>
          </a:custGeom>
          <a:noFill/>
          <a:ln w="28575">
            <a:solidFill>
              <a:srgbClr val="D9731A"/>
            </a:solidFill>
            <a:round/>
          </a:ln>
        </p:spPr>
        <p:txBody>
          <a:bodyPr rtlCol="0" anchor="ctr"/>
          <a:lstStyle/>
          <a:p>
            <a:pPr algn="ctr"/>
            <a:endParaRPr/>
          </a:p>
        </p:txBody>
      </p:sp>
      <p:sp>
        <p:nvSpPr>
          <p:cNvPr id="55" name="TextBox 54"/>
          <p:cNvSpPr txBox="1"/>
          <p:nvPr/>
        </p:nvSpPr>
        <p:spPr>
          <a:xfrm>
            <a:off x="6285585" y="5724144"/>
            <a:ext cx="2478024" cy="365760"/>
          </a:xfrm>
          <a:prstGeom prst="rect">
            <a:avLst/>
          </a:prstGeom>
          <a:noFill/>
        </p:spPr>
        <p:txBody>
          <a:bodyPr wrap="square" lIns="27432" tIns="18288" rIns="27432" bIns="18288" anchor="t">
            <a:spAutoFit/>
          </a:bodyPr>
          <a:lstStyle/>
          <a:p>
            <a:pPr algn="l">
              <a:spcAft>
                <a:spcPts val="0"/>
              </a:spcAft>
            </a:pPr>
            <a:r>
              <a:rPr sz="1000" b="0" i="0">
                <a:solidFill>
                  <a:srgbClr val="5B6770"/>
                </a:solidFill>
                <a:latin typeface="Aptos"/>
              </a:rPr>
              <a:t>Does not count: parallel runs on different lines, O = 0</a:t>
            </a:r>
          </a:p>
        </p:txBody>
      </p:sp>
      <p:sp>
        <p:nvSpPr>
          <p:cNvPr id="56" name="Rounded Rectangle 55"/>
          <p:cNvSpPr/>
          <p:nvPr/>
        </p:nvSpPr>
        <p:spPr>
          <a:xfrm>
            <a:off x="9035186" y="1508760"/>
            <a:ext cx="2697480" cy="466344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57" name="TextBox 56"/>
          <p:cNvSpPr txBox="1"/>
          <p:nvPr/>
        </p:nvSpPr>
        <p:spPr>
          <a:xfrm>
            <a:off x="9172346" y="1581912"/>
            <a:ext cx="2423160"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Bends (B)</a:t>
            </a:r>
          </a:p>
        </p:txBody>
      </p:sp>
      <p:sp>
        <p:nvSpPr>
          <p:cNvPr id="58" name="Rectangle 57"/>
          <p:cNvSpPr/>
          <p:nvPr/>
        </p:nvSpPr>
        <p:spPr>
          <a:xfrm>
            <a:off x="9218066" y="1920240"/>
            <a:ext cx="457200" cy="32004"/>
          </a:xfrm>
          <a:prstGeom prst="rect">
            <a:avLst/>
          </a:prstGeom>
          <a:solidFill>
            <a:srgbClr val="C8102E"/>
          </a:solidFill>
          <a:ln>
            <a:noFill/>
          </a:ln>
        </p:spPr>
        <p:txBody>
          <a:bodyPr rtlCol="0" anchor="ctr"/>
          <a:lstStyle/>
          <a:p>
            <a:pPr algn="ctr"/>
            <a:endParaRPr/>
          </a:p>
        </p:txBody>
      </p:sp>
      <p:sp>
        <p:nvSpPr>
          <p:cNvPr id="59" name="TextBox 58"/>
          <p:cNvSpPr txBox="1"/>
          <p:nvPr/>
        </p:nvSpPr>
        <p:spPr>
          <a:xfrm>
            <a:off x="9144914" y="2011680"/>
            <a:ext cx="2478024" cy="914400"/>
          </a:xfrm>
          <a:prstGeom prst="rect">
            <a:avLst/>
          </a:prstGeom>
          <a:noFill/>
        </p:spPr>
        <p:txBody>
          <a:bodyPr wrap="square" lIns="45720" tIns="27432" rIns="45720" bIns="27432" anchor="t">
            <a:spAutoFit/>
          </a:bodyPr>
          <a:lstStyle/>
          <a:p>
            <a:pPr algn="l">
              <a:spcAft>
                <a:spcPts val="0"/>
              </a:spcAft>
            </a:pPr>
            <a:r>
              <a:rPr sz="1050" b="0" i="0">
                <a:solidFill>
                  <a:srgbClr val="1F2933"/>
                </a:solidFill>
                <a:latin typeface="Aptos"/>
              </a:rPr>
              <a:t>A point where the cable changes direction, at a vertex, a node or the hub. All turns are 90°, and a reversal counts once.</a:t>
            </a:r>
          </a:p>
        </p:txBody>
      </p:sp>
      <p:sp>
        <p:nvSpPr>
          <p:cNvPr id="60" name="Rounded Rectangle 59"/>
          <p:cNvSpPr/>
          <p:nvPr/>
        </p:nvSpPr>
        <p:spPr>
          <a:xfrm>
            <a:off x="9144914" y="2990088"/>
            <a:ext cx="2478024" cy="1097280"/>
          </a:xfrm>
          <a:prstGeom prst="roundRect">
            <a:avLst>
              <a:gd name="adj" fmla="val 6000"/>
            </a:avLst>
          </a:prstGeom>
          <a:solidFill>
            <a:srgbClr val="FFFFFF"/>
          </a:solidFill>
          <a:ln w="9525">
            <a:solidFill>
              <a:srgbClr val="CBD2D9"/>
            </a:solidFill>
          </a:ln>
        </p:spPr>
        <p:txBody>
          <a:bodyPr rtlCol="0" anchor="ctr"/>
          <a:lstStyle/>
          <a:p>
            <a:pPr algn="ctr"/>
            <a:endParaRPr/>
          </a:p>
        </p:txBody>
      </p:sp>
      <p:sp>
        <p:nvSpPr>
          <p:cNvPr id="61" name="Freeform 60"/>
          <p:cNvSpPr/>
          <p:nvPr/>
        </p:nvSpPr>
        <p:spPr>
          <a:xfrm>
            <a:off x="9688982" y="3348532"/>
            <a:ext cx="1389888" cy="416967"/>
          </a:xfrm>
          <a:custGeom>
            <a:avLst/>
            <a:gdLst/>
            <a:ahLst/>
            <a:cxnLst/>
            <a:rect l="l" t="t" r="r" b="b"/>
            <a:pathLst>
              <a:path w="1389888" h="416967">
                <a:moveTo>
                  <a:pt x="0" y="416967"/>
                </a:moveTo>
                <a:lnTo>
                  <a:pt x="694944" y="416967"/>
                </a:lnTo>
                <a:lnTo>
                  <a:pt x="694944" y="0"/>
                </a:lnTo>
                <a:lnTo>
                  <a:pt x="1389888" y="0"/>
                </a:lnTo>
              </a:path>
            </a:pathLst>
          </a:custGeom>
          <a:noFill/>
          <a:ln w="28575">
            <a:solidFill>
              <a:srgbClr val="1F5FBF"/>
            </a:solidFill>
            <a:round/>
          </a:ln>
        </p:spPr>
        <p:txBody>
          <a:bodyPr rtlCol="0" anchor="ctr"/>
          <a:lstStyle/>
          <a:p>
            <a:pPr algn="ctr"/>
            <a:endParaRPr/>
          </a:p>
        </p:txBody>
      </p:sp>
      <p:sp>
        <p:nvSpPr>
          <p:cNvPr id="62" name="Oval 61"/>
          <p:cNvSpPr/>
          <p:nvPr/>
        </p:nvSpPr>
        <p:spPr>
          <a:xfrm>
            <a:off x="10319918" y="3701491"/>
            <a:ext cx="128016" cy="128016"/>
          </a:xfrm>
          <a:prstGeom prst="ellipse">
            <a:avLst/>
          </a:prstGeom>
          <a:solidFill>
            <a:srgbClr val="C8102E"/>
          </a:solidFill>
          <a:ln w="12700">
            <a:solidFill>
              <a:srgbClr val="FFFFFF"/>
            </a:solidFill>
          </a:ln>
        </p:spPr>
        <p:txBody>
          <a:bodyPr rtlCol="0" anchor="ctr"/>
          <a:lstStyle/>
          <a:p>
            <a:pPr algn="ctr"/>
            <a:endParaRPr/>
          </a:p>
        </p:txBody>
      </p:sp>
      <p:sp>
        <p:nvSpPr>
          <p:cNvPr id="63" name="Oval 62"/>
          <p:cNvSpPr/>
          <p:nvPr/>
        </p:nvSpPr>
        <p:spPr>
          <a:xfrm>
            <a:off x="10319918" y="3284524"/>
            <a:ext cx="128016" cy="128016"/>
          </a:xfrm>
          <a:prstGeom prst="ellipse">
            <a:avLst/>
          </a:prstGeom>
          <a:solidFill>
            <a:srgbClr val="C8102E"/>
          </a:solidFill>
          <a:ln w="12700">
            <a:solidFill>
              <a:srgbClr val="FFFFFF"/>
            </a:solidFill>
          </a:ln>
        </p:spPr>
        <p:txBody>
          <a:bodyPr rtlCol="0" anchor="ctr"/>
          <a:lstStyle/>
          <a:p>
            <a:pPr algn="ctr"/>
            <a:endParaRPr/>
          </a:p>
        </p:txBody>
      </p:sp>
      <p:sp>
        <p:nvSpPr>
          <p:cNvPr id="64" name="TextBox 63"/>
          <p:cNvSpPr txBox="1"/>
          <p:nvPr/>
        </p:nvSpPr>
        <p:spPr>
          <a:xfrm>
            <a:off x="9144914" y="4123944"/>
            <a:ext cx="2478024" cy="365760"/>
          </a:xfrm>
          <a:prstGeom prst="rect">
            <a:avLst/>
          </a:prstGeom>
          <a:noFill/>
        </p:spPr>
        <p:txBody>
          <a:bodyPr wrap="square" lIns="27432" tIns="18288" rIns="27432" bIns="18288" anchor="t">
            <a:spAutoFit/>
          </a:bodyPr>
          <a:lstStyle/>
          <a:p>
            <a:pPr algn="l">
              <a:spcAft>
                <a:spcPts val="0"/>
              </a:spcAft>
            </a:pPr>
            <a:r>
              <a:rPr sz="1000" b="0" i="0">
                <a:solidFill>
                  <a:srgbClr val="5B6770"/>
                </a:solidFill>
                <a:latin typeface="Aptos"/>
              </a:rPr>
              <a:t>Counts: each turn is one bend, B = 2</a:t>
            </a:r>
          </a:p>
        </p:txBody>
      </p:sp>
      <p:sp>
        <p:nvSpPr>
          <p:cNvPr id="65" name="Rounded Rectangle 64"/>
          <p:cNvSpPr/>
          <p:nvPr/>
        </p:nvSpPr>
        <p:spPr>
          <a:xfrm>
            <a:off x="9144914" y="4590288"/>
            <a:ext cx="2478024" cy="1097280"/>
          </a:xfrm>
          <a:prstGeom prst="roundRect">
            <a:avLst>
              <a:gd name="adj" fmla="val 6000"/>
            </a:avLst>
          </a:prstGeom>
          <a:solidFill>
            <a:srgbClr val="FFFFFF"/>
          </a:solidFill>
          <a:ln w="9525">
            <a:solidFill>
              <a:srgbClr val="CBD2D9"/>
            </a:solidFill>
          </a:ln>
        </p:spPr>
        <p:txBody>
          <a:bodyPr rtlCol="0" anchor="ctr"/>
          <a:lstStyle/>
          <a:p>
            <a:pPr algn="ctr"/>
            <a:endParaRPr/>
          </a:p>
        </p:txBody>
      </p:sp>
      <p:sp>
        <p:nvSpPr>
          <p:cNvPr id="66" name="Freeform 65"/>
          <p:cNvSpPr/>
          <p:nvPr/>
        </p:nvSpPr>
        <p:spPr>
          <a:xfrm>
            <a:off x="9688982" y="5157216"/>
            <a:ext cx="1389888" cy="0"/>
          </a:xfrm>
          <a:custGeom>
            <a:avLst/>
            <a:gdLst/>
            <a:ahLst/>
            <a:cxnLst/>
            <a:rect l="l" t="t" r="r" b="b"/>
            <a:pathLst>
              <a:path w="1389888">
                <a:moveTo>
                  <a:pt x="0" y="0"/>
                </a:moveTo>
                <a:lnTo>
                  <a:pt x="1389888" y="0"/>
                </a:lnTo>
              </a:path>
            </a:pathLst>
          </a:custGeom>
          <a:noFill/>
          <a:ln w="28575">
            <a:solidFill>
              <a:srgbClr val="1F5FBF"/>
            </a:solidFill>
            <a:round/>
          </a:ln>
        </p:spPr>
        <p:txBody>
          <a:bodyPr rtlCol="0" anchor="ctr"/>
          <a:lstStyle/>
          <a:p>
            <a:pPr algn="ctr"/>
            <a:endParaRPr/>
          </a:p>
        </p:txBody>
      </p:sp>
      <p:sp>
        <p:nvSpPr>
          <p:cNvPr id="67" name="Oval 66"/>
          <p:cNvSpPr/>
          <p:nvPr/>
        </p:nvSpPr>
        <p:spPr>
          <a:xfrm>
            <a:off x="10315346" y="5088636"/>
            <a:ext cx="137160" cy="137160"/>
          </a:xfrm>
          <a:prstGeom prst="ellipse">
            <a:avLst/>
          </a:prstGeom>
          <a:solidFill>
            <a:srgbClr val="1F2933"/>
          </a:solidFill>
          <a:ln w="12700">
            <a:solidFill>
              <a:srgbClr val="FFFFFF"/>
            </a:solidFill>
          </a:ln>
        </p:spPr>
        <p:txBody>
          <a:bodyPr rtlCol="0" anchor="ctr"/>
          <a:lstStyle/>
          <a:p>
            <a:pPr algn="ctr"/>
            <a:endParaRPr/>
          </a:p>
        </p:txBody>
      </p:sp>
      <p:sp>
        <p:nvSpPr>
          <p:cNvPr id="68" name="TextBox 67"/>
          <p:cNvSpPr txBox="1"/>
          <p:nvPr/>
        </p:nvSpPr>
        <p:spPr>
          <a:xfrm>
            <a:off x="9144914" y="5724144"/>
            <a:ext cx="2478024" cy="365760"/>
          </a:xfrm>
          <a:prstGeom prst="rect">
            <a:avLst/>
          </a:prstGeom>
          <a:noFill/>
        </p:spPr>
        <p:txBody>
          <a:bodyPr wrap="square" lIns="27432" tIns="18288" rIns="27432" bIns="18288" anchor="t">
            <a:spAutoFit/>
          </a:bodyPr>
          <a:lstStyle/>
          <a:p>
            <a:pPr algn="l">
              <a:spcAft>
                <a:spcPts val="0"/>
              </a:spcAft>
            </a:pPr>
            <a:r>
              <a:rPr sz="1000" b="0" i="0">
                <a:solidFill>
                  <a:srgbClr val="5B6770"/>
                </a:solidFill>
                <a:latin typeface="Aptos"/>
              </a:rPr>
              <a:t>Does not count: straight through, B = 0</a:t>
            </a:r>
          </a:p>
        </p:txBody>
      </p:sp>
      <p:sp>
        <p:nvSpPr>
          <p:cNvPr id="69" name="TextBox 68"/>
          <p:cNvSpPr txBox="1"/>
          <p:nvPr/>
        </p:nvSpPr>
        <p:spPr>
          <a:xfrm>
            <a:off x="457200" y="6254496"/>
            <a:ext cx="11274552" cy="256032"/>
          </a:xfrm>
          <a:prstGeom prst="rect">
            <a:avLst/>
          </a:prstGeom>
          <a:noFill/>
        </p:spPr>
        <p:txBody>
          <a:bodyPr wrap="square" lIns="45720" tIns="18288" rIns="45720" bIns="18288" anchor="t">
            <a:spAutoFit/>
          </a:bodyPr>
          <a:lstStyle/>
          <a:p>
            <a:pPr algn="l">
              <a:spcAft>
                <a:spcPts val="0"/>
              </a:spcAft>
            </a:pPr>
            <a:r>
              <a:rPr sz="1050" b="0" i="0">
                <a:solidFill>
                  <a:srgbClr val="5B6770"/>
                </a:solidFill>
                <a:latin typeface="Aptos"/>
              </a:rPr>
              <a:t>Tolerance 1 mm: points closer than that are the same point, and lines within 1 mm of each other are the same line. Each metric is counted per plan, summed over all rings.</a:t>
            </a:r>
          </a:p>
        </p:txBody>
      </p:sp>
      <p:sp>
        <p:nvSpPr>
          <p:cNvPr id="70" name="TextBox 69"/>
          <p:cNvSpPr txBox="1"/>
          <p:nvPr/>
        </p:nvSpPr>
        <p:spPr>
          <a:xfrm>
            <a:off x="6675120" y="6492240"/>
            <a:ext cx="5056632" cy="274320"/>
          </a:xfrm>
          <a:prstGeom prst="rect">
            <a:avLst/>
          </a:prstGeom>
          <a:noFill/>
        </p:spPr>
        <p:txBody>
          <a:bodyPr wrap="square" lIns="45720" tIns="27432" rIns="45720" bIns="27432" anchor="t">
            <a:spAutoFit/>
          </a:bodyPr>
          <a:lstStyle/>
          <a:p>
            <a:pPr algn="r">
              <a:spcAft>
                <a:spcPts val="0"/>
              </a:spcAft>
            </a:pPr>
            <a:r>
              <a:rPr sz="1000" b="0" i="0">
                <a:solidFill>
                  <a:srgbClr val="5B6770"/>
                </a:solidFill>
                <a:latin typeface="Aptos"/>
              </a:rPr>
              <a:t>UR Hackathon 2026H2  |  Problem statement  |  7 / 8</a:t>
            </a:r>
          </a:p>
        </p:txBody>
      </p:sp>
      <p:sp>
        <p:nvSpPr>
          <p:cNvPr id="72" name="Oval 71">
            <a:extLst>
              <a:ext uri="{FF2B5EF4-FFF2-40B4-BE49-F238E27FC236}">
                <a16:creationId xmlns:a16="http://schemas.microsoft.com/office/drawing/2014/main" id="{F1530F93-95FF-575E-9D7E-E85053295E4B}"/>
              </a:ext>
            </a:extLst>
          </p:cNvPr>
          <p:cNvSpPr/>
          <p:nvPr/>
        </p:nvSpPr>
        <p:spPr>
          <a:xfrm>
            <a:off x="1047623" y="3162808"/>
            <a:ext cx="118872" cy="118872"/>
          </a:xfrm>
          <a:prstGeom prst="ellipse">
            <a:avLst/>
          </a:prstGeom>
          <a:solidFill>
            <a:schemeClr val="accent6">
              <a:lumMod val="75000"/>
            </a:schemeClr>
          </a:solidFill>
          <a:ln w="12700">
            <a:solidFill>
              <a:srgbClr val="FFFFFF"/>
            </a:solidFill>
          </a:ln>
        </p:spPr>
        <p:txBody>
          <a:bodyPr rtlCol="0" anchor="ctr"/>
          <a:lstStyle/>
          <a:p>
            <a:pPr algn="ctr"/>
            <a:endParaRPr/>
          </a:p>
        </p:txBody>
      </p:sp>
      <p:sp>
        <p:nvSpPr>
          <p:cNvPr id="74" name="TextBox 73">
            <a:extLst>
              <a:ext uri="{FF2B5EF4-FFF2-40B4-BE49-F238E27FC236}">
                <a16:creationId xmlns:a16="http://schemas.microsoft.com/office/drawing/2014/main" id="{2843D353-6921-8B28-EB15-61970D0F6883}"/>
              </a:ext>
            </a:extLst>
          </p:cNvPr>
          <p:cNvSpPr txBox="1"/>
          <p:nvPr/>
        </p:nvSpPr>
        <p:spPr>
          <a:xfrm>
            <a:off x="1171829" y="4929250"/>
            <a:ext cx="914400" cy="138499"/>
          </a:xfrm>
          <a:prstGeom prst="rect">
            <a:avLst/>
          </a:prstGeom>
          <a:noFill/>
        </p:spPr>
        <p:txBody>
          <a:bodyPr wrap="square" lIns="0" tIns="0" rIns="0" bIns="0" anchor="t">
            <a:spAutoFit/>
          </a:bodyPr>
          <a:lstStyle/>
          <a:p>
            <a:pPr algn="ctr">
              <a:spcAft>
                <a:spcPts val="0"/>
              </a:spcAft>
            </a:pPr>
            <a:r>
              <a:rPr lang="en-IN" sz="900" b="1" i="0" dirty="0">
                <a:solidFill>
                  <a:srgbClr val="1F5FBF"/>
                </a:solidFill>
                <a:latin typeface="Aptos"/>
              </a:rPr>
              <a:t>3</a:t>
            </a:r>
            <a:r>
              <a:rPr sz="900" b="1" i="0" dirty="0">
                <a:solidFill>
                  <a:srgbClr val="1F5FBF"/>
                </a:solidFill>
                <a:latin typeface="Aptos"/>
              </a:rPr>
              <a:t> m</a:t>
            </a:r>
          </a:p>
        </p:txBody>
      </p:sp>
      <p:sp>
        <p:nvSpPr>
          <p:cNvPr id="76" name="TextBox 75">
            <a:extLst>
              <a:ext uri="{FF2B5EF4-FFF2-40B4-BE49-F238E27FC236}">
                <a16:creationId xmlns:a16="http://schemas.microsoft.com/office/drawing/2014/main" id="{AB60D446-EF47-712B-1C64-AA42B743CE6C}"/>
              </a:ext>
            </a:extLst>
          </p:cNvPr>
          <p:cNvSpPr txBox="1"/>
          <p:nvPr/>
        </p:nvSpPr>
        <p:spPr>
          <a:xfrm>
            <a:off x="1168654" y="5246750"/>
            <a:ext cx="914400" cy="138499"/>
          </a:xfrm>
          <a:prstGeom prst="rect">
            <a:avLst/>
          </a:prstGeom>
          <a:noFill/>
        </p:spPr>
        <p:txBody>
          <a:bodyPr wrap="square" lIns="0" tIns="0" rIns="0" bIns="0" anchor="t">
            <a:spAutoFit/>
          </a:bodyPr>
          <a:lstStyle/>
          <a:p>
            <a:pPr algn="ctr">
              <a:spcAft>
                <a:spcPts val="0"/>
              </a:spcAft>
            </a:pPr>
            <a:r>
              <a:rPr lang="en-IN" sz="900" b="1" i="0" dirty="0">
                <a:solidFill>
                  <a:srgbClr val="1F5FBF"/>
                </a:solidFill>
                <a:latin typeface="Aptos"/>
              </a:rPr>
              <a:t>3</a:t>
            </a:r>
            <a:r>
              <a:rPr sz="900" b="1" i="0" dirty="0">
                <a:solidFill>
                  <a:srgbClr val="1F5FBF"/>
                </a:solidFill>
                <a:latin typeface="Aptos"/>
              </a:rPr>
              <a:t> m</a:t>
            </a:r>
          </a:p>
        </p:txBody>
      </p:sp>
      <p:sp>
        <p:nvSpPr>
          <p:cNvPr id="78" name="TextBox 77">
            <a:extLst>
              <a:ext uri="{FF2B5EF4-FFF2-40B4-BE49-F238E27FC236}">
                <a16:creationId xmlns:a16="http://schemas.microsoft.com/office/drawing/2014/main" id="{5D95136C-B638-10D9-9627-BBB99DF11A47}"/>
              </a:ext>
            </a:extLst>
          </p:cNvPr>
          <p:cNvSpPr txBox="1"/>
          <p:nvPr/>
        </p:nvSpPr>
        <p:spPr>
          <a:xfrm rot="16200000">
            <a:off x="559056" y="3503640"/>
            <a:ext cx="914400" cy="138499"/>
          </a:xfrm>
          <a:prstGeom prst="rect">
            <a:avLst/>
          </a:prstGeom>
          <a:noFill/>
        </p:spPr>
        <p:txBody>
          <a:bodyPr wrap="square" lIns="0" tIns="0" rIns="0" bIns="0" anchor="t">
            <a:spAutoFit/>
          </a:bodyPr>
          <a:lstStyle/>
          <a:p>
            <a:pPr algn="ctr">
              <a:spcAft>
                <a:spcPts val="0"/>
              </a:spcAft>
            </a:pPr>
            <a:r>
              <a:rPr lang="en-IN" sz="900" b="1" i="0" dirty="0">
                <a:solidFill>
                  <a:srgbClr val="2E7D32"/>
                </a:solidFill>
                <a:latin typeface="Aptos"/>
              </a:rPr>
              <a:t>3</a:t>
            </a:r>
            <a:r>
              <a:rPr sz="900" b="1" i="0" dirty="0">
                <a:solidFill>
                  <a:srgbClr val="2E7D32"/>
                </a:solidFill>
                <a:latin typeface="Aptos"/>
              </a:rPr>
              <a:t> 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6032"/>
            <a:ext cx="11274552" cy="566928"/>
          </a:xfrm>
        </p:spPr>
        <p:txBody>
          <a:bodyPr wrap="square" lIns="45720" anchor="ctr"/>
          <a:lstStyle/>
          <a:p>
            <a:pPr algn="l"/>
            <a:r>
              <a:rPr sz="2800" b="1">
                <a:solidFill>
                  <a:srgbClr val="1F2933"/>
                </a:solidFill>
                <a:latin typeface="Aptos"/>
              </a:rPr>
              <a:t>Data format: input and output JSON</a:t>
            </a:r>
          </a:p>
        </p:txBody>
      </p:sp>
      <p:sp>
        <p:nvSpPr>
          <p:cNvPr id="3" name="TextBox 2"/>
          <p:cNvSpPr txBox="1"/>
          <p:nvPr/>
        </p:nvSpPr>
        <p:spPr>
          <a:xfrm>
            <a:off x="457200" y="822960"/>
            <a:ext cx="11274552" cy="270843"/>
          </a:xfrm>
          <a:prstGeom prst="rect">
            <a:avLst/>
          </a:prstGeom>
          <a:noFill/>
        </p:spPr>
        <p:txBody>
          <a:bodyPr wrap="square" lIns="45720" tIns="27432" rIns="45720" bIns="27432" anchor="t">
            <a:spAutoFit/>
          </a:bodyPr>
          <a:lstStyle/>
          <a:p>
            <a:pPr algn="l">
              <a:spcAft>
                <a:spcPts val="0"/>
              </a:spcAft>
            </a:pPr>
            <a:r>
              <a:rPr sz="1400" b="0" i="0" dirty="0">
                <a:solidFill>
                  <a:srgbClr val="5B6770"/>
                </a:solidFill>
                <a:latin typeface="Aptos"/>
              </a:rPr>
              <a:t>One input file per plan ; one output file per plan from each team</a:t>
            </a:r>
            <a:r>
              <a:rPr lang="en-IN" sz="1400" b="0" i="0" dirty="0">
                <a:solidFill>
                  <a:srgbClr val="5B6770"/>
                </a:solidFill>
                <a:latin typeface="Aptos"/>
              </a:rPr>
              <a:t> ; and a visualizations for final presentation </a:t>
            </a:r>
            <a:endParaRPr sz="1400" b="0" i="0" dirty="0">
              <a:solidFill>
                <a:srgbClr val="5B6770"/>
              </a:solidFill>
              <a:latin typeface="Aptos"/>
            </a:endParaRPr>
          </a:p>
        </p:txBody>
      </p:sp>
      <p:sp>
        <p:nvSpPr>
          <p:cNvPr id="4" name="Rectangle 3"/>
          <p:cNvSpPr/>
          <p:nvPr/>
        </p:nvSpPr>
        <p:spPr>
          <a:xfrm>
            <a:off x="502920" y="1243584"/>
            <a:ext cx="1097280" cy="45720"/>
          </a:xfrm>
          <a:prstGeom prst="rect">
            <a:avLst/>
          </a:prstGeom>
          <a:solidFill>
            <a:srgbClr val="C8102E"/>
          </a:solidFill>
          <a:ln>
            <a:noFill/>
          </a:ln>
        </p:spPr>
        <p:txBody>
          <a:bodyPr rtlCol="0" anchor="ctr"/>
          <a:lstStyle/>
          <a:p>
            <a:pPr algn="ctr"/>
            <a:endParaRPr/>
          </a:p>
        </p:txBody>
      </p:sp>
      <p:sp>
        <p:nvSpPr>
          <p:cNvPr id="5" name="TextBox 4"/>
          <p:cNvSpPr txBox="1"/>
          <p:nvPr/>
        </p:nvSpPr>
        <p:spPr>
          <a:xfrm>
            <a:off x="6675120" y="6492240"/>
            <a:ext cx="5056632" cy="274320"/>
          </a:xfrm>
          <a:prstGeom prst="rect">
            <a:avLst/>
          </a:prstGeom>
          <a:noFill/>
        </p:spPr>
        <p:txBody>
          <a:bodyPr wrap="square" lIns="45720" tIns="27432" rIns="45720" bIns="27432" anchor="t">
            <a:spAutoFit/>
          </a:bodyPr>
          <a:lstStyle/>
          <a:p>
            <a:pPr algn="r">
              <a:spcAft>
                <a:spcPts val="0"/>
              </a:spcAft>
            </a:pPr>
            <a:r>
              <a:rPr sz="1000" b="0" i="0">
                <a:solidFill>
                  <a:srgbClr val="5B6770"/>
                </a:solidFill>
                <a:latin typeface="Aptos"/>
              </a:rPr>
              <a:t>UR Hackathon 2026H2  |  Problem statement  |  8 / 8</a:t>
            </a:r>
          </a:p>
        </p:txBody>
      </p:sp>
      <p:sp>
        <p:nvSpPr>
          <p:cNvPr id="6" name="TextBox 5"/>
          <p:cNvSpPr txBox="1"/>
          <p:nvPr/>
        </p:nvSpPr>
        <p:spPr>
          <a:xfrm>
            <a:off x="457200" y="6492240"/>
            <a:ext cx="6400800" cy="274320"/>
          </a:xfrm>
          <a:prstGeom prst="rect">
            <a:avLst/>
          </a:prstGeom>
          <a:noFill/>
        </p:spPr>
        <p:txBody>
          <a:bodyPr wrap="square" lIns="45720" tIns="27432" rIns="45720" bIns="27432" anchor="t">
            <a:spAutoFit/>
          </a:bodyPr>
          <a:lstStyle/>
          <a:p>
            <a:pPr algn="l">
              <a:spcAft>
                <a:spcPts val="0"/>
              </a:spcAft>
            </a:pPr>
            <a:r>
              <a:rPr sz="1000" b="0" i="0">
                <a:solidFill>
                  <a:srgbClr val="5B6770"/>
                </a:solidFill>
                <a:latin typeface="Aptos"/>
              </a:rPr>
              <a:t>Research exercise: results are not a building-services design.</a:t>
            </a:r>
          </a:p>
        </p:txBody>
      </p:sp>
      <p:sp>
        <p:nvSpPr>
          <p:cNvPr id="7" name="Rounded Rectangle 6"/>
          <p:cNvSpPr/>
          <p:nvPr/>
        </p:nvSpPr>
        <p:spPr>
          <a:xfrm>
            <a:off x="457200" y="1508760"/>
            <a:ext cx="5943600" cy="4480560"/>
          </a:xfrm>
          <a:prstGeom prst="roundRect">
            <a:avLst>
              <a:gd name="adj" fmla="val 3000"/>
            </a:avLst>
          </a:prstGeom>
          <a:solidFill>
            <a:srgbClr val="F3F5F7"/>
          </a:solidFill>
          <a:ln w="9525">
            <a:solidFill>
              <a:srgbClr val="CBD2D9"/>
            </a:solidFill>
          </a:ln>
        </p:spPr>
        <p:txBody>
          <a:bodyPr rtlCol="0" anchor="ctr"/>
          <a:lstStyle/>
          <a:p>
            <a:pPr algn="ctr"/>
            <a:endParaRPr/>
          </a:p>
        </p:txBody>
      </p:sp>
      <p:sp>
        <p:nvSpPr>
          <p:cNvPr id="8" name="TextBox 7"/>
          <p:cNvSpPr txBox="1"/>
          <p:nvPr/>
        </p:nvSpPr>
        <p:spPr>
          <a:xfrm>
            <a:off x="594360" y="1581912"/>
            <a:ext cx="5669280" cy="320040"/>
          </a:xfrm>
          <a:prstGeom prst="rect">
            <a:avLst/>
          </a:prstGeom>
          <a:noFill/>
        </p:spPr>
        <p:txBody>
          <a:bodyPr wrap="square" lIns="45720" tIns="27432" rIns="45720" bIns="27432" anchor="t">
            <a:spAutoFit/>
          </a:bodyPr>
          <a:lstStyle/>
          <a:p>
            <a:pPr algn="l">
              <a:spcAft>
                <a:spcPts val="0"/>
              </a:spcAft>
            </a:pPr>
            <a:r>
              <a:rPr sz="1400" b="1" i="0">
                <a:solidFill>
                  <a:srgbClr val="1F2933"/>
                </a:solidFill>
                <a:latin typeface="Aptos"/>
              </a:rPr>
              <a:t>Output file (team submits)</a:t>
            </a:r>
          </a:p>
        </p:txBody>
      </p:sp>
      <p:sp>
        <p:nvSpPr>
          <p:cNvPr id="9" name="Rectangle 8"/>
          <p:cNvSpPr/>
          <p:nvPr/>
        </p:nvSpPr>
        <p:spPr>
          <a:xfrm>
            <a:off x="640080" y="1920240"/>
            <a:ext cx="457200" cy="32004"/>
          </a:xfrm>
          <a:prstGeom prst="rect">
            <a:avLst/>
          </a:prstGeom>
          <a:solidFill>
            <a:srgbClr val="C8102E"/>
          </a:solidFill>
          <a:ln>
            <a:noFill/>
          </a:ln>
        </p:spPr>
        <p:txBody>
          <a:bodyPr rtlCol="0" anchor="ctr"/>
          <a:lstStyle/>
          <a:p>
            <a:pPr algn="ctr"/>
            <a:endParaRPr/>
          </a:p>
        </p:txBody>
      </p:sp>
      <p:sp>
        <p:nvSpPr>
          <p:cNvPr id="10" name="Rounded Rectangle 9"/>
          <p:cNvSpPr/>
          <p:nvPr/>
        </p:nvSpPr>
        <p:spPr>
          <a:xfrm>
            <a:off x="594360" y="1920240"/>
            <a:ext cx="5669280" cy="3611880"/>
          </a:xfrm>
          <a:prstGeom prst="roundRect">
            <a:avLst>
              <a:gd name="adj" fmla="val 2000"/>
            </a:avLst>
          </a:prstGeom>
          <a:solidFill>
            <a:srgbClr val="FFFFFF"/>
          </a:solidFill>
          <a:ln w="9525">
            <a:solidFill>
              <a:srgbClr val="CBD2D9"/>
            </a:solidFill>
          </a:ln>
        </p:spPr>
        <p:txBody>
          <a:bodyPr rtlCol="0" anchor="ctr"/>
          <a:lstStyle/>
          <a:p>
            <a:pPr algn="ctr"/>
            <a:endParaRPr/>
          </a:p>
        </p:txBody>
      </p:sp>
      <p:sp>
        <p:nvSpPr>
          <p:cNvPr id="11" name="TextBox 10"/>
          <p:cNvSpPr txBox="1"/>
          <p:nvPr/>
        </p:nvSpPr>
        <p:spPr>
          <a:xfrm>
            <a:off x="658368" y="1956816"/>
            <a:ext cx="5577840" cy="3566160"/>
          </a:xfrm>
          <a:prstGeom prst="rect">
            <a:avLst/>
          </a:prstGeom>
          <a:noFill/>
        </p:spPr>
        <p:txBody>
          <a:bodyPr wrap="square" lIns="73152" tIns="36576" rIns="45720" bIns="27432" anchor="t">
            <a:spAutoFit/>
          </a:bodyPr>
          <a:lstStyle/>
          <a:p>
            <a:pPr algn="l">
              <a:spcAft>
                <a:spcPts val="0"/>
              </a:spcAft>
            </a:pPr>
            <a:r>
              <a:rPr sz="1000" b="0" i="0">
                <a:solidFill>
                  <a:srgbClr val="1F2933"/>
                </a:solidFill>
                <a:latin typeface="Consolas"/>
              </a:rPr>
              <a:t>{</a:t>
            </a:r>
          </a:p>
          <a:p>
            <a:pPr algn="l">
              <a:spcAft>
                <a:spcPts val="0"/>
              </a:spcAft>
            </a:pPr>
            <a:r>
              <a:rPr sz="1000" b="0" i="0">
                <a:solidFill>
                  <a:srgbClr val="1F2933"/>
                </a:solidFill>
                <a:latin typeface="Consolas"/>
              </a:rPr>
              <a:t>  "plan_id": "PLAN_0123", "units": "m",</a:t>
            </a:r>
          </a:p>
          <a:p>
            <a:pPr algn="l">
              <a:spcAft>
                <a:spcPts val="0"/>
              </a:spcAft>
            </a:pPr>
            <a:r>
              <a:rPr sz="1000" b="0" i="0">
                <a:solidFill>
                  <a:srgbClr val="1F2933"/>
                </a:solidFill>
                <a:latin typeface="Consolas"/>
              </a:rPr>
              <a:t>  "hubs": [</a:t>
            </a:r>
          </a:p>
          <a:p>
            <a:pPr algn="l">
              <a:spcAft>
                <a:spcPts val="0"/>
              </a:spcAft>
            </a:pPr>
            <a:r>
              <a:rPr sz="1000" b="0" i="0">
                <a:solidFill>
                  <a:srgbClr val="1F2933"/>
                </a:solidFill>
                <a:latin typeface="Consolas"/>
              </a:rPr>
              <a:t>    {</a:t>
            </a:r>
          </a:p>
          <a:p>
            <a:pPr algn="l">
              <a:spcAft>
                <a:spcPts val="0"/>
              </a:spcAft>
            </a:pPr>
            <a:r>
              <a:rPr sz="1000" b="0" i="0">
                <a:solidFill>
                  <a:srgbClr val="1F2933"/>
                </a:solidFill>
                <a:latin typeface="Consolas"/>
              </a:rPr>
              <a:t>      "hub_id": "H1", "room_id": "R05",</a:t>
            </a:r>
          </a:p>
          <a:p>
            <a:pPr algn="l">
              <a:spcAft>
                <a:spcPts val="0"/>
              </a:spcAft>
            </a:pPr>
            <a:r>
              <a:rPr sz="1000" b="0" i="0">
                <a:solidFill>
                  <a:srgbClr val="1F2933"/>
                </a:solidFill>
                <a:latin typeface="Consolas"/>
              </a:rPr>
              <a:t>      "location": {"x": 5.2, "y": 3.6},</a:t>
            </a:r>
          </a:p>
          <a:p>
            <a:pPr algn="l">
              <a:spcAft>
                <a:spcPts val="0"/>
              </a:spcAft>
            </a:pPr>
            <a:r>
              <a:rPr sz="1000" b="0" i="0">
                <a:solidFill>
                  <a:srgbClr val="1F2933"/>
                </a:solidFill>
                <a:latin typeface="Consolas"/>
              </a:rPr>
              <a:t>      "assigned_rooms": ["R05", "R01", "R04"],</a:t>
            </a:r>
          </a:p>
          <a:p>
            <a:pPr algn="l">
              <a:spcAft>
                <a:spcPts val="0"/>
              </a:spcAft>
            </a:pPr>
            <a:r>
              <a:rPr sz="1000" b="0" i="0">
                <a:solidFill>
                  <a:srgbClr val="1F2933"/>
                </a:solidFill>
                <a:latin typeface="Consolas"/>
              </a:rPr>
              <a:t>      "assigned_nodes": ["N1", "N2", "N3"],</a:t>
            </a:r>
          </a:p>
          <a:p>
            <a:pPr algn="l">
              <a:spcAft>
                <a:spcPts val="0"/>
              </a:spcAft>
            </a:pPr>
            <a:r>
              <a:rPr sz="1000" b="0" i="0">
                <a:solidFill>
                  <a:srgbClr val="1F2933"/>
                </a:solidFill>
                <a:latin typeface="Consolas"/>
              </a:rPr>
              <a:t>      "closed_sequence": ["H1","N1","N3","N2","H1"],</a:t>
            </a:r>
          </a:p>
          <a:p>
            <a:pPr algn="l">
              <a:spcAft>
                <a:spcPts val="0"/>
              </a:spcAft>
            </a:pPr>
            <a:r>
              <a:rPr sz="1000" b="0" i="0">
                <a:solidFill>
                  <a:srgbClr val="1F2933"/>
                </a:solidFill>
                <a:latin typeface="Consolas"/>
              </a:rPr>
              <a:t>      "route_segments": [</a:t>
            </a:r>
          </a:p>
          <a:p>
            <a:pPr algn="l">
              <a:spcAft>
                <a:spcPts val="0"/>
              </a:spcAft>
            </a:pPr>
            <a:r>
              <a:rPr sz="1000" b="0" i="0">
                <a:solidFill>
                  <a:srgbClr val="1F2933"/>
                </a:solidFill>
                <a:latin typeface="Consolas"/>
              </a:rPr>
              <a:t>        {"from":"H1","to":"N1","length_m":4.8,</a:t>
            </a:r>
          </a:p>
          <a:p>
            <a:pPr algn="l">
              <a:spcAft>
                <a:spcPts val="0"/>
              </a:spcAft>
            </a:pPr>
            <a:r>
              <a:rPr sz="1000" b="0" i="0">
                <a:solidFill>
                  <a:srgbClr val="1F2933"/>
                </a:solidFill>
                <a:latin typeface="Consolas"/>
              </a:rPr>
              <a:t>         "polyline":[[5.2,3.6],[7.6,3.6],[7.6,1.2]]},</a:t>
            </a:r>
          </a:p>
          <a:p>
            <a:pPr algn="l">
              <a:spcAft>
                <a:spcPts val="0"/>
              </a:spcAft>
            </a:pPr>
            <a:r>
              <a:rPr sz="1000" b="0" i="0">
                <a:solidFill>
                  <a:srgbClr val="1F2933"/>
                </a:solidFill>
                <a:latin typeface="Consolas"/>
              </a:rPr>
              <a:t>        {"from":"N1","to":"N3","length_m":7.1,</a:t>
            </a:r>
          </a:p>
          <a:p>
            <a:pPr algn="l">
              <a:spcAft>
                <a:spcPts val="0"/>
              </a:spcAft>
            </a:pPr>
            <a:r>
              <a:rPr sz="1000" b="0" i="0">
                <a:solidFill>
                  <a:srgbClr val="1F2933"/>
                </a:solidFill>
                <a:latin typeface="Consolas"/>
              </a:rPr>
              <a:t>         "polyline":[[7.6,1.2],[6.6,1.2],[6.6,2.2],[1.5,2.2]]},</a:t>
            </a:r>
          </a:p>
          <a:p>
            <a:pPr algn="l">
              <a:spcAft>
                <a:spcPts val="0"/>
              </a:spcAft>
            </a:pPr>
            <a:r>
              <a:rPr sz="1000" b="0" i="0">
                <a:solidFill>
                  <a:srgbClr val="1F2933"/>
                </a:solidFill>
                <a:latin typeface="Consolas"/>
              </a:rPr>
              <a:t>        ... N3 to N2 and N2 to H1 follow</a:t>
            </a:r>
          </a:p>
          <a:p>
            <a:pPr algn="l">
              <a:spcAft>
                <a:spcPts val="0"/>
              </a:spcAft>
            </a:pPr>
            <a:r>
              <a:rPr sz="1000" b="0" i="0">
                <a:solidFill>
                  <a:srgbClr val="1F2933"/>
                </a:solidFill>
                <a:latin typeface="Consolas"/>
              </a:rPr>
              <a:t>      ],</a:t>
            </a:r>
          </a:p>
          <a:p>
            <a:pPr algn="l">
              <a:spcAft>
                <a:spcPts val="0"/>
              </a:spcAft>
            </a:pPr>
            <a:r>
              <a:rPr sz="1000" b="0" i="0">
                <a:solidFill>
                  <a:srgbClr val="1F2933"/>
                </a:solidFill>
                <a:latin typeface="Consolas"/>
              </a:rPr>
              <a:t>      "ring_length_m": 23.8</a:t>
            </a:r>
          </a:p>
          <a:p>
            <a:pPr algn="l">
              <a:spcAft>
                <a:spcPts val="0"/>
              </a:spcAft>
            </a:pPr>
            <a:r>
              <a:rPr sz="1000" b="0" i="0">
                <a:solidFill>
                  <a:srgbClr val="1F2933"/>
                </a:solidFill>
                <a:latin typeface="Consolas"/>
              </a:rPr>
              <a:t>    },</a:t>
            </a:r>
          </a:p>
          <a:p>
            <a:pPr algn="l">
              <a:spcAft>
                <a:spcPts val="0"/>
              </a:spcAft>
            </a:pPr>
            <a:r>
              <a:rPr sz="1000" b="0" i="0">
                <a:solidFill>
                  <a:srgbClr val="1F2933"/>
                </a:solidFill>
                <a:latin typeface="Consolas"/>
              </a:rPr>
              <a:t>    ... H2 has the same structure</a:t>
            </a:r>
          </a:p>
          <a:p>
            <a:pPr algn="l">
              <a:spcAft>
                <a:spcPts val="0"/>
              </a:spcAft>
            </a:pPr>
            <a:r>
              <a:rPr sz="1000" b="0" i="0">
                <a:solidFill>
                  <a:srgbClr val="1F2933"/>
                </a:solidFill>
                <a:latin typeface="Consolas"/>
              </a:rPr>
              <a:t>  ],</a:t>
            </a:r>
          </a:p>
          <a:p>
            <a:pPr algn="l">
              <a:spcAft>
                <a:spcPts val="0"/>
              </a:spcAft>
            </a:pPr>
            <a:r>
              <a:rPr sz="1000" b="0" i="0">
                <a:solidFill>
                  <a:srgbClr val="1F2933"/>
                </a:solidFill>
                <a:latin typeface="Consolas"/>
              </a:rPr>
              <a:t>  "reported_metrics": {"hub_count": 2, "total_length_m": 49.0}</a:t>
            </a:r>
          </a:p>
          <a:p>
            <a:pPr algn="l">
              <a:spcAft>
                <a:spcPts val="0"/>
              </a:spcAft>
            </a:pPr>
            <a:r>
              <a:rPr sz="1000" b="0" i="0">
                <a:solidFill>
                  <a:srgbClr val="1F2933"/>
                </a:solidFill>
                <a:latin typeface="Consolas"/>
              </a:rPr>
              <a:t>}</a:t>
            </a:r>
          </a:p>
        </p:txBody>
      </p:sp>
      <p:sp>
        <p:nvSpPr>
          <p:cNvPr id="12" name="TextBox 11"/>
          <p:cNvSpPr txBox="1"/>
          <p:nvPr/>
        </p:nvSpPr>
        <p:spPr>
          <a:xfrm>
            <a:off x="594360" y="5577840"/>
            <a:ext cx="5669280" cy="384048"/>
          </a:xfrm>
          <a:prstGeom prst="rect">
            <a:avLst/>
          </a:prstGeom>
          <a:noFill/>
        </p:spPr>
        <p:txBody>
          <a:bodyPr wrap="square" lIns="45720" tIns="27432" rIns="45720" bIns="27432" anchor="t">
            <a:spAutoFit/>
          </a:bodyPr>
          <a:lstStyle/>
          <a:p>
            <a:pPr algn="l">
              <a:spcAft>
                <a:spcPts val="0"/>
              </a:spcAft>
            </a:pPr>
            <a:r>
              <a:rPr sz="1050" b="0" i="0">
                <a:solidFill>
                  <a:srgbClr val="5B6770"/>
                </a:solidFill>
                <a:latin typeface="Aptos"/>
              </a:rPr>
              <a:t>Abridged: H1 is the ring on slide 5. Output in metres (units ÷ scale), origin lower-left, y 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546e5e1-5d42-4630-bacd-c69bfdcbd5e8}" enabled="1" method="Standard" siteId="{96ece526-9c7d-48b0-8daf-8b93c90a5d18}" contentBits="0" removed="0"/>
</clbl:labelList>
</file>

<file path=docProps/app.xml><?xml version="1.0" encoding="utf-8"?>
<Properties xmlns="http://schemas.openxmlformats.org/officeDocument/2006/extended-properties" xmlns:vt="http://schemas.openxmlformats.org/officeDocument/2006/docPropsVTypes">
  <TotalTime>72</TotalTime>
  <Words>2974</Words>
  <Application>Microsoft Office PowerPoint</Application>
  <PresentationFormat>Widescreen</PresentationFormat>
  <Paragraphs>285</Paragraphs>
  <Slides>8</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Consolas</vt:lpstr>
      <vt:lpstr>Office Theme</vt:lpstr>
      <vt:lpstr>Project scope and expected results</vt:lpstr>
      <vt:lpstr>Problem statement (1/2): Task and inputs</vt:lpstr>
      <vt:lpstr>Problem statement (2/2): Rules, ranking and deliverables</vt:lpstr>
      <vt:lpstr>Scale: from drawing units to metres</vt:lpstr>
      <vt:lpstr>Expected solution: illustrative schematic</vt:lpstr>
      <vt:lpstr>Evaluation: objective and metric definitions</vt:lpstr>
      <vt:lpstr>Metric definitions with examples</vt:lpstr>
      <vt:lpstr>Data format: input and output JSON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Cable ring challenge: problem statement</dc:title>
  <dc:subject/>
  <dc:creator/>
  <cp:keywords/>
  <dc:description/>
  <cp:lastModifiedBy>Jose, Justin</cp:lastModifiedBy>
  <cp:revision>3</cp:revision>
  <dcterms:created xsi:type="dcterms:W3CDTF">2026-10-12T03:04:09Z</dcterms:created>
  <dcterms:modified xsi:type="dcterms:W3CDTF">2026-10-15T14:41:00Z</dcterms:modified>
  <cp:category/>
</cp:coreProperties>
</file>