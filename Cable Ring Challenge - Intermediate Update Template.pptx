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95" autoAdjust="0"/>
  </p:normalViewPr>
  <p:slideViewPr>
    <p:cSldViewPr snapToGrid="0">
      <p:cViewPr>
        <p:scale>
          <a:sx n="100" d="100"/>
          <a:sy n="100" d="100"/>
        </p:scale>
        <p:origin x="58" y="-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, Ragesh" userId="c00c8851-4f08-4919-99de-76ff1d9f4056" providerId="ADAL" clId="{06CEA498-E081-4B8C-9E43-9D24894E684B}"/>
    <pc:docChg chg="undo custSel addSld delSld modSld">
      <pc:chgData name="R, Ragesh" userId="c00c8851-4f08-4919-99de-76ff1d9f4056" providerId="ADAL" clId="{06CEA498-E081-4B8C-9E43-9D24894E684B}" dt="2026-10-16T05:22:04.082" v="149" actId="20577"/>
      <pc:docMkLst>
        <pc:docMk/>
      </pc:docMkLst>
      <pc:sldChg chg="addSp delSp modSp mod">
        <pc:chgData name="R, Ragesh" userId="c00c8851-4f08-4919-99de-76ff1d9f4056" providerId="ADAL" clId="{06CEA498-E081-4B8C-9E43-9D24894E684B}" dt="2026-10-16T05:22:04.082" v="149" actId="20577"/>
        <pc:sldMkLst>
          <pc:docMk/>
          <pc:sldMk cId="0" sldId="256"/>
        </pc:sldMkLst>
        <pc:spChg chg="add del">
          <ac:chgData name="R, Ragesh" userId="c00c8851-4f08-4919-99de-76ff1d9f4056" providerId="ADAL" clId="{06CEA498-E081-4B8C-9E43-9D24894E684B}" dt="2026-10-16T05:21:45.910" v="12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6T05:22:04.082" v="149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">
        <pc:chgData name="R, Ragesh" userId="c00c8851-4f08-4919-99de-76ff1d9f4056" providerId="ADAL" clId="{06CEA498-E081-4B8C-9E43-9D24894E684B}" dt="2026-10-16T05:21:47.869" v="125" actId="478"/>
        <pc:sldMkLst>
          <pc:docMk/>
          <pc:sldMk cId="0" sldId="257"/>
        </pc:sldMkLst>
        <pc:spChg chg="add del">
          <ac:chgData name="R, Ragesh" userId="c00c8851-4f08-4919-99de-76ff1d9f4056" providerId="ADAL" clId="{06CEA498-E081-4B8C-9E43-9D24894E684B}" dt="2026-10-16T05:21:47.869" v="125" actId="478"/>
          <ac:spMkLst>
            <pc:docMk/>
            <pc:sldMk cId="0" sldId="257"/>
            <ac:spMk id="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6T05:21:29.740" v="121" actId="478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R, Ragesh" userId="c00c8851-4f08-4919-99de-76ff1d9f4056" providerId="ADAL" clId="{06CEA498-E081-4B8C-9E43-9D24894E684B}" dt="2026-10-16T05:21:14.672" v="120" actId="20577"/>
        <pc:sldMkLst>
          <pc:docMk/>
          <pc:sldMk cId="0" sldId="258"/>
        </pc:sldMkLst>
        <pc:spChg chg="mod">
          <ac:chgData name="R, Ragesh" userId="c00c8851-4f08-4919-99de-76ff1d9f4056" providerId="ADAL" clId="{06CEA498-E081-4B8C-9E43-9D24894E684B}" dt="2026-10-16T05:21:14.672" v="12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23.808" v="117" actId="14100"/>
          <ac:spMkLst>
            <pc:docMk/>
            <pc:sldMk cId="0" sldId="258"/>
            <ac:spMk id="44" creationId="{00000000-0000-0000-0000-000000000000}"/>
          </ac:spMkLst>
        </pc:spChg>
        <pc:spChg chg="mod">
          <ac:chgData name="R, Ragesh" userId="c00c8851-4f08-4919-99de-76ff1d9f4056" providerId="ADAL" clId="{06CEA498-E081-4B8C-9E43-9D24894E684B}" dt="2026-10-15T12:10:32.193" v="119" actId="1036"/>
          <ac:spMkLst>
            <pc:docMk/>
            <pc:sldMk cId="0" sldId="258"/>
            <ac:spMk id="59" creationId="{00000000-0000-0000-0000-000000000000}"/>
          </ac:spMkLst>
        </pc:spChg>
      </pc:sldChg>
      <pc:sldChg chg="delSp modSp mod">
        <pc:chgData name="R, Ragesh" userId="c00c8851-4f08-4919-99de-76ff1d9f4056" providerId="ADAL" clId="{06CEA498-E081-4B8C-9E43-9D24894E684B}" dt="2026-10-15T10:27:29.146" v="82" actId="20577"/>
        <pc:sldMkLst>
          <pc:docMk/>
          <pc:sldMk cId="0" sldId="260"/>
        </pc:sldMkLst>
        <pc:spChg chg="mod">
          <ac:chgData name="R, Ragesh" userId="c00c8851-4f08-4919-99de-76ff1d9f4056" providerId="ADAL" clId="{06CEA498-E081-4B8C-9E43-9D24894E684B}" dt="2026-10-15T10:27:29.146" v="82" actId="20577"/>
          <ac:spMkLst>
            <pc:docMk/>
            <pc:sldMk cId="0" sldId="260"/>
            <ac:spMk id="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6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R, Ragesh" userId="c00c8851-4f08-4919-99de-76ff1d9f4056" providerId="ADAL" clId="{06CEA498-E081-4B8C-9E43-9D24894E684B}" dt="2026-10-15T10:26:47.446" v="1" actId="478"/>
          <ac:spMkLst>
            <pc:docMk/>
            <pc:sldMk cId="0" sldId="260"/>
            <ac:spMk id="20" creationId="{00000000-0000-0000-0000-000000000000}"/>
          </ac:spMkLst>
        </pc:spChg>
      </pc:sldChg>
      <pc:sldChg chg="new del">
        <pc:chgData name="R, Ragesh" userId="c00c8851-4f08-4919-99de-76ff1d9f4056" providerId="ADAL" clId="{06CEA498-E081-4B8C-9E43-9D24894E684B}" dt="2026-10-15T10:26:53.174" v="2" actId="47"/>
        <pc:sldMkLst>
          <pc:docMk/>
          <pc:sldMk cId="1365799064" sldId="263"/>
        </pc:sldMkLst>
      </pc:sldChg>
      <pc:sldChg chg="new del">
        <pc:chgData name="R, Ragesh" userId="c00c8851-4f08-4919-99de-76ff1d9f4056" providerId="ADAL" clId="{06CEA498-E081-4B8C-9E43-9D24894E684B}" dt="2026-10-15T10:52:18.225" v="84" actId="47"/>
        <pc:sldMkLst>
          <pc:docMk/>
          <pc:sldMk cId="2915397632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280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8C5-17D2-10B8-E10C-B6CF7958B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65844-3EE9-7F97-A7AE-989AFA3DF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6DE2-82A4-7BF8-DFD2-845421BA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49C70-691C-D0CB-51A1-53282A3C6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AB0F-4E02-6456-3A1C-4CCD05A0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95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1EE-43EC-3853-5540-F0A8BBAA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E7E8-140B-152A-B3F1-462DB90F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9BDC-967E-D42E-DEF0-D37C0346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5A7E-724E-7221-7C66-47B90DB5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F641-64FD-A5BC-95AC-64055DD3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8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E071-6F43-2CAB-8B9E-468D262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B2DD-BDF8-2F12-6851-82828FB3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F150-1266-1EF5-D4B2-3986DF861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6900-785C-E200-A93B-2BB7794BE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6D91-075A-13C7-C41C-47ABC7BF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52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E331-8445-F510-1E95-DBCE64DB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70BB-CA18-C9E3-606A-0A50D2F32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3A77F-07B2-A649-78CB-E0B8D42FD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AF48-7327-D7C3-CE4A-39F865BD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DF75-79E4-1A39-1042-6A2CF895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34CA5-BE73-5F62-DD52-948BD8F94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08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9BFD-F080-97DD-D637-82E2F9C0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7D96-7F95-17EC-3305-7A6DC9BD4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8A67-D90B-E802-7845-2F22A2710B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8DC10-106D-B64D-FB50-BF085858C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67623-D629-467D-7B25-E94DDB216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1B685-467F-14B1-9BC4-24F9469C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F4731-F439-4E7C-7AF4-EFE01D722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BC797-3603-1F9C-9B07-533C1DF9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151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7C03-3544-B28F-6942-871B3E69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2ACA9-B585-8441-4A04-FF453FB9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9FA25-4602-857D-B9D0-9E9072FD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2D7D4-EA8A-BFAD-5AFD-E24DA6C1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84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C080E-5529-E076-0597-A800FCB9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FF22E-2B44-27C7-5D31-14C9C56A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3C5D-AAE8-4BE7-C500-F3751104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97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A181-10D0-551F-2D7F-6ECB5BEE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A4A5-A317-A2B5-0837-5E85E0F8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BDD-1E33-67BD-2264-8A55C6E12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349D-D702-8D5F-B37E-5C4DCAF67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DF4F3-A2C1-A92E-291F-77166CB9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B5ACF-ADDC-C7FC-7496-8820358F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09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7DB0-C228-7504-1F1C-43A82147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67BC9-1F93-7364-EAE7-905ABD9F327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FAB1-DEAB-BFEF-DAC8-5A1AF199D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D094-AAE7-67B8-F15E-60A50098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755A-6EE4-1ED9-66D4-0B6E81A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0E7A-956D-926E-B314-9E821178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79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AD22-F4F0-1619-76EA-58009518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2D17-AF1B-B88E-AA12-A22217B17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A643-5D97-B3A6-1CAF-DB180290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21CB-2117-26CB-71B6-0575B6EEA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66CE-505C-427A-6608-0D933143A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305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FEB76-9EB8-6E77-1FFE-3B57D9EC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8A65-3491-BA2A-960F-5CE649DA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1B54-F18F-2548-33A8-5AAD1F17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4768-D1F4-9FE3-E47F-EC408204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36E3-45CE-F15E-985F-C3F4A1DC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56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C54A0-72D7-8473-E5A0-AACDA9DB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01D5-28D4-0176-2A7A-E4CC1DD42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39ED-0C5C-FFA0-C3E2-328FC981C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7EF3-176B-4C4C-81B1-E97FABBC1AB3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BC1E-B30B-5E8C-59C2-DCB66684AF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00B0-9CBC-DC60-91C0-DDA54A321B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25C79-F547-480E-8EDB-D39EAE0122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4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Solution approach and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B6770"/>
                </a:solidFill>
                <a:latin typeface="Aptos"/>
              </a:rPr>
              <a:t>How does our system work?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</a:t>
            </a:r>
            <a:r>
              <a:rPr lang="en-IN" sz="1000" dirty="0">
                <a:solidFill>
                  <a:srgbClr val="5B6770"/>
                </a:solidFill>
                <a:latin typeface="Aptos"/>
              </a:rPr>
              <a:t>Hello World </a:t>
            </a:r>
            <a:r>
              <a:rPr sz="1000" b="0" i="0" dirty="0">
                <a:solidFill>
                  <a:srgbClr val="5B6770"/>
                </a:solidFill>
                <a:latin typeface="Aptos"/>
              </a:rPr>
              <a:t>  |  1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1274552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33581"/>
            <a:ext cx="1106424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dirty="0">
                <a:solidFill>
                  <a:srgbClr val="1F2933"/>
                </a:solidFill>
                <a:latin typeface="Aptos"/>
              </a:rPr>
              <a:t>Team:  </a:t>
            </a:r>
            <a:r>
              <a:rPr lang="en-IN" sz="1100" dirty="0">
                <a:solidFill>
                  <a:srgbClr val="7B8794"/>
                </a:solidFill>
                <a:latin typeface="Aptos"/>
              </a:rPr>
              <a:t>Hello World</a:t>
            </a:r>
            <a:r>
              <a:rPr sz="1100" b="1" i="0" dirty="0">
                <a:solidFill>
                  <a:srgbClr val="1F2933"/>
                </a:solidFill>
                <a:latin typeface="Aptos"/>
              </a:rPr>
              <a:t> </a:t>
            </a:r>
            <a:r>
              <a:rPr lang="en-IN" sz="1100" b="1" i="0" dirty="0">
                <a:solidFill>
                  <a:srgbClr val="1F2933"/>
                </a:solidFill>
                <a:latin typeface="Aptos"/>
              </a:rPr>
              <a:t>                       </a:t>
            </a:r>
            <a:r>
              <a:rPr sz="1100" b="1" i="0" dirty="0">
                <a:solidFill>
                  <a:srgbClr val="1F2933"/>
                </a:solidFill>
                <a:latin typeface="Aptos"/>
              </a:rPr>
              <a:t>Members:</a:t>
            </a:r>
            <a:r>
              <a:rPr lang="en-IN" sz="1100" b="1" i="0" dirty="0">
                <a:solidFill>
                  <a:srgbClr val="1F2933"/>
                </a:solidFill>
                <a:latin typeface="Aptos"/>
              </a:rPr>
              <a:t>   </a:t>
            </a:r>
            <a:r>
              <a:rPr lang="en-IN" sz="1100" b="1" dirty="0">
                <a:solidFill>
                  <a:srgbClr val="7B8794"/>
                </a:solidFill>
                <a:latin typeface="Aptos"/>
              </a:rPr>
              <a:t>I</a:t>
            </a:r>
            <a:r>
              <a:rPr lang="en-IN" sz="1100" dirty="0">
                <a:solidFill>
                  <a:srgbClr val="7B8794"/>
                </a:solidFill>
                <a:latin typeface="Aptos"/>
              </a:rPr>
              <a:t>shan Bharath; Amogh Ashwin Amin; Jayadev Manoj Kamath </a:t>
            </a:r>
            <a:endParaRPr sz="1100" b="0" i="0" dirty="0">
              <a:solidFill>
                <a:srgbClr val="7B8794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7040880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75688"/>
            <a:ext cx="67665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F2933"/>
                </a:solidFill>
                <a:latin typeface="Aptos"/>
              </a:rPr>
              <a:t>Our approach</a:t>
            </a:r>
            <a:r>
              <a:rPr sz="1050" b="0" i="0" dirty="0">
                <a:solidFill>
                  <a:srgbClr val="5B6770"/>
                </a:solidFill>
                <a:latin typeface="Aptos"/>
              </a:rPr>
              <a:t>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667512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Pipeline: M1 portals -&gt; M2 routing matrices -&gt; M3 joint optimizer -&gt; M4 validator + blueprint.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M1 verifies every door/open passage geometrically (room polygons x door geoms) and calibrates raw coordinates to metres (median door width ~0.9 m). M2 routes wall-hugging cable inside each room and precomputes all-pairs matrices D (true indoor length, m) and B (90-degree bends) between devices and candidate panel wall spots.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Name the algorithm you use for each part: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   hubs and zones: BFS region-growing partition, contiguity guarded via articulation points   |   node order: 2-opt TSP on the D matrix   |   routing: orthogonal Dijkstra on buffered room interiors   |   crossings/overlap/bends: doorway in/out offset paths, panel snapped onto a wall next to the optimal tour (Loop-First, Panel-Snap)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Why: all expensive geometry is precomputed once per plan, so the joint optimisation (panel count, zones, loop order, panel spot) runs in ~0.02 s on exact metres - validity by construction, optimality on the real metric.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011680"/>
            <a:ext cx="4123944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44968" y="2075688"/>
            <a:ext cx="3849624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F2933"/>
                </a:solidFill>
                <a:latin typeface="Aptos"/>
              </a:rPr>
              <a:t>Assumptions and choices</a:t>
            </a:r>
            <a:r>
              <a:rPr sz="1050" b="0" i="0" dirty="0">
                <a:solidFill>
                  <a:srgbClr val="5B6770"/>
                </a:solidFill>
                <a:latin typeface="Aptos"/>
              </a:rPr>
              <a:t>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90688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0" y="2514600"/>
            <a:ext cx="3794760" cy="37490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Where cable may run: only along walls - raceways inside each room's interior buffer (~0.23 m clearance); rooms never share boundary lines, so every transition goes through a verified portal.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Hub (panel) points: candidate spots on interior walls alongside an edge of the optimal loop; living-room / corridor entry walls preferred.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Room with one door: cable passes through the same doorway twice; in/out paths offset by +/-8 cm so the loop stays a simple, non-self-intersecting polygon.</a:t>
            </a: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endParaRPr sz="1200" b="0" i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7B8794"/>
                </a:solidFill>
                <a:latin typeface="Aptos"/>
              </a:rPr>
              <a:t>Note anything you read differently from the problem statement.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Current progress and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5B6770"/>
                </a:solidFill>
                <a:latin typeface="Aptos"/>
              </a:rPr>
              <a:t>What works today? Show it, and show what does not.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[</a:t>
            </a:r>
            <a:r>
              <a:rPr lang="en-IN" sz="1000" b="0" i="0" dirty="0">
                <a:solidFill>
                  <a:srgbClr val="5B6770"/>
                </a:solidFill>
                <a:latin typeface="Aptos"/>
              </a:rPr>
              <a:t>Hello World</a:t>
            </a:r>
            <a:r>
              <a:rPr sz="1000" b="0" i="0" dirty="0">
                <a:solidFill>
                  <a:srgbClr val="5B6770"/>
                </a:solidFill>
                <a:latin typeface="Aptos"/>
              </a:rPr>
              <a:t>]  |  2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429000" cy="3931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933"/>
                </a:solidFill>
                <a:latin typeface="Aptos"/>
              </a:rPr>
              <a:t>Best result so far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1959" y="1463040"/>
            <a:ext cx="3429000" cy="3931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60520" y="5422392"/>
            <a:ext cx="3611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F2933"/>
                </a:solidFill>
                <a:latin typeface="Aptos"/>
              </a:rPr>
              <a:t>A hard case or a 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463040"/>
            <a:ext cx="3822191" cy="484632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1527048"/>
            <a:ext cx="3547872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F2933"/>
                </a:solidFill>
                <a:latin typeface="Aptos"/>
              </a:rPr>
              <a:t>Where we are</a:t>
            </a:r>
            <a:r>
              <a:rPr sz="1050" b="0" i="0" dirty="0">
                <a:solidFill>
                  <a:srgbClr val="5B6770"/>
                </a:solidFill>
                <a:latin typeface="Aptos"/>
              </a:rPr>
              <a:t>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65008" y="1965960"/>
            <a:ext cx="3520440" cy="42976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What works:</a:t>
            </a:r>
          </a:p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Full pipeline M1-&gt;M4 runs end-to-end on 20 smoke-test plans; 16 produced complete validated solutions. Optimized output valid on 15/16 (baseline 14/16). Contiguous zones, closed loops through real doorways only, CAD-style blueprint + JSON per plan.</a:t>
            </a:r>
          </a:p>
          <a:p>
            <a:pPr algn="l">
              <a:spcAft>
                <a:spcPts val="3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What does not work yet:</a:t>
            </a:r>
          </a:p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4/20 plans fail in M3/M4 (</a:t>
            </a:r>
            <a:r>
              <a:rPr sz="1200" b="0" i="0" dirty="0" err="1">
                <a:solidFill>
                  <a:srgbClr val="7B8794"/>
                </a:solidFill>
                <a:latin typeface="Aptos"/>
              </a:rPr>
              <a:t>unroutable</a:t>
            </a:r>
            <a:r>
              <a:rPr sz="1200" b="0" i="0" dirty="0">
                <a:solidFill>
                  <a:srgbClr val="7B8794"/>
                </a:solidFill>
                <a:latin typeface="Aptos"/>
              </a:rPr>
              <a:t> loop or crash). Plan 14926 optimized: loop does not close and living_0 is left unvisited (right image). Baseline can break the 100 m2 cap (plan 2373: 107 m2) and contiguity (plan 10808).</a:t>
            </a:r>
          </a:p>
          <a:p>
            <a:pPr algn="l">
              <a:spcAft>
                <a:spcPts val="3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Results (16 completed plans):</a:t>
            </a:r>
          </a:p>
          <a:p>
            <a:pPr algn="l">
              <a:spcAft>
                <a:spcPts val="3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Valid: optimized 15/16 vs baseline 14/16. Cable: optimized shorter than baseline in 14/14 comparable plans - mean 6.1%, up to 16.1% (plan 7607); on plan 14433: 36.9 m -&gt; 33.9 m. M3 runtime ~0.02 s per plan.</a:t>
            </a:r>
          </a:p>
        </p:txBody>
      </p:sp>
      <p:pic>
        <p:nvPicPr>
          <p:cNvPr id="18" name="Picture 17" descr="blueprint_optimized_144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4320"/>
            <a:ext cx="3611880" cy="3209359"/>
          </a:xfrm>
          <a:prstGeom prst="rect">
            <a:avLst/>
          </a:prstGeom>
        </p:spPr>
      </p:pic>
      <p:pic>
        <p:nvPicPr>
          <p:cNvPr id="19" name="Picture 18" descr="solution_optimized_149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778192"/>
            <a:ext cx="3611880" cy="33016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/>
            <a:r>
              <a:rPr sz="2800" b="1">
                <a:solidFill>
                  <a:srgbClr val="1F2933"/>
                </a:solidFill>
                <a:latin typeface="Aptos"/>
              </a:rPr>
              <a:t>Remaining issues and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74552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0"/>
                </a:solidFill>
                <a:latin typeface="Aptos"/>
              </a:rPr>
              <a:t>What is left to fix, and what could go beyond the current scope?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35040" y="6492240"/>
            <a:ext cx="56967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 dirty="0">
                <a:solidFill>
                  <a:srgbClr val="5B6770"/>
                </a:solidFill>
                <a:latin typeface="Aptos"/>
              </a:rPr>
              <a:t>Intermediate update  |  Team: </a:t>
            </a:r>
            <a:r>
              <a:rPr lang="en-IN" sz="1000" dirty="0">
                <a:solidFill>
                  <a:srgbClr val="5B6770"/>
                </a:solidFill>
                <a:latin typeface="Aptos"/>
              </a:rPr>
              <a:t>Hello World</a:t>
            </a:r>
            <a:r>
              <a:rPr sz="1000" b="0" i="0" dirty="0">
                <a:solidFill>
                  <a:srgbClr val="5B6770"/>
                </a:solidFill>
                <a:latin typeface="Aptos"/>
              </a:rPr>
              <a:t>  |  3 /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80" y="1463040"/>
            <a:ext cx="555955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27048"/>
            <a:ext cx="5285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Remaining issues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current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22919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1. Loop-closure bug [could stop us]: on plan 14926 the 2-opt reorder drops the return leg to living_0 -&gt; loop not closed, device missed. Fix: re-validate the closure edge after every 2-opt move; fall back to the pre-swap order if broken.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2. 4/20 plans fail in M3/M4 (</a:t>
            </a:r>
            <a:r>
              <a:rPr sz="1200" b="0" i="0" dirty="0" err="1">
                <a:solidFill>
                  <a:srgbClr val="7B8794"/>
                </a:solidFill>
                <a:latin typeface="Aptos"/>
              </a:rPr>
              <a:t>unroutable</a:t>
            </a:r>
            <a:r>
              <a:rPr sz="1200" b="0" i="0" dirty="0">
                <a:solidFill>
                  <a:srgbClr val="7B8794"/>
                </a:solidFill>
                <a:latin typeface="Aptos"/>
              </a:rPr>
              <a:t> loops on tight portals / crash later in the chain). Fix: per-portal clearance fallback + failure guard rails in the runner.</a:t>
            </a:r>
          </a:p>
          <a:p>
            <a:pPr algn="l">
              <a:spcAft>
                <a:spcPts val="4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4. Bends are only counted, not </a:t>
            </a:r>
            <a:r>
              <a:rPr sz="1200" b="0" i="0" dirty="0" err="1">
                <a:solidFill>
                  <a:srgbClr val="7B8794"/>
                </a:solidFill>
                <a:latin typeface="Aptos"/>
              </a:rPr>
              <a:t>optimised</a:t>
            </a:r>
            <a:r>
              <a:rPr sz="1200" b="0" i="0" dirty="0">
                <a:solidFill>
                  <a:srgbClr val="7B8794"/>
                </a:solidFill>
                <a:latin typeface="Aptos"/>
              </a:rPr>
              <a:t>. Fix: add bend weight to the TSP cost (B matrix already available).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5. Area-cap edge cases: baseline exceeds 100 m2 on plan 2373; star-shaped room graphs (14433) can force a capacity violation. Fix: enforce the cap as a hard constraint in partition acceptance.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560527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527048"/>
            <a:ext cx="533095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2933"/>
                </a:solidFill>
                <a:latin typeface="Aptos"/>
              </a:rPr>
              <a:t>Improvements beyond scope</a:t>
            </a:r>
            <a:r>
              <a:rPr sz="1050" b="0" i="0">
                <a:solidFill>
                  <a:srgbClr val="5B6770"/>
                </a:solidFill>
                <a:latin typeface="Aptos"/>
              </a:rPr>
              <a:t>   ideas, not built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5257800" cy="19225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1. NFPA 72 Class X survivability: avoid reusing the same doorway for out+return when an alternate door exists - pinch points are already flagged, next step is to penalise them in the optimiser.</a:t>
            </a:r>
          </a:p>
          <a:p>
            <a:pPr algn="l">
              <a:spcAft>
                <a:spcPts val="4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3. Surface the 24 V voltage-drop check per panel (physics already computed) as a compliance report for installers.</a:t>
            </a:r>
          </a:p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4. Interactive planner UI: drag a panel and see the loop re-route and re-validate live.</a:t>
            </a:r>
          </a:p>
          <a:p>
            <a:pPr algn="l">
              <a:spcAft>
                <a:spcPts val="400"/>
              </a:spcAft>
            </a:pPr>
            <a:endParaRPr sz="1200" b="0" i="0" dirty="0">
              <a:solidFill>
                <a:srgbClr val="7B8794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7200" y="5184648"/>
            <a:ext cx="11274552" cy="114300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5169608"/>
            <a:ext cx="11000232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 dirty="0">
                <a:solidFill>
                  <a:srgbClr val="1F2933"/>
                </a:solidFill>
                <a:latin typeface="Aptos"/>
              </a:rPr>
              <a:t>Next steps and help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468112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840" y="5495544"/>
            <a:ext cx="10881360" cy="8197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 dirty="0">
                <a:solidFill>
                  <a:srgbClr val="7B8794"/>
                </a:solidFill>
                <a:latin typeface="Aptos"/>
              </a:rPr>
              <a:t>Next, in order: 1) fix the 2-opt loop-closure bug and re-run the 20-plan batch; 2) speed up M2 matrix builds; 3) batch 100+ plans for solid statistics; 4) polish blueprint render, JSON export and README before final submission.</a:t>
            </a:r>
          </a:p>
          <a:p>
            <a:r>
              <a:rPr sz="1200" dirty="0">
                <a:solidFill>
                  <a:schemeClr val="bg2">
                    <a:lumMod val="50000"/>
                  </a:schemeClr>
                </a:solidFill>
              </a:rPr>
              <a:t>Help needed from </a:t>
            </a:r>
            <a:r>
              <a:rPr sz="1200" dirty="0" err="1">
                <a:solidFill>
                  <a:schemeClr val="bg2">
                    <a:lumMod val="50000"/>
                  </a:schemeClr>
                </a:solidFill>
              </a:rPr>
              <a:t>organisers</a:t>
            </a:r>
            <a:r>
              <a:rPr sz="1200" dirty="0">
                <a:solidFill>
                  <a:schemeClr val="bg2">
                    <a:lumMod val="50000"/>
                  </a:schemeClr>
                </a:solidFill>
              </a:rPr>
              <a:t>: none </a:t>
            </a:r>
            <a:r>
              <a:rPr lang="en-IN" sz="1200" dirty="0">
                <a:solidFill>
                  <a:schemeClr val="bg2">
                    <a:lumMod val="50000"/>
                  </a:schemeClr>
                </a:solidFill>
              </a:rPr>
              <a:t>only</a:t>
            </a:r>
            <a:r>
              <a:rPr sz="1200" dirty="0">
                <a:solidFill>
                  <a:schemeClr val="bg2">
                    <a:lumMod val="50000"/>
                  </a:schemeClr>
                </a:solidFill>
              </a:rPr>
              <a:t> one clarification would help: are '</a:t>
            </a:r>
            <a:r>
              <a:rPr sz="1200" dirty="0" err="1">
                <a:solidFill>
                  <a:schemeClr val="bg2">
                    <a:lumMod val="50000"/>
                  </a:schemeClr>
                </a:solidFill>
              </a:rPr>
              <a:t>via_window</a:t>
            </a:r>
            <a:r>
              <a:rPr sz="1200" dirty="0">
                <a:solidFill>
                  <a:schemeClr val="bg2">
                    <a:lumMod val="50000"/>
                  </a:schemeClr>
                </a:solidFill>
              </a:rPr>
              <a:t>' edges ever valid cable paths, or must all transitions go through doors/open passages?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903</Words>
  <Application>Microsoft Office PowerPoint</Application>
  <PresentationFormat>Widescreen</PresentationFormat>
  <Paragraphs>50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Solution approach and algorithm</vt:lpstr>
      <vt:lpstr>Current progress and screenshots</vt:lpstr>
      <vt:lpstr>Remaining issues and improvements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update template</dc:title>
  <dc:subject/>
  <dc:creator/>
  <cp:keywords/>
  <dc:description/>
  <cp:lastModifiedBy>ishanphoenix2007@gmail.com</cp:lastModifiedBy>
  <cp:revision>4</cp:revision>
  <dcterms:created xsi:type="dcterms:W3CDTF">2026-10-12T03:04:09Z</dcterms:created>
  <dcterms:modified xsi:type="dcterms:W3CDTF">2026-10-16T08:26:09Z</dcterms:modified>
  <cp:category/>
</cp:coreProperties>
</file>